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128016" cy="6858000"/>
          </a:xfrm>
          <a:prstGeom prst="rect">
            <a:avLst/>
          </a:prstGeom>
          <a:solidFill>
            <a:srgbClr val="0F7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B0602A"/>
                </a:solidFill>
                <a:latin typeface="Consolas"/>
                <a:ea typeface="Consolas"/>
              </a:rPr>
              <a:t>ANDPAD 製造業事業部  ·  AI DEMAND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32038"/>
                </a:solidFill>
                <a:latin typeface="Noto Sans JP"/>
                <a:ea typeface="Noto Sans JP"/>
              </a:rPr>
              <a:t>AI需要の拡大が生む、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32038"/>
                </a:solidFill>
                <a:latin typeface="Noto Sans JP"/>
                <a:ea typeface="Noto Sans JP"/>
              </a:rPr>
              <a:t>製造業の現場管理</a:t>
            </a:r>
            <a:r>
              <a:rPr sz="4000" b="1">
                <a:solidFill>
                  <a:srgbClr val="B0602A"/>
                </a:solidFill>
                <a:latin typeface="Noto Sans JP"/>
                <a:ea typeface="Noto Sans JP"/>
              </a:rPr>
              <a:t>オポチュニティ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4C5B74"/>
                </a:solidFill>
                <a:latin typeface="Noto Sans JP"/>
                <a:ea typeface="Noto Sans JP"/>
              </a:rPr>
              <a:t>「</a:t>
            </a:r>
            <a:r>
              <a:rPr sz="1900" b="1">
                <a:solidFill>
                  <a:srgbClr val="B0602A"/>
                </a:solidFill>
                <a:latin typeface="Noto Sans JP"/>
                <a:ea typeface="Noto Sans JP"/>
              </a:rPr>
              <a:t>発注者</a:t>
            </a:r>
            <a:r>
              <a:rPr sz="1900" b="0">
                <a:solidFill>
                  <a:srgbClr val="4C5B74"/>
                </a:solidFill>
                <a:latin typeface="Noto Sans JP"/>
                <a:ea typeface="Noto Sans JP"/>
              </a:rPr>
              <a:t>」と「</a:t>
            </a:r>
            <a:r>
              <a:rPr sz="1900" b="1">
                <a:solidFill>
                  <a:srgbClr val="0F7A83"/>
                </a:solidFill>
                <a:latin typeface="Noto Sans JP"/>
                <a:ea typeface="Noto Sans JP"/>
              </a:rPr>
              <a:t>請負</a:t>
            </a:r>
            <a:r>
              <a:rPr sz="1900" b="0">
                <a:solidFill>
                  <a:srgbClr val="4C5B74"/>
                </a:solidFill>
                <a:latin typeface="Noto Sans JP"/>
                <a:ea typeface="Noto Sans JP"/>
              </a:rPr>
              <a:t>」——ふたつの入り方で、増える現場をつかむ。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9848" y="5074920"/>
            <a:ext cx="3840480" cy="18288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57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C5B74"/>
                </a:solidFill>
                <a:latin typeface="Noto Sans JP"/>
                <a:ea typeface="Noto Sans JP"/>
              </a:rPr>
              <a:t>生成AI → データセンター建設ラッシュ → 電力・重電・冷却・半導体まで、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C5B74"/>
                </a:solidFill>
                <a:latin typeface="Noto Sans JP"/>
                <a:ea typeface="Noto Sans JP"/>
              </a:rPr>
              <a:t>製造業のあらゆる領域で「設備投資」と「据付・保守の現場」が同時に急増している。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355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7C8AA1"/>
                </a:solidFill>
                <a:latin typeface="Consolas"/>
                <a:ea typeface="Consolas"/>
              </a:rPr>
              <a:t>2026-07  /  出典：AIインフラ・バリューチェーン調査（国内外128社・決算/IR一次情報）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B0602A"/>
                </a:solidFill>
                <a:latin typeface="Consolas"/>
                <a:ea typeface="Consolas"/>
              </a:rPr>
              <a:t>01</a:t>
            </a:r>
            <a:r>
              <a:rPr sz="1300" b="1" spc="100">
                <a:solidFill>
                  <a:srgbClr val="7C8AA1"/>
                </a:solidFill>
                <a:latin typeface="Consolas"/>
                <a:ea typeface="Consolas"/>
              </a:rPr>
              <a:t>   なぜ、いま製造業に追い風なのか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32038"/>
                </a:solidFill>
                <a:latin typeface="Noto Sans JP"/>
                <a:ea typeface="Noto Sans JP"/>
              </a:rPr>
              <a:t>AI需要の連鎖が、製造業に投資と現場をもたらす。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93976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7C8AA1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32038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4C5B74"/>
                </a:solidFill>
                <a:latin typeface="Noto Sans JP"/>
                <a:ea typeface="Noto Sans JP"/>
              </a:rPr>
              <a:t>DC1棟で数万世帯分の電力。膨大な電源・冷却・建屋・半導体が要る。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87952" y="2377439"/>
            <a:ext cx="310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B0602A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874519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2093976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7C8AA1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32038"/>
                </a:solidFill>
                <a:latin typeface="Noto Sans JP"/>
                <a:ea typeface="Noto Sans JP"/>
              </a:rPr>
              <a:t>製造業に投資と案件が波及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4C5B74"/>
                </a:solidFill>
                <a:latin typeface="Noto Sans JP"/>
                <a:ea typeface="Noto Sans JP"/>
              </a:rPr>
              <a:t>重電・電線・空調・UPS・半導体装置——各社が工場を増設し、機器の納入・据付案件が全国で立ち上がる。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1271" y="2377439"/>
            <a:ext cx="310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B0602A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874519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1" y="2093976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7C8AA1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32038"/>
                </a:solidFill>
                <a:latin typeface="Noto Sans JP"/>
                <a:ea typeface="Noto Sans JP"/>
              </a:rPr>
              <a:t>管理すべき“現場”が急増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4C5B74"/>
                </a:solidFill>
                <a:latin typeface="Noto Sans JP"/>
                <a:ea typeface="Noto Sans JP"/>
              </a:rPr>
              <a:t>設備投資プロジェクトも、据付・試運転・アフター保守の現場も同時に増える。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10634472" cy="1325880"/>
          </a:xfrm>
          <a:prstGeom prst="roundRect">
            <a:avLst>
              <a:gd name="adj" fmla="val 5000"/>
            </a:avLst>
          </a:prstGeom>
          <a:solidFill>
            <a:srgbClr val="13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4178807"/>
            <a:ext cx="229285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Noto Sans JP"/>
                <a:ea typeface="Noto Sans JP"/>
              </a:rPr>
              <a:t>5兆円超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7D3E4"/>
                </a:solidFill>
                <a:latin typeface="Noto Sans JP"/>
                <a:ea typeface="Noto Sans JP"/>
              </a:rPr>
              <a:t>ガスタービン受注残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CB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35858" y="4233672"/>
            <a:ext cx="12801" cy="813815"/>
          </a:xfrm>
          <a:prstGeom prst="rect">
            <a:avLst/>
          </a:prstGeom>
          <a:solidFill>
            <a:srgbClr val="2C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1890" y="4178807"/>
            <a:ext cx="229285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Noto Sans JP"/>
                <a:ea typeface="Noto Sans JP"/>
              </a:rPr>
              <a:t>2倍へ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7D3E4"/>
                </a:solidFill>
                <a:latin typeface="Noto Sans JP"/>
                <a:ea typeface="Noto Sans JP"/>
              </a:rPr>
              <a:t>変圧器の生産能力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CB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4233672"/>
            <a:ext cx="12801" cy="813815"/>
          </a:xfrm>
          <a:prstGeom prst="rect">
            <a:avLst/>
          </a:prstGeom>
          <a:solidFill>
            <a:srgbClr val="2C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508" y="4178807"/>
            <a:ext cx="229285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Noto Sans JP"/>
                <a:ea typeface="Noto Sans JP"/>
              </a:rPr>
              <a:t>約13倍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7D3E4"/>
                </a:solidFill>
                <a:latin typeface="Noto Sans JP"/>
                <a:ea typeface="Noto Sans JP"/>
              </a:rPr>
              <a:t>北米DC冷却の売上計画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CB8"/>
                </a:solidFill>
                <a:latin typeface="Consolas"/>
                <a:ea typeface="Consolas"/>
              </a:rPr>
              <a:t>ダイキン 230→3,000億円超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53094" y="4233672"/>
            <a:ext cx="12801" cy="813815"/>
          </a:xfrm>
          <a:prstGeom prst="rect">
            <a:avLst/>
          </a:prstGeom>
          <a:solidFill>
            <a:srgbClr val="2C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9126" y="4178807"/>
            <a:ext cx="229285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Noto Sans JP"/>
                <a:ea typeface="Noto Sans JP"/>
              </a:rPr>
              <a:t>+66%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7D3E4"/>
                </a:solidFill>
                <a:latin typeface="Noto Sans JP"/>
                <a:ea typeface="Noto Sans JP"/>
              </a:rPr>
              <a:t>半導体の設備投資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CB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59552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602A"/>
                </a:solidFill>
                <a:latin typeface="Noto Sans JP"/>
                <a:ea typeface="Noto Sans JP"/>
              </a:rPr>
              <a:t>→ </a:t>
            </a:r>
            <a:r>
              <a:rPr sz="1500" b="1">
                <a:solidFill>
                  <a:srgbClr val="132038"/>
                </a:solidFill>
                <a:latin typeface="Noto Sans JP"/>
                <a:ea typeface="Noto Sans JP"/>
              </a:rPr>
              <a:t>案件は急増、人手は増えない。</a:t>
            </a:r>
            <a:r>
              <a:rPr sz="1500" b="0">
                <a:solidFill>
                  <a:srgbClr val="4C5B74"/>
                </a:solidFill>
                <a:latin typeface="Noto Sans JP"/>
                <a:ea typeface="Noto Sans JP"/>
              </a:rPr>
              <a:t> その差を、現場管理サービスで埋める。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7C8AA1"/>
                </a:solidFill>
                <a:latin typeface="Noto Sans JP"/>
                <a:ea typeface="Noto Sans JP"/>
              </a:rPr>
              <a:t>紙・Excel・電話では、増えた据付/試運転/保守の現場をさばききれない。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B0602A"/>
                </a:solidFill>
                <a:latin typeface="Consolas"/>
                <a:ea typeface="Consolas"/>
              </a:rPr>
              <a:t>02</a:t>
            </a:r>
            <a:r>
              <a:rPr sz="1300" b="1" spc="100">
                <a:solidFill>
                  <a:srgbClr val="7C8AA1"/>
                </a:solidFill>
                <a:latin typeface="Consolas"/>
                <a:ea typeface="Consolas"/>
              </a:rPr>
              <a:t>   どの領域で、どんなテーマが生まれるか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5039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32038"/>
                </a:solidFill>
                <a:latin typeface="Noto Sans JP"/>
                <a:ea typeface="Noto Sans JP"/>
              </a:rPr>
              <a:t>ふたつの活用モデルで、バリューチェーンを攻める。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5257800" cy="841248"/>
          </a:xfrm>
          <a:prstGeom prst="roundRect">
            <a:avLst>
              <a:gd name="adj" fmla="val 9000"/>
            </a:avLst>
          </a:prstGeom>
          <a:solidFill>
            <a:srgbClr val="F3E6DA"/>
          </a:solidFill>
          <a:ln w="15240">
            <a:solidFill>
              <a:srgbClr val="B06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764792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B0602A"/>
                </a:solidFill>
                <a:latin typeface="Noto Sans JP"/>
                <a:ea typeface="Noto Sans JP"/>
              </a:rPr>
              <a:t>A  発注者</a:t>
            </a: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   自社の設備投資を、建てる側として管理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4C5B74"/>
                </a:solidFill>
                <a:latin typeface="Noto Sans JP"/>
                <a:ea typeface="Noto Sans JP"/>
              </a:rPr>
              <a:t>工場新設・増産、生産ライン更新、自社DC・電源/冷却設備の導入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645920"/>
            <a:ext cx="5257800" cy="841248"/>
          </a:xfrm>
          <a:prstGeom prst="roundRect">
            <a:avLst>
              <a:gd name="adj" fmla="val 9000"/>
            </a:avLst>
          </a:prstGeom>
          <a:solidFill>
            <a:srgbClr val="DDECEE"/>
          </a:solidFill>
          <a:ln w="15240">
            <a:solidFill>
              <a:srgbClr val="0F7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4224" y="1764792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0F7A83"/>
                </a:solidFill>
                <a:latin typeface="Noto Sans JP"/>
                <a:ea typeface="Noto Sans JP"/>
              </a:rPr>
              <a:t>B  請負</a:t>
            </a: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   据付・試運転・保守を、納める側として管理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4C5B74"/>
                </a:solidFill>
                <a:latin typeface="Noto Sans JP"/>
                <a:ea typeface="Noto Sans JP"/>
              </a:rPr>
              <a:t>発電機・変圧器・空調・液冷・UPS・半導体装置のフィールド現場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10634472" cy="566928"/>
          </a:xfrm>
          <a:prstGeom prst="rect">
            <a:avLst/>
          </a:prstGeom>
          <a:solidFill>
            <a:srgbClr val="13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4320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4320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9C9B2"/>
                </a:solidFill>
                <a:latin typeface="Consolas"/>
                <a:ea typeface="Consolas"/>
              </a:rPr>
              <a:t>Model A ・ 発注者テーマ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274320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FE0E3"/>
                </a:solidFill>
                <a:latin typeface="Consolas"/>
                <a:ea typeface="Consolas"/>
              </a:rPr>
              <a:t>Model B ・ 請負テーマ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31012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32038"/>
                </a:solidFill>
                <a:latin typeface="Noto Sans JP"/>
                <a:ea typeface="Noto Sans JP"/>
              </a:rPr>
              <a:t>01 発電・電源設備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3310128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メーカーの工場新増設を管理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3310128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非常用電源の設置・試運転・保守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77056"/>
            <a:ext cx="10634472" cy="56692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7705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32038"/>
                </a:solidFill>
                <a:latin typeface="Noto Sans JP"/>
                <a:ea typeface="Noto Sans JP"/>
              </a:rPr>
              <a:t>02 受変電・送配電・電線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3877056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変圧器工場の増産・変電所建設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2944" y="3877056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機器の据付・更新工事・保守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4443983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32038"/>
                </a:solidFill>
                <a:latin typeface="Noto Sans JP"/>
                <a:ea typeface="Noto Sans JP"/>
              </a:rPr>
              <a:t>03 DC建設・設備工事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4443983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自社拠点を建てる事業者の管理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4443983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機器を納める製造業への横展開接点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10912"/>
            <a:ext cx="10634472" cy="566928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501091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32038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304" y="5010912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空調メーカーの増産投資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2944" y="5010912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液冷・UPS・免震の据付〜アフター（最有力）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5778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32038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557784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巨大ファブ・クリーンルーム新設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557784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C5B74"/>
                </a:solidFill>
                <a:latin typeface="Noto Sans JP"/>
                <a:ea typeface="Noto Sans JP"/>
              </a:rPr>
              <a:t>製造装置の据付・立ち上げ・保守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2743200"/>
            <a:ext cx="10634472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310128"/>
            <a:ext cx="10634472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77056"/>
            <a:ext cx="10634472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4443983"/>
            <a:ext cx="10634472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010912"/>
            <a:ext cx="10634472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577840"/>
            <a:ext cx="10634472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6144768"/>
            <a:ext cx="10634472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9000" y="2743200"/>
            <a:ext cx="10972" cy="3401568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06640" y="2743200"/>
            <a:ext cx="10972" cy="3401568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629107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7C8AA1"/>
                </a:solidFill>
                <a:latin typeface="Consolas"/>
                <a:ea typeface="Consolas"/>
              </a:rPr>
              <a:t>代表的な国内プレーヤー：</a:t>
            </a:r>
            <a:r>
              <a:rPr sz="1050" b="0">
                <a:solidFill>
                  <a:srgbClr val="4C5B74"/>
                </a:solidFill>
                <a:latin typeface="Noto Sans JP"/>
                <a:ea typeface="Noto Sans JP"/>
              </a:rPr>
              <a:t> 三菱重工 / 日立 / 三菱電機 / ダイヘン / フジクラ / きんでん・高砂熱学 / ダイキン・GSユアサ / 東京エレクトロン・ディスコ・キオクシア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B0602A"/>
                </a:solidFill>
                <a:latin typeface="Consolas"/>
                <a:ea typeface="Consolas"/>
              </a:rPr>
              <a:t>03</a:t>
            </a:r>
            <a:r>
              <a:rPr sz="1300" b="1" spc="100">
                <a:solidFill>
                  <a:srgbClr val="7C8AA1"/>
                </a:solidFill>
                <a:latin typeface="Consolas"/>
                <a:ea typeface="Consolas"/>
              </a:rPr>
              <a:t>   どこから攻めるか — 狙い目と次の一歩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32038"/>
                </a:solidFill>
                <a:latin typeface="Noto Sans JP"/>
                <a:ea typeface="Noto Sans JP"/>
              </a:rPr>
              <a:t>据付・保守は「請負」で、工場増設は「発注者」で。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5486400" cy="512064"/>
          </a:xfrm>
          <a:prstGeom prst="rect">
            <a:avLst/>
          </a:prstGeom>
          <a:solidFill>
            <a:srgbClr val="13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20240"/>
            <a:ext cx="25603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920240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9C9B2"/>
                </a:solidFill>
                <a:latin typeface="Consolas"/>
                <a:ea typeface="Consolas"/>
              </a:rPr>
              <a:t>A 発注者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FE0E3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432304"/>
            <a:ext cx="25603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2038"/>
                </a:solidFill>
                <a:latin typeface="Noto Sans JP"/>
                <a:ea typeface="Noto Sans JP"/>
              </a:rPr>
              <a:t>01 発電・電源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432304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0602A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432304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7A83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5486400" cy="512064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944368"/>
            <a:ext cx="25603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2038"/>
                </a:solidFill>
                <a:latin typeface="Noto Sans JP"/>
                <a:ea typeface="Noto Sans JP"/>
              </a:rPr>
              <a:t>02 受変電・送配電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44368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0602A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944368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7A83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456432"/>
            <a:ext cx="25603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2038"/>
                </a:solidFill>
                <a:latin typeface="Noto Sans JP"/>
                <a:ea typeface="Noto Sans JP"/>
              </a:rPr>
              <a:t>03 DC建設・設備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456432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0602A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456432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7A83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68496"/>
            <a:ext cx="5486400" cy="512064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968496"/>
            <a:ext cx="25603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2038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968496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0602A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968496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7A83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480560"/>
            <a:ext cx="25603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2038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480560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0602A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480560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7A83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1920240"/>
            <a:ext cx="5486400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2432304"/>
            <a:ext cx="5486400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2944368"/>
            <a:ext cx="5486400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56432"/>
            <a:ext cx="5486400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968496"/>
            <a:ext cx="5486400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480560"/>
            <a:ext cx="5486400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992624"/>
            <a:ext cx="5486400" cy="10972"/>
          </a:xfrm>
          <a:prstGeom prst="rect">
            <a:avLst/>
          </a:prstGeom>
          <a:solidFill>
            <a:srgbClr val="D3D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10235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7C8AA1"/>
                </a:solidFill>
                <a:latin typeface="Consolas"/>
                <a:ea typeface="Consolas"/>
              </a:rPr>
              <a:t>◎ = 相性が特に高い / ○ = 有望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1920240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D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20840" y="1920240"/>
            <a:ext cx="82296" cy="1051560"/>
          </a:xfrm>
          <a:prstGeom prst="rect">
            <a:avLst/>
          </a:prstGeom>
          <a:solidFill>
            <a:srgbClr val="B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057400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7C8AA1"/>
                </a:solidFill>
                <a:latin typeface="Consolas"/>
                <a:ea typeface="Consolas"/>
              </a:rPr>
              <a:t>最有力の入口　</a:t>
            </a:r>
            <a:r>
              <a:rPr sz="1450" b="1">
                <a:solidFill>
                  <a:srgbClr val="132038"/>
                </a:solidFill>
                <a:latin typeface="Noto Sans JP"/>
                <a:ea typeface="Noto Sans JP"/>
              </a:rPr>
              <a:t>据付・保守は「請負 × フィールド」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4C5B74"/>
                </a:solidFill>
                <a:latin typeface="Noto Sans JP"/>
                <a:ea typeface="Noto Sans JP"/>
              </a:rPr>
              <a:t>冷却・UPS・半導体装置など、設置→試運転→保守が命の機器メーカー。Model Bの本命。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3136391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D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20840" y="3136391"/>
            <a:ext cx="82296" cy="1051560"/>
          </a:xfrm>
          <a:prstGeom prst="rect">
            <a:avLst/>
          </a:prstGeom>
          <a:solidFill>
            <a:srgbClr val="0F7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3273551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7C8AA1"/>
                </a:solidFill>
                <a:latin typeface="Consolas"/>
                <a:ea typeface="Consolas"/>
              </a:rPr>
              <a:t>大型の伸びしろ　</a:t>
            </a:r>
            <a:r>
              <a:rPr sz="1450" b="1">
                <a:solidFill>
                  <a:srgbClr val="132038"/>
                </a:solidFill>
                <a:latin typeface="Noto Sans JP"/>
                <a:ea typeface="Noto Sans JP"/>
              </a:rPr>
              <a:t>工場増設ラッシュは「発注者」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4C5B74"/>
                </a:solidFill>
                <a:latin typeface="Noto Sans JP"/>
                <a:ea typeface="Noto Sans JP"/>
              </a:rPr>
              <a:t>変圧器・半導体の増産投資は桁違い。建てる側のプロジェクト管理としてModel Aで。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20840" y="4352544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3D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20840" y="4352544"/>
            <a:ext cx="82296" cy="1051560"/>
          </a:xfrm>
          <a:prstGeom prst="rect">
            <a:avLst/>
          </a:prstGeom>
          <a:solidFill>
            <a:srgbClr val="B06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95159" y="4489704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7C8AA1"/>
                </a:solidFill>
                <a:latin typeface="Consolas"/>
                <a:ea typeface="Consolas"/>
              </a:rPr>
              <a:t>横展開の型　</a:t>
            </a:r>
            <a:r>
              <a:rPr sz="1450" b="1">
                <a:solidFill>
                  <a:srgbClr val="132038"/>
                </a:solidFill>
                <a:latin typeface="Noto Sans JP"/>
                <a:ea typeface="Noto Sans JP"/>
              </a:rPr>
              <a:t>建設接点から機器メーカーへ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4C5B74"/>
                </a:solidFill>
                <a:latin typeface="Noto Sans JP"/>
                <a:ea typeface="Noto Sans JP"/>
              </a:rPr>
              <a:t>DC建設の設備工事はANDPADの中核。そこに機器を納める製造業へ請負活用を広げる。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722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0602A"/>
                </a:solidFill>
                <a:latin typeface="Noto Sans JP"/>
                <a:ea typeface="Noto Sans JP"/>
              </a:rPr>
              <a:t>次の一歩：</a:t>
            </a:r>
            <a:r>
              <a:rPr sz="1250" b="0">
                <a:solidFill>
                  <a:srgbClr val="132038"/>
                </a:solidFill>
                <a:latin typeface="Noto Sans JP"/>
                <a:ea typeface="Noto Sans JP"/>
              </a:rPr>
              <a:t> 領域04（冷却・UPS）と領域05（半導体装置）の機器メーカーを起点に、「据付・試運転・アフター現場」の課題ヒアリングから着手する。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