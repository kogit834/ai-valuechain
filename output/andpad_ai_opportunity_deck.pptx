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298448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984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onsolas"/>
                <a:ea typeface="Consolas"/>
              </a:rPr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1371600"/>
            <a:ext cx="9692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spc="200">
                <a:solidFill>
                  <a:srgbClr val="E60012"/>
                </a:solidFill>
                <a:latin typeface="Consolas"/>
                <a:ea typeface="Consolas"/>
              </a:rPr>
              <a:t>ANDPAD 製造業事業部  ·  AI DEMAND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48840"/>
            <a:ext cx="106070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A1D21"/>
                </a:solidFill>
                <a:latin typeface="Noto Sans JP"/>
                <a:ea typeface="Noto Sans JP"/>
              </a:rPr>
              <a:t>AI需要の拡大が生む、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A1D21"/>
                </a:solidFill>
                <a:latin typeface="Noto Sans JP"/>
                <a:ea typeface="Noto Sans JP"/>
              </a:rPr>
              <a:t>製造業の現場管理</a:t>
            </a:r>
            <a:r>
              <a:rPr sz="4000" b="1">
                <a:solidFill>
                  <a:srgbClr val="E60012"/>
                </a:solidFill>
                <a:latin typeface="Noto Sans JP"/>
                <a:ea typeface="Noto Sans JP"/>
              </a:rPr>
              <a:t>オポチュニティ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41605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3C4148"/>
                </a:solidFill>
                <a:latin typeface="Noto Sans JP"/>
                <a:ea typeface="Noto Sans JP"/>
              </a:rPr>
              <a:t>「</a:t>
            </a:r>
            <a:r>
              <a:rPr sz="1900" b="1">
                <a:solidFill>
                  <a:srgbClr val="454B54"/>
                </a:solidFill>
                <a:latin typeface="Noto Sans JP"/>
                <a:ea typeface="Noto Sans JP"/>
              </a:rPr>
              <a:t>発注者</a:t>
            </a:r>
            <a:r>
              <a:rPr sz="1900" b="0">
                <a:solidFill>
                  <a:srgbClr val="3C4148"/>
                </a:solidFill>
                <a:latin typeface="Noto Sans JP"/>
                <a:ea typeface="Noto Sans JP"/>
              </a:rPr>
              <a:t>」と「</a:t>
            </a:r>
            <a:r>
              <a:rPr sz="1900" b="1">
                <a:solidFill>
                  <a:srgbClr val="E60012"/>
                </a:solidFill>
                <a:latin typeface="Noto Sans JP"/>
                <a:ea typeface="Noto Sans JP"/>
              </a:rPr>
              <a:t>請負</a:t>
            </a:r>
            <a:r>
              <a:rPr sz="1900" b="0">
                <a:solidFill>
                  <a:srgbClr val="3C4148"/>
                </a:solidFill>
                <a:latin typeface="Noto Sans JP"/>
                <a:ea typeface="Noto Sans JP"/>
              </a:rPr>
              <a:t>」——ふたつの入り方で、増える現場をつかむ。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" y="5120640"/>
            <a:ext cx="3840480" cy="27432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5303520"/>
            <a:ext cx="10241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3C4148"/>
                </a:solidFill>
                <a:latin typeface="Noto Sans JP"/>
                <a:ea typeface="Noto Sans JP"/>
              </a:rPr>
              <a:t>生成AI → データセンター建設ラッシュ → 電力・重電・冷却・半導体まで、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3C4148"/>
                </a:solidFill>
                <a:latin typeface="Noto Sans JP"/>
                <a:ea typeface="Noto Sans JP"/>
              </a:rPr>
              <a:t>製造業のあらゆる領域で「設備投資」と「据付・保守の現場」が同時に急増している。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6400800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2026-07  /  出典：AIインフラ・バリューチェーン調査（国内外128社・決算/IR一次情報）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475488" cy="475488"/>
          </a:xfrm>
          <a:prstGeom prst="roundRect">
            <a:avLst>
              <a:gd name="adj" fmla="val 18000"/>
            </a:avLst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onsolas"/>
                <a:ea typeface="Consola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spc="150">
                <a:solidFill>
                  <a:srgbClr val="E60012"/>
                </a:solidFill>
                <a:latin typeface="Consolas"/>
                <a:ea typeface="Consolas"/>
              </a:rPr>
              <a:t>AIインフラのバリューチェーン（価値の流れ）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676656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A1D21"/>
                </a:solidFill>
                <a:latin typeface="Noto Sans JP"/>
                <a:ea typeface="Noto Sans JP"/>
              </a:rPr>
              <a:t>電気をつくる川上から、計算する半導体の川下まで。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170432"/>
            <a:ext cx="10634472" cy="18288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371600"/>
            <a:ext cx="932688" cy="896112"/>
          </a:xfrm>
          <a:prstGeom prst="roundRect">
            <a:avLst>
              <a:gd name="adj" fmla="val 9000"/>
            </a:avLst>
          </a:prstGeom>
          <a:solidFill>
            <a:srgbClr val="454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932688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spc="100">
                <a:solidFill>
                  <a:srgbClr val="D7DBE0"/>
                </a:solidFill>
                <a:latin typeface="Consolas"/>
                <a:ea typeface="Consolas"/>
              </a:rPr>
              <a:t>起点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JP"/>
                <a:ea typeface="Noto Sans JP"/>
              </a:rPr>
              <a:t>AI需要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Noto Sans JP"/>
                <a:ea typeface="Noto Sans JP"/>
              </a:rPr>
              <a:t>の拡大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47504" y="1371600"/>
            <a:ext cx="1664208" cy="896112"/>
          </a:xfrm>
          <a:prstGeom prst="roundRect">
            <a:avLst>
              <a:gd name="adj" fmla="val 6000"/>
            </a:avLst>
          </a:prstGeom>
          <a:solidFill>
            <a:srgbClr val="1A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47504" y="1371600"/>
            <a:ext cx="1664208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spc="100">
                <a:solidFill>
                  <a:srgbClr val="C7CFDB"/>
                </a:solidFill>
                <a:latin typeface="Consolas"/>
                <a:ea typeface="Consolas"/>
              </a:rPr>
              <a:t>価値実現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Noto Sans JP"/>
                <a:ea typeface="Noto Sans JP"/>
              </a:rPr>
              <a:t>AIサービス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Noto Sans JP"/>
                <a:ea typeface="Noto Sans JP"/>
              </a:rPr>
              <a:t>稼働</a:t>
            </a:r>
          </a:p>
        </p:txBody>
      </p:sp>
      <p:sp>
        <p:nvSpPr>
          <p:cNvPr id="12" name="Chevron 11"/>
          <p:cNvSpPr/>
          <p:nvPr/>
        </p:nvSpPr>
        <p:spPr>
          <a:xfrm>
            <a:off x="1828800" y="1371600"/>
            <a:ext cx="1719072" cy="896112"/>
          </a:xfrm>
          <a:prstGeom prst="chevron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792224" y="1371600"/>
            <a:ext cx="1664208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spc="100">
                <a:solidFill>
                  <a:srgbClr val="FFC9CE"/>
                </a:solidFill>
                <a:latin typeface="Consolas"/>
                <a:ea typeface="Consolas"/>
              </a:rPr>
              <a:t>01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JP"/>
                <a:ea typeface="Noto Sans JP"/>
              </a:rPr>
              <a:t>発電・電源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92807" y="2432304"/>
            <a:ext cx="1481328" cy="351129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20824" y="2560320"/>
            <a:ext cx="12252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E60012"/>
                </a:solidFill>
                <a:latin typeface="Consolas"/>
                <a:ea typeface="Consolas"/>
              </a:rPr>
              <a:t>B 請負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0824" y="2816352"/>
            <a:ext cx="1225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電気をつくる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20824" y="3182112"/>
            <a:ext cx="1225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3C4148"/>
                </a:solidFill>
                <a:latin typeface="Noto Sans JP"/>
                <a:ea typeface="Noto Sans JP"/>
              </a:rPr>
              <a:t>電力が全ての起点。ガスタービンや非常用発電機の需要が急増。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20824" y="4133088"/>
            <a:ext cx="1225295" cy="9144"/>
          </a:xfrm>
          <a:prstGeom prst="rect">
            <a:avLst/>
          </a:prstGeom>
          <a:solidFill>
            <a:srgbClr val="F3C7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20824" y="4224528"/>
            <a:ext cx="12252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60012"/>
                </a:solidFill>
                <a:latin typeface="Noto Sans JP"/>
                <a:ea typeface="Noto Sans JP"/>
              </a:rPr>
              <a:t>受注残 5兆円超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A9098"/>
                </a:solidFill>
                <a:latin typeface="Consolas"/>
                <a:ea typeface="Consolas"/>
              </a:rPr>
              <a:t>三菱重工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0824" y="4919472"/>
            <a:ext cx="122529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1">
                <a:solidFill>
                  <a:srgbClr val="8A9098"/>
                </a:solidFill>
                <a:latin typeface="Consolas"/>
                <a:ea typeface="Consolas"/>
              </a:rPr>
              <a:t>代表企業（国内）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0824" y="5138928"/>
            <a:ext cx="12252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A1D21"/>
                </a:solidFill>
                <a:latin typeface="Noto Sans JP"/>
                <a:ea typeface="Noto Sans JP"/>
              </a:rPr>
              <a:t>三菱重工・IHI・川崎重工・ヤンマー・デンヨー</a:t>
            </a:r>
          </a:p>
        </p:txBody>
      </p:sp>
      <p:sp>
        <p:nvSpPr>
          <p:cNvPr id="22" name="Chevron 21"/>
          <p:cNvSpPr/>
          <p:nvPr/>
        </p:nvSpPr>
        <p:spPr>
          <a:xfrm>
            <a:off x="3401568" y="1371600"/>
            <a:ext cx="1719072" cy="896112"/>
          </a:xfrm>
          <a:prstGeom prst="chevron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364992" y="1371600"/>
            <a:ext cx="1664208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spc="100">
                <a:solidFill>
                  <a:srgbClr val="FFC9CE"/>
                </a:solidFill>
                <a:latin typeface="Consolas"/>
                <a:ea typeface="Consolas"/>
              </a:rPr>
              <a:t>02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JP"/>
                <a:ea typeface="Noto Sans JP"/>
              </a:rPr>
              <a:t>送変電・電線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65576" y="2432304"/>
            <a:ext cx="1481328" cy="351129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93592" y="2560320"/>
            <a:ext cx="12252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E60012"/>
                </a:solidFill>
                <a:latin typeface="Consolas"/>
                <a:ea typeface="Consolas"/>
              </a:rPr>
              <a:t>A＋B 両取り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93592" y="2816352"/>
            <a:ext cx="1225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電気を送る・変える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93592" y="3182112"/>
            <a:ext cx="1225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3C4148"/>
                </a:solidFill>
                <a:latin typeface="Noto Sans JP"/>
                <a:ea typeface="Noto Sans JP"/>
              </a:rPr>
              <a:t>高電圧で送りDC向けに変換。変圧器は世界的に品薄で受注は数年先まで。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93592" y="4133088"/>
            <a:ext cx="1225295" cy="9144"/>
          </a:xfrm>
          <a:prstGeom prst="rect">
            <a:avLst/>
          </a:prstGeom>
          <a:solidFill>
            <a:srgbClr val="F3C7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93592" y="4224528"/>
            <a:ext cx="12252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60012"/>
                </a:solidFill>
                <a:latin typeface="Noto Sans JP"/>
                <a:ea typeface="Noto Sans JP"/>
              </a:rPr>
              <a:t>変圧器 生産能力2倍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A9098"/>
                </a:solidFill>
                <a:latin typeface="Consolas"/>
                <a:ea typeface="Consolas"/>
              </a:rPr>
              <a:t>ダイヘン・東芝ES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93592" y="4919472"/>
            <a:ext cx="122529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1">
                <a:solidFill>
                  <a:srgbClr val="8A9098"/>
                </a:solidFill>
                <a:latin typeface="Consolas"/>
                <a:ea typeface="Consolas"/>
              </a:rPr>
              <a:t>代表企業（国内）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93592" y="5138928"/>
            <a:ext cx="12252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A1D21"/>
                </a:solidFill>
                <a:latin typeface="Noto Sans JP"/>
                <a:ea typeface="Noto Sans JP"/>
              </a:rPr>
              <a:t>日立・三菱電機・ダイヘン・フジクラ・電力4社</a:t>
            </a:r>
          </a:p>
        </p:txBody>
      </p:sp>
      <p:sp>
        <p:nvSpPr>
          <p:cNvPr id="32" name="Chevron 31"/>
          <p:cNvSpPr/>
          <p:nvPr/>
        </p:nvSpPr>
        <p:spPr>
          <a:xfrm>
            <a:off x="4974336" y="1371600"/>
            <a:ext cx="1719072" cy="896112"/>
          </a:xfrm>
          <a:prstGeom prst="chevron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937760" y="1371600"/>
            <a:ext cx="1664208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spc="100">
                <a:solidFill>
                  <a:srgbClr val="FFC9CE"/>
                </a:solidFill>
                <a:latin typeface="Consolas"/>
                <a:ea typeface="Consolas"/>
              </a:rPr>
              <a:t>03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JP"/>
                <a:ea typeface="Noto Sans JP"/>
              </a:rPr>
              <a:t>DC建設・設備工事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38344" y="2432304"/>
            <a:ext cx="1481328" cy="351129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66359" y="2560320"/>
            <a:ext cx="12252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E60012"/>
                </a:solidFill>
                <a:latin typeface="Consolas"/>
                <a:ea typeface="Consolas"/>
              </a:rPr>
              <a:t>B 請負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59" y="2816352"/>
            <a:ext cx="1225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箱を建てる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59" y="3182112"/>
            <a:ext cx="1225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3C4148"/>
                </a:solidFill>
                <a:latin typeface="Noto Sans JP"/>
                <a:ea typeface="Noto Sans JP"/>
              </a:rPr>
              <a:t>巨大な建屋を建設。電気・空調のサブコンが主役で、営業の本命。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66359" y="4133088"/>
            <a:ext cx="1225295" cy="9144"/>
          </a:xfrm>
          <a:prstGeom prst="rect">
            <a:avLst/>
          </a:prstGeom>
          <a:solidFill>
            <a:srgbClr val="F3C7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66359" y="4224528"/>
            <a:ext cx="12252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60012"/>
                </a:solidFill>
                <a:latin typeface="Noto Sans JP"/>
                <a:ea typeface="Noto Sans JP"/>
              </a:rPr>
              <a:t>空調工事 受注 +25.5%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A9098"/>
                </a:solidFill>
                <a:latin typeface="Consolas"/>
                <a:ea typeface="Consolas"/>
              </a:rPr>
              <a:t>ダイダン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66359" y="4919472"/>
            <a:ext cx="122529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1">
                <a:solidFill>
                  <a:srgbClr val="8A9098"/>
                </a:solidFill>
                <a:latin typeface="Consolas"/>
                <a:ea typeface="Consolas"/>
              </a:rPr>
              <a:t>代表企業（国内）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59" y="5138928"/>
            <a:ext cx="12252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A1D21"/>
                </a:solidFill>
                <a:latin typeface="Noto Sans JP"/>
                <a:ea typeface="Noto Sans JP"/>
              </a:rPr>
              <a:t>鹿島・大林・きんでん・関電工・高砂熱学</a:t>
            </a:r>
          </a:p>
        </p:txBody>
      </p:sp>
      <p:sp>
        <p:nvSpPr>
          <p:cNvPr id="42" name="Chevron 41"/>
          <p:cNvSpPr/>
          <p:nvPr/>
        </p:nvSpPr>
        <p:spPr>
          <a:xfrm>
            <a:off x="6547104" y="1371600"/>
            <a:ext cx="1719072" cy="896112"/>
          </a:xfrm>
          <a:prstGeom prst="chevron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510528" y="1371600"/>
            <a:ext cx="1664208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spc="100">
                <a:solidFill>
                  <a:srgbClr val="FFC9CE"/>
                </a:solidFill>
                <a:latin typeface="Consolas"/>
                <a:ea typeface="Consolas"/>
              </a:rPr>
              <a:t>04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JP"/>
                <a:ea typeface="Noto Sans JP"/>
              </a:rPr>
              <a:t>冷却・電源保護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11112" y="2432304"/>
            <a:ext cx="1481328" cy="351129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39127" y="2560320"/>
            <a:ext cx="12252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E60012"/>
                </a:solidFill>
                <a:latin typeface="Consolas"/>
                <a:ea typeface="Consolas"/>
              </a:rPr>
              <a:t>B 請負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39127" y="2816352"/>
            <a:ext cx="1225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冷やす・止めない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39127" y="3182112"/>
            <a:ext cx="1225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3C4148"/>
                </a:solidFill>
                <a:latin typeface="Noto Sans JP"/>
                <a:ea typeface="Noto Sans JP"/>
              </a:rPr>
              <a:t>液冷で冷やし、UPSで止めない。据付・保守が伴う機器の宝庫。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39127" y="4133088"/>
            <a:ext cx="1225295" cy="9144"/>
          </a:xfrm>
          <a:prstGeom prst="rect">
            <a:avLst/>
          </a:prstGeom>
          <a:solidFill>
            <a:srgbClr val="F3C7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39127" y="4224528"/>
            <a:ext cx="12252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60012"/>
                </a:solidFill>
                <a:latin typeface="Noto Sans JP"/>
                <a:ea typeface="Noto Sans JP"/>
              </a:rPr>
              <a:t>北米DC冷却 約13倍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A9098"/>
                </a:solidFill>
                <a:latin typeface="Consolas"/>
                <a:ea typeface="Consolas"/>
              </a:rPr>
              <a:t>ダイキン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39127" y="4919472"/>
            <a:ext cx="122529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1">
                <a:solidFill>
                  <a:srgbClr val="8A9098"/>
                </a:solidFill>
                <a:latin typeface="Consolas"/>
                <a:ea typeface="Consolas"/>
              </a:rPr>
              <a:t>代表企業（国内）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39127" y="5138928"/>
            <a:ext cx="12252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A1D21"/>
                </a:solidFill>
                <a:latin typeface="Noto Sans JP"/>
                <a:ea typeface="Noto Sans JP"/>
              </a:rPr>
              <a:t>ダイキン・GSユアサ・オイレス・エア・ウォーター</a:t>
            </a:r>
          </a:p>
        </p:txBody>
      </p:sp>
      <p:sp>
        <p:nvSpPr>
          <p:cNvPr id="52" name="Chevron 51"/>
          <p:cNvSpPr/>
          <p:nvPr/>
        </p:nvSpPr>
        <p:spPr>
          <a:xfrm>
            <a:off x="8119872" y="1371600"/>
            <a:ext cx="1719072" cy="896112"/>
          </a:xfrm>
          <a:prstGeom prst="chevron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083296" y="1371600"/>
            <a:ext cx="1664208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spc="100">
                <a:solidFill>
                  <a:srgbClr val="FFC9CE"/>
                </a:solidFill>
                <a:latin typeface="Consolas"/>
                <a:ea typeface="Consolas"/>
              </a:rPr>
              <a:t>05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JP"/>
                <a:ea typeface="Noto Sans JP"/>
              </a:rPr>
              <a:t>半導体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183880" y="2432304"/>
            <a:ext cx="1481328" cy="351129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11896" y="2560320"/>
            <a:ext cx="12252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E60012"/>
                </a:solidFill>
                <a:latin typeface="Consolas"/>
                <a:ea typeface="Consolas"/>
              </a:rPr>
              <a:t>A＋B 両取り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11896" y="2816352"/>
            <a:ext cx="1225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計算する頭脳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11896" y="3182112"/>
            <a:ext cx="1225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3C4148"/>
                </a:solidFill>
                <a:latin typeface="Noto Sans JP"/>
                <a:ea typeface="Noto Sans JP"/>
              </a:rPr>
              <a:t>AIチップ本体は海外勢が強いが、装置・材料で日本が世界的シェア。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11896" y="4133088"/>
            <a:ext cx="1225295" cy="9144"/>
          </a:xfrm>
          <a:prstGeom prst="rect">
            <a:avLst/>
          </a:prstGeom>
          <a:solidFill>
            <a:srgbClr val="F3C7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11896" y="4224528"/>
            <a:ext cx="12252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60012"/>
                </a:solidFill>
                <a:latin typeface="Noto Sans JP"/>
                <a:ea typeface="Noto Sans JP"/>
              </a:rPr>
              <a:t>設備投資 +66%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A9098"/>
                </a:solidFill>
                <a:latin typeface="Consolas"/>
                <a:ea typeface="Consolas"/>
              </a:rPr>
              <a:t>キオクシア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11896" y="4919472"/>
            <a:ext cx="122529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1">
                <a:solidFill>
                  <a:srgbClr val="8A9098"/>
                </a:solidFill>
                <a:latin typeface="Consolas"/>
                <a:ea typeface="Consolas"/>
              </a:rPr>
              <a:t>代表企業（国内）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11896" y="5138928"/>
            <a:ext cx="12252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A1D21"/>
                </a:solidFill>
                <a:latin typeface="Noto Sans JP"/>
                <a:ea typeface="Noto Sans JP"/>
              </a:rPr>
              <a:t>東京エレクトロン・ディスコ・信越化学・キオクシア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77240" y="5989320"/>
            <a:ext cx="10634472" cy="4572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2700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05840" y="5989320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8A9098"/>
                </a:solidFill>
                <a:latin typeface="Consolas"/>
                <a:ea typeface="Consolas"/>
              </a:rPr>
              <a:t>現場管理の入り方：</a:t>
            </a:r>
            <a:r>
              <a:rPr sz="1050" b="1">
                <a:solidFill>
                  <a:srgbClr val="454B54"/>
                </a:solidFill>
                <a:latin typeface="Noto Sans JP"/>
                <a:ea typeface="Noto Sans JP"/>
              </a:rPr>
              <a:t> A 発注者＝自社の設備投資を建てる側で管理</a:t>
            </a:r>
            <a:r>
              <a:rPr sz="1000" b="0">
                <a:solidFill>
                  <a:srgbClr val="8A9098"/>
                </a:solidFill>
                <a:latin typeface="Noto Sans JP"/>
                <a:ea typeface="Noto Sans JP"/>
              </a:rPr>
              <a:t>　／　</a:t>
            </a:r>
            <a:r>
              <a:rPr sz="1050" b="1">
                <a:solidFill>
                  <a:srgbClr val="E60012"/>
                </a:solidFill>
                <a:latin typeface="Noto Sans JP"/>
                <a:ea typeface="Noto Sans JP"/>
              </a:rPr>
              <a:t>B 請負＝据付・試運転・保守を納める側で管理</a:t>
            </a:r>
            <a:r>
              <a:rPr sz="900" b="0">
                <a:solidFill>
                  <a:srgbClr val="8A9098"/>
                </a:solidFill>
                <a:latin typeface="Noto Sans JP"/>
                <a:ea typeface="Noto Sans JP"/>
              </a:rPr>
              <a:t>　※各段階は代表企業のみ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" y="6510528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E60012"/>
                </a:solidFill>
                <a:latin typeface="Consolas"/>
                <a:ea typeface="Consolas"/>
              </a:rPr>
              <a:t>さらに川下へ波及：</a:t>
            </a:r>
            <a:r>
              <a:rPr sz="900" b="0">
                <a:solidFill>
                  <a:srgbClr val="3C4148"/>
                </a:solidFill>
                <a:latin typeface="Noto Sans JP"/>
                <a:ea typeface="Noto Sans JP"/>
              </a:rPr>
              <a:t>半導体製造装置の部品（SMC・堀場・アドバンテスト等）／電子部品・パッケージ基板（村田・イビデン等）／産業ガスにも拡大 → 付録参照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475488" cy="475488"/>
          </a:xfrm>
          <a:prstGeom prst="roundRect">
            <a:avLst>
              <a:gd name="adj" fmla="val 18000"/>
            </a:avLst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onsolas"/>
                <a:ea typeface="Consola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spc="150">
                <a:solidFill>
                  <a:srgbClr val="E60012"/>
                </a:solidFill>
                <a:latin typeface="Consolas"/>
                <a:ea typeface="Consolas"/>
              </a:rPr>
              <a:t>なぜ、いま製造業に追い風なのか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676656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A1D21"/>
                </a:solidFill>
                <a:latin typeface="Noto Sans JP"/>
                <a:ea typeface="Noto Sans JP"/>
              </a:rPr>
              <a:t>AI需要の連鎖が、製造業に投資と現場をもたらす。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170432"/>
            <a:ext cx="10634472" cy="18288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463040"/>
            <a:ext cx="34290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F3C7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463040"/>
            <a:ext cx="3429000" cy="91440"/>
          </a:xfrm>
          <a:prstGeom prst="roundRect">
            <a:avLst>
              <a:gd name="adj" fmla="val 0"/>
            </a:avLst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700784"/>
            <a:ext cx="2916936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spc="100">
                <a:solidFill>
                  <a:srgbClr val="E60012"/>
                </a:solidFill>
                <a:latin typeface="Consolas"/>
                <a:ea typeface="Consolas"/>
              </a:rPr>
              <a:t>きっかけ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A1D21"/>
                </a:solidFill>
                <a:latin typeface="Noto Sans JP"/>
                <a:ea typeface="Noto Sans JP"/>
              </a:rPr>
              <a:t>AIは“電気と設備の塊”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DC1棟で数万世帯分の電力。膨大な電源・冷却・建屋・半導体が要る。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8807" y="1920240"/>
            <a:ext cx="3291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60012"/>
                </a:solidFill>
                <a:latin typeface="Consolas"/>
                <a:ea typeface="Consola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463040"/>
            <a:ext cx="34290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F3C7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0559" y="1463040"/>
            <a:ext cx="3429000" cy="91440"/>
          </a:xfrm>
          <a:prstGeom prst="roundRect">
            <a:avLst>
              <a:gd name="adj" fmla="val 0"/>
            </a:avLst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700784"/>
            <a:ext cx="2916936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spc="100">
                <a:solidFill>
                  <a:srgbClr val="E60012"/>
                </a:solidFill>
                <a:latin typeface="Consolas"/>
                <a:ea typeface="Consolas"/>
              </a:rPr>
              <a:t>連鎖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A1D21"/>
                </a:solidFill>
                <a:latin typeface="Noto Sans JP"/>
                <a:ea typeface="Noto Sans JP"/>
              </a:rPr>
              <a:t>製造業に投資と案件が波及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重電・電線・空調・UPS・半導体装置——各社が工場を増設し、機器の納入・据付案件が全国で立ち上がる。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7" y="1920240"/>
            <a:ext cx="3291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60012"/>
                </a:solidFill>
                <a:latin typeface="Consolas"/>
                <a:ea typeface="Consola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463040"/>
            <a:ext cx="34290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F3C7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83879" y="1463040"/>
            <a:ext cx="3429000" cy="91440"/>
          </a:xfrm>
          <a:prstGeom prst="roundRect">
            <a:avLst>
              <a:gd name="adj" fmla="val 0"/>
            </a:avLst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1" y="1700784"/>
            <a:ext cx="2916936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spc="100">
                <a:solidFill>
                  <a:srgbClr val="E60012"/>
                </a:solidFill>
                <a:latin typeface="Consolas"/>
                <a:ea typeface="Consolas"/>
              </a:rPr>
              <a:t>結果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A1D21"/>
                </a:solidFill>
                <a:latin typeface="Noto Sans JP"/>
                <a:ea typeface="Noto Sans JP"/>
              </a:rPr>
              <a:t>管理すべき“現場”が急増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設備投資プロジェクトも、据付・試運転・アフター保守の現場も同時に増える。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520440"/>
            <a:ext cx="10634472" cy="13716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739896"/>
            <a:ext cx="227457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E60012"/>
                </a:solidFill>
                <a:latin typeface="Noto Sans JP"/>
                <a:ea typeface="Noto Sans JP"/>
              </a:rPr>
              <a:t>5兆円超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A1D21"/>
                </a:solidFill>
                <a:latin typeface="Noto Sans JP"/>
                <a:ea typeface="Noto Sans JP"/>
              </a:rPr>
              <a:t>ガスタービン受注残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A9098"/>
                </a:solidFill>
                <a:latin typeface="Consolas"/>
                <a:ea typeface="Consolas"/>
              </a:rPr>
              <a:t>三菱重工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35858" y="3794760"/>
            <a:ext cx="12801" cy="822960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10178" y="3739896"/>
            <a:ext cx="227457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E60012"/>
                </a:solidFill>
                <a:latin typeface="Noto Sans JP"/>
                <a:ea typeface="Noto Sans JP"/>
              </a:rPr>
              <a:t>2倍へ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A1D21"/>
                </a:solidFill>
                <a:latin typeface="Noto Sans JP"/>
                <a:ea typeface="Noto Sans JP"/>
              </a:rPr>
              <a:t>変圧器の生産能力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A9098"/>
                </a:solidFill>
                <a:latin typeface="Consolas"/>
                <a:ea typeface="Consolas"/>
              </a:rPr>
              <a:t>ダイヘン・東芝ES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4476" y="3794760"/>
            <a:ext cx="12801" cy="822960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8796" y="3739896"/>
            <a:ext cx="227457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E60012"/>
                </a:solidFill>
                <a:latin typeface="Noto Sans JP"/>
                <a:ea typeface="Noto Sans JP"/>
              </a:rPr>
              <a:t>約13倍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A1D21"/>
                </a:solidFill>
                <a:latin typeface="Noto Sans JP"/>
                <a:ea typeface="Noto Sans JP"/>
              </a:rPr>
              <a:t>北米DC冷却の売上計画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A9098"/>
                </a:solidFill>
                <a:latin typeface="Consolas"/>
                <a:ea typeface="Consolas"/>
              </a:rPr>
              <a:t>ダイキン 230→3,000億円超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53094" y="3794760"/>
            <a:ext cx="12801" cy="822960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27414" y="3739896"/>
            <a:ext cx="227457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E60012"/>
                </a:solidFill>
                <a:latin typeface="Noto Sans JP"/>
                <a:ea typeface="Noto Sans JP"/>
              </a:rPr>
              <a:t>+66%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A1D21"/>
                </a:solidFill>
                <a:latin typeface="Noto Sans JP"/>
                <a:ea typeface="Noto Sans JP"/>
              </a:rPr>
              <a:t>半導体の設備投資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8A9098"/>
                </a:solidFill>
                <a:latin typeface="Consolas"/>
                <a:ea typeface="Consolas"/>
              </a:rPr>
              <a:t>キオクシア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166360"/>
            <a:ext cx="10634472" cy="1097280"/>
          </a:xfrm>
          <a:prstGeom prst="roundRect">
            <a:avLst>
              <a:gd name="adj" fmla="val 5000"/>
            </a:avLst>
          </a:prstGeom>
          <a:solidFill>
            <a:srgbClr val="FDECEE"/>
          </a:solidFill>
          <a:ln w="12700">
            <a:solidFill>
              <a:srgbClr val="F3C7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35838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A1D21"/>
                </a:solidFill>
                <a:latin typeface="Noto Sans JP"/>
                <a:ea typeface="Noto Sans JP"/>
              </a:rPr>
              <a:t>案件は急増、人手は増えない。</a:t>
            </a:r>
            <a:r>
              <a:rPr sz="1600" b="1">
                <a:solidFill>
                  <a:srgbClr val="E60012"/>
                </a:solidFill>
                <a:latin typeface="Noto Sans JP"/>
                <a:ea typeface="Noto Sans JP"/>
              </a:rPr>
              <a:t>　その差を、現場管理サービスで埋める。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852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C4148"/>
                </a:solidFill>
                <a:latin typeface="Noto Sans JP"/>
                <a:ea typeface="Noto Sans JP"/>
              </a:rPr>
              <a:t>紙・Excel・電話では、増えた据付／試運転／保守の現場をさばききれない。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475488" cy="475488"/>
          </a:xfrm>
          <a:prstGeom prst="roundRect">
            <a:avLst>
              <a:gd name="adj" fmla="val 18000"/>
            </a:avLst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onsolas"/>
                <a:ea typeface="Consola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spc="150">
                <a:solidFill>
                  <a:srgbClr val="E60012"/>
                </a:solidFill>
                <a:latin typeface="Consolas"/>
                <a:ea typeface="Consolas"/>
              </a:rPr>
              <a:t>どの領域で、どんなテーマが生まれるか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676656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A1D21"/>
                </a:solidFill>
                <a:latin typeface="Noto Sans JP"/>
                <a:ea typeface="Noto Sans JP"/>
              </a:rPr>
              <a:t>ふたつの活用モデルで、バリューチェーンを攻める。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170432"/>
            <a:ext cx="10634472" cy="18288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5257800" cy="868680"/>
          </a:xfrm>
          <a:prstGeom prst="roundRect">
            <a:avLst>
              <a:gd name="adj" fmla="val 9000"/>
            </a:avLst>
          </a:prstGeom>
          <a:solidFill>
            <a:srgbClr val="ECEEF1"/>
          </a:solidFill>
          <a:ln w="15240">
            <a:solidFill>
              <a:srgbClr val="454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554480"/>
            <a:ext cx="4892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454B54"/>
                </a:solidFill>
                <a:latin typeface="Noto Sans JP"/>
                <a:ea typeface="Noto Sans JP"/>
              </a:rPr>
              <a:t>A  発注者</a:t>
            </a: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　自社の設備投資を、建てる側として管理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3C4148"/>
                </a:solidFill>
                <a:latin typeface="Noto Sans JP"/>
                <a:ea typeface="Noto Sans JP"/>
              </a:rPr>
              <a:t>工場新設・増産、生産ライン更新、自社DC・電源/冷却設備の導入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417320"/>
            <a:ext cx="5257800" cy="868680"/>
          </a:xfrm>
          <a:prstGeom prst="roundRect">
            <a:avLst>
              <a:gd name="adj" fmla="val 9000"/>
            </a:avLst>
          </a:prstGeom>
          <a:solidFill>
            <a:srgbClr val="FDECEE"/>
          </a:solidFill>
          <a:ln w="15240">
            <a:solidFill>
              <a:srgbClr val="E600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554480"/>
            <a:ext cx="4892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E60012"/>
                </a:solidFill>
                <a:latin typeface="Noto Sans JP"/>
                <a:ea typeface="Noto Sans JP"/>
              </a:rPr>
              <a:t>B  請負</a:t>
            </a: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　据付・試運転・保守を、納める側として管理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3C4148"/>
                </a:solidFill>
                <a:latin typeface="Noto Sans JP"/>
                <a:ea typeface="Noto Sans JP"/>
              </a:rPr>
              <a:t>発電機・変圧器・空調・液冷・UPS・半導体装置のフィールド現場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06040"/>
            <a:ext cx="10634472" cy="566928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2606040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onsolas"/>
                <a:ea typeface="Consolas"/>
              </a:rPr>
              <a:t>領域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5304" y="2606040"/>
            <a:ext cx="3703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onsolas"/>
                <a:ea typeface="Consolas"/>
              </a:rPr>
              <a:t>Model A ・ 発注者テーマ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2944" y="2606040"/>
            <a:ext cx="37307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DDE1"/>
                </a:solidFill>
                <a:latin typeface="Consolas"/>
                <a:ea typeface="Consolas"/>
              </a:rPr>
              <a:t>Model B ・ 請負テーマ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3172968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01 発電・電源設備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5304" y="3172968"/>
            <a:ext cx="3703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C4148"/>
                </a:solidFill>
                <a:latin typeface="Noto Sans JP"/>
                <a:ea typeface="Noto Sans JP"/>
              </a:rPr>
              <a:t>メーカーの工場新増設を管理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2944" y="3172968"/>
            <a:ext cx="37307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C4148"/>
                </a:solidFill>
                <a:latin typeface="Noto Sans JP"/>
                <a:ea typeface="Noto Sans JP"/>
              </a:rPr>
              <a:t>非常用電源の設置・試運転・保守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739896"/>
            <a:ext cx="10634472" cy="56692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" y="3739896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02 受変電・送配電・電線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75304" y="3739896"/>
            <a:ext cx="3703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C4148"/>
                </a:solidFill>
                <a:latin typeface="Noto Sans JP"/>
                <a:ea typeface="Noto Sans JP"/>
              </a:rPr>
              <a:t>変圧器工場の増産・変電所建設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3739896"/>
            <a:ext cx="37307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C4148"/>
                </a:solidFill>
                <a:latin typeface="Noto Sans JP"/>
                <a:ea typeface="Noto Sans JP"/>
              </a:rPr>
              <a:t>機器の据付・更新工事・保守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" y="4306824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03 DC建設・設備工事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75304" y="4306824"/>
            <a:ext cx="3703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C4148"/>
                </a:solidFill>
                <a:latin typeface="Noto Sans JP"/>
                <a:ea typeface="Noto Sans JP"/>
              </a:rPr>
              <a:t>自社拠点を建てる事業者の管理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2944" y="4306824"/>
            <a:ext cx="37307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C4148"/>
                </a:solidFill>
                <a:latin typeface="Noto Sans JP"/>
                <a:ea typeface="Noto Sans JP"/>
              </a:rPr>
              <a:t>機器を納める製造業への横展開接点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73752"/>
            <a:ext cx="10634472" cy="56692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" y="4873752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04 冷却・電源保護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75304" y="4873752"/>
            <a:ext cx="3703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C4148"/>
                </a:solidFill>
                <a:latin typeface="Noto Sans JP"/>
                <a:ea typeface="Noto Sans JP"/>
              </a:rPr>
              <a:t>空調メーカーの増産投資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4873752"/>
            <a:ext cx="37307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C4148"/>
                </a:solidFill>
                <a:latin typeface="Noto Sans JP"/>
                <a:ea typeface="Noto Sans JP"/>
              </a:rPr>
              <a:t>液冷・UPS・免震の据付〜アフター（最有力）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" y="5440680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05 半導体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75304" y="5440680"/>
            <a:ext cx="3703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C4148"/>
                </a:solidFill>
                <a:latin typeface="Noto Sans JP"/>
                <a:ea typeface="Noto Sans JP"/>
              </a:rPr>
              <a:t>巨大ファブ・クリーンルーム新設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52944" y="5440680"/>
            <a:ext cx="37307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C4148"/>
                </a:solidFill>
                <a:latin typeface="Noto Sans JP"/>
                <a:ea typeface="Noto Sans JP"/>
              </a:rPr>
              <a:t>製造装置の据付・立ち上げ・保守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2606040"/>
            <a:ext cx="10634472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" y="3172968"/>
            <a:ext cx="10634472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3739896"/>
            <a:ext cx="10634472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" y="4306824"/>
            <a:ext cx="10634472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" y="4873752"/>
            <a:ext cx="10634472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440680"/>
            <a:ext cx="10634472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240" y="6007608"/>
            <a:ext cx="10634472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29000" y="3172968"/>
            <a:ext cx="10972" cy="2834640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06640" y="3172968"/>
            <a:ext cx="10972" cy="2834640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613562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E60012"/>
                </a:solidFill>
                <a:latin typeface="Consolas"/>
                <a:ea typeface="Consolas"/>
              </a:rPr>
              <a:t>代表的な国内プレーヤー：</a:t>
            </a:r>
            <a:r>
              <a:rPr sz="1050" b="0">
                <a:solidFill>
                  <a:srgbClr val="3C4148"/>
                </a:solidFill>
                <a:latin typeface="Noto Sans JP"/>
                <a:ea typeface="Noto Sans JP"/>
              </a:rPr>
              <a:t> 三菱重工 / 日立 / 三菱電機 / ダイヘン / フジクラ / きんでん・高砂熱学 / ダイキン・GSユアサ / 東京エレクトロン・ディスコ・キオクシア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475488" cy="475488"/>
          </a:xfrm>
          <a:prstGeom prst="roundRect">
            <a:avLst>
              <a:gd name="adj" fmla="val 18000"/>
            </a:avLst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onsolas"/>
                <a:ea typeface="Consola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spc="150">
                <a:solidFill>
                  <a:srgbClr val="E60012"/>
                </a:solidFill>
                <a:latin typeface="Consolas"/>
                <a:ea typeface="Consolas"/>
              </a:rPr>
              <a:t>どこから攻めるか — 狙い目と次の一歩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676656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A1D21"/>
                </a:solidFill>
                <a:latin typeface="Noto Sans JP"/>
                <a:ea typeface="Noto Sans JP"/>
              </a:rPr>
              <a:t>据付・保守は「請負」で、工場増設は「発注者」で。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170432"/>
            <a:ext cx="10634472" cy="18288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554480"/>
            <a:ext cx="5486400" cy="521207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554480"/>
            <a:ext cx="256032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onsolas"/>
                <a:ea typeface="Consolas"/>
              </a:rPr>
              <a:t>領域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554480"/>
            <a:ext cx="137160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onsolas"/>
                <a:ea typeface="Consolas"/>
              </a:rPr>
              <a:t>A 発注者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554480"/>
            <a:ext cx="137160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DDE1"/>
                </a:solidFill>
                <a:latin typeface="Consolas"/>
                <a:ea typeface="Consolas"/>
              </a:rPr>
              <a:t>B 請負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075688"/>
            <a:ext cx="256032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1D21"/>
                </a:solidFill>
                <a:latin typeface="Noto Sans JP"/>
                <a:ea typeface="Noto Sans JP"/>
              </a:rPr>
              <a:t>01 発電・電源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075688"/>
            <a:ext cx="137160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454B54"/>
                </a:solidFill>
                <a:latin typeface="Noto Sans JP"/>
                <a:ea typeface="Noto Sans JP"/>
              </a:rPr>
              <a:t>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075688"/>
            <a:ext cx="137160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60012"/>
                </a:solidFill>
                <a:latin typeface="Noto Sans JP"/>
                <a:ea typeface="Noto Sans JP"/>
              </a:rPr>
              <a:t>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596896"/>
            <a:ext cx="5486400" cy="521207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" y="2596896"/>
            <a:ext cx="256032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1D21"/>
                </a:solidFill>
                <a:latin typeface="Noto Sans JP"/>
                <a:ea typeface="Noto Sans JP"/>
              </a:rPr>
              <a:t>02 受変電・送配電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596896"/>
            <a:ext cx="137160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454B54"/>
                </a:solidFill>
                <a:latin typeface="Noto Sans JP"/>
                <a:ea typeface="Noto Sans JP"/>
              </a:rPr>
              <a:t>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596896"/>
            <a:ext cx="137160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60012"/>
                </a:solidFill>
                <a:latin typeface="Noto Sans JP"/>
                <a:ea typeface="Noto Sans JP"/>
              </a:rPr>
              <a:t>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" y="3118104"/>
            <a:ext cx="256032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1D21"/>
                </a:solidFill>
                <a:latin typeface="Noto Sans JP"/>
                <a:ea typeface="Noto Sans JP"/>
              </a:rPr>
              <a:t>03 DC建設・設備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118104"/>
            <a:ext cx="137160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454B54"/>
                </a:solidFill>
                <a:latin typeface="Noto Sans JP"/>
                <a:ea typeface="Noto Sans JP"/>
              </a:rPr>
              <a:t>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3118104"/>
            <a:ext cx="137160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60012"/>
                </a:solidFill>
                <a:latin typeface="Noto Sans JP"/>
                <a:ea typeface="Noto Sans JP"/>
              </a:rPr>
              <a:t>◎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639311"/>
            <a:ext cx="5486400" cy="521207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" y="3639311"/>
            <a:ext cx="256032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1D21"/>
                </a:solidFill>
                <a:latin typeface="Noto Sans JP"/>
                <a:ea typeface="Noto Sans JP"/>
              </a:rPr>
              <a:t>04 冷却・電源保護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3639311"/>
            <a:ext cx="137160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454B54"/>
                </a:solidFill>
                <a:latin typeface="Noto Sans JP"/>
                <a:ea typeface="Noto Sans JP"/>
              </a:rPr>
              <a:t>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3639311"/>
            <a:ext cx="137160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60012"/>
                </a:solidFill>
                <a:latin typeface="Noto Sans JP"/>
                <a:ea typeface="Noto Sans JP"/>
              </a:rPr>
              <a:t>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" y="4160520"/>
            <a:ext cx="256032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1D21"/>
                </a:solidFill>
                <a:latin typeface="Noto Sans JP"/>
                <a:ea typeface="Noto Sans JP"/>
              </a:rPr>
              <a:t>05 半導体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160520"/>
            <a:ext cx="137160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454B54"/>
                </a:solidFill>
                <a:latin typeface="Noto Sans JP"/>
                <a:ea typeface="Noto Sans JP"/>
              </a:rPr>
              <a:t>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4160520"/>
            <a:ext cx="1371600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60012"/>
                </a:solidFill>
                <a:latin typeface="Noto Sans JP"/>
                <a:ea typeface="Noto Sans JP"/>
              </a:rPr>
              <a:t>◎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1554480"/>
            <a:ext cx="5486400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2075688"/>
            <a:ext cx="5486400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2596896"/>
            <a:ext cx="5486400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3118104"/>
            <a:ext cx="5486400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" y="3639311"/>
            <a:ext cx="5486400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" y="4160520"/>
            <a:ext cx="5486400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81728"/>
            <a:ext cx="5486400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791456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A9098"/>
                </a:solidFill>
                <a:latin typeface="Consolas"/>
                <a:ea typeface="Consolas"/>
              </a:rPr>
              <a:t>◎ = 相性が特に高い / ○ = 有望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20840" y="1554480"/>
            <a:ext cx="4709160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20840" y="1554480"/>
            <a:ext cx="91440" cy="105156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95159" y="1700784"/>
            <a:ext cx="425196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spc="100">
                <a:solidFill>
                  <a:srgbClr val="E60012"/>
                </a:solidFill>
                <a:latin typeface="Consolas"/>
                <a:ea typeface="Consolas"/>
              </a:rPr>
              <a:t>最有力の入口　</a:t>
            </a:r>
            <a:r>
              <a:rPr sz="1450" b="1">
                <a:solidFill>
                  <a:srgbClr val="1A1D21"/>
                </a:solidFill>
                <a:latin typeface="Noto Sans JP"/>
                <a:ea typeface="Noto Sans JP"/>
              </a:rPr>
              <a:t>据付・保守は「請負 × フィールド」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3C4148"/>
                </a:solidFill>
                <a:latin typeface="Noto Sans JP"/>
                <a:ea typeface="Noto Sans JP"/>
              </a:rPr>
              <a:t>冷却・UPS・半導体装置など、設置→試運転→保守が命の機器メーカー。Model Bの本命。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720840" y="2770632"/>
            <a:ext cx="4709160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720840" y="2770632"/>
            <a:ext cx="91440" cy="1051560"/>
          </a:xfrm>
          <a:prstGeom prst="rect">
            <a:avLst/>
          </a:prstGeom>
          <a:solidFill>
            <a:srgbClr val="454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95159" y="2916936"/>
            <a:ext cx="425196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spc="100">
                <a:solidFill>
                  <a:srgbClr val="454B54"/>
                </a:solidFill>
                <a:latin typeface="Consolas"/>
                <a:ea typeface="Consolas"/>
              </a:rPr>
              <a:t>大型の伸びしろ　</a:t>
            </a:r>
            <a:r>
              <a:rPr sz="1450" b="1">
                <a:solidFill>
                  <a:srgbClr val="1A1D21"/>
                </a:solidFill>
                <a:latin typeface="Noto Sans JP"/>
                <a:ea typeface="Noto Sans JP"/>
              </a:rPr>
              <a:t>工場増設ラッシュは「発注者」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3C4148"/>
                </a:solidFill>
                <a:latin typeface="Noto Sans JP"/>
                <a:ea typeface="Noto Sans JP"/>
              </a:rPr>
              <a:t>変圧器・半導体の増産投資は桁違い。建てる側のプロジェクト管理としてModel Aで。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720840" y="3986783"/>
            <a:ext cx="4709160" cy="1051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720840" y="3986783"/>
            <a:ext cx="91440" cy="105156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95159" y="4133087"/>
            <a:ext cx="425196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spc="100">
                <a:solidFill>
                  <a:srgbClr val="E60012"/>
                </a:solidFill>
                <a:latin typeface="Consolas"/>
                <a:ea typeface="Consolas"/>
              </a:rPr>
              <a:t>横展開の型　</a:t>
            </a:r>
            <a:r>
              <a:rPr sz="1450" b="1">
                <a:solidFill>
                  <a:srgbClr val="1A1D21"/>
                </a:solidFill>
                <a:latin typeface="Noto Sans JP"/>
                <a:ea typeface="Noto Sans JP"/>
              </a:rPr>
              <a:t>建設接点から機器メーカーへ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3C4148"/>
                </a:solidFill>
                <a:latin typeface="Noto Sans JP"/>
                <a:ea typeface="Noto Sans JP"/>
              </a:rPr>
              <a:t>DC建設の設備工事はANDPADの中核。そこに機器を納める製造業へ請負活用を広げる。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" y="6126480"/>
            <a:ext cx="10634472" cy="566928"/>
          </a:xfrm>
          <a:prstGeom prst="roundRect">
            <a:avLst>
              <a:gd name="adj" fmla="val 6000"/>
            </a:avLst>
          </a:prstGeom>
          <a:solidFill>
            <a:srgbClr val="FDECEE"/>
          </a:solidFill>
          <a:ln w="12700">
            <a:solidFill>
              <a:srgbClr val="F3C7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6126480"/>
            <a:ext cx="10149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60012"/>
                </a:solidFill>
                <a:latin typeface="Noto Sans JP"/>
                <a:ea typeface="Noto Sans JP"/>
              </a:rPr>
              <a:t>次の一歩：</a:t>
            </a:r>
            <a:r>
              <a:rPr sz="1250" b="0">
                <a:solidFill>
                  <a:srgbClr val="1A1D21"/>
                </a:solidFill>
                <a:latin typeface="Noto Sans JP"/>
                <a:ea typeface="Noto Sans JP"/>
              </a:rPr>
              <a:t> 領域04（冷却・UPS）と領域05（半導体装置）の機器メーカーを起点に、「据付・試運転・アフター現場」の課題ヒアリングから着手する。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Noto Sans JP"/>
                <a:ea typeface="Noto Sans JP"/>
              </a:rPr>
              <a:t>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743200"/>
            <a:ext cx="9601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spc="300">
                <a:solidFill>
                  <a:srgbClr val="E60012"/>
                </a:solidFill>
                <a:latin typeface="Consolas"/>
                <a:ea typeface="Consolas"/>
              </a:rPr>
              <a:t>APPENDIX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Noto Sans JP"/>
                <a:ea typeface="Noto Sans JP"/>
              </a:rPr>
              <a:t>参考：企業別 AI需要の影響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52628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C7D0DC"/>
                </a:solidFill>
                <a:latin typeface="Noto Sans JP"/>
                <a:ea typeface="Noto Sans JP"/>
              </a:rPr>
              <a:t>バリューチェーンの領域ごとに、国内主要企業がAI需要をどう受けるかを整理。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02920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6B6"/>
                </a:solidFill>
                <a:latin typeface="Consolas"/>
                <a:ea typeface="Consolas"/>
              </a:rPr>
              <a:t>数値は各社の決算・IR等の直近開示にもとづく（対象期間・単位は出典元を要確認）。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475488" cy="475488"/>
          </a:xfrm>
          <a:prstGeom prst="roundRect">
            <a:avLst>
              <a:gd name="adj" fmla="val 18000"/>
            </a:avLst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onsolas"/>
                <a:ea typeface="Consolas"/>
              </a:rPr>
              <a:t>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spc="150">
                <a:solidFill>
                  <a:srgbClr val="E60012"/>
                </a:solidFill>
                <a:latin typeface="Consolas"/>
                <a:ea typeface="Consolas"/>
              </a:rPr>
              <a:t>領域01 ・ 発電・電源設備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676656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A1D21"/>
                </a:solidFill>
                <a:latin typeface="Noto Sans JP"/>
                <a:ea typeface="Noto Sans JP"/>
              </a:rPr>
              <a:t>電気をつくる — 重工・エンジン・発電機メーカー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170432"/>
            <a:ext cx="10634472" cy="18288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252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spc="100">
                <a:solidFill>
                  <a:srgbClr val="E60012"/>
                </a:solidFill>
                <a:latin typeface="Consolas"/>
                <a:ea typeface="Consolas"/>
              </a:rPr>
              <a:t>Model B ・ 請負が主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627632"/>
            <a:ext cx="2103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三菱重工業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627632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7011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7368" y="1627632"/>
            <a:ext cx="5943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北米中心にガスタービン受注が急拡大。大型ガスタービンの生産能力を2倍へ増強。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30968" y="1627632"/>
            <a:ext cx="640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E60012"/>
                </a:solidFill>
                <a:latin typeface="Noto Sans JP"/>
                <a:ea typeface="Noto Sans JP"/>
              </a:rPr>
              <a:t>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86000"/>
            <a:ext cx="9966960" cy="6583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286000"/>
            <a:ext cx="2103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川崎重工業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286000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7012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87368" y="2286000"/>
            <a:ext cx="5943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ガスタービン・ガスエンジンが増収増益。非常用「PUシリーズ」8,000台超の納入実績。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30968" y="2286000"/>
            <a:ext cx="640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454B54"/>
                </a:solidFill>
                <a:latin typeface="Noto Sans JP"/>
                <a:ea typeface="Noto Sans JP"/>
              </a:rPr>
              <a:t>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2944368"/>
            <a:ext cx="2103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IHI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2944368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7013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87368" y="2944368"/>
            <a:ext cx="5943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子会社IHI原動機がDC向け非常用発電装置の引き合い増で、発電機を高出力化。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30968" y="2944368"/>
            <a:ext cx="640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454B54"/>
                </a:solidFill>
                <a:latin typeface="Noto Sans JP"/>
                <a:ea typeface="Noto Sans JP"/>
              </a:rPr>
              <a:t>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602736"/>
            <a:ext cx="9966960" cy="6583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602736"/>
            <a:ext cx="2103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デンヨー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602736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6517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87368" y="3602736"/>
            <a:ext cx="5943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非常用発電機の国内需要が堅調、米国向け輸出も好調で増収増益。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30968" y="3602736"/>
            <a:ext cx="640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454B54"/>
                </a:solidFill>
                <a:latin typeface="Noto Sans JP"/>
                <a:ea typeface="Noto Sans JP"/>
              </a:rPr>
              <a:t>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4261104"/>
            <a:ext cx="2103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ヤンマーHD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4261104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非上場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87368" y="4261104"/>
            <a:ext cx="5943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DC向け大容量非常用発電機「GY175」を商品化、北九州に専用新工場（28年稼働）。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30968" y="4261104"/>
            <a:ext cx="640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454B54"/>
                </a:solidFill>
                <a:latin typeface="Noto Sans JP"/>
                <a:ea typeface="Noto Sans JP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1627632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2286000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" y="2944368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" y="3602736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261104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" y="4919472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475488" cy="475488"/>
          </a:xfrm>
          <a:prstGeom prst="roundRect">
            <a:avLst>
              <a:gd name="adj" fmla="val 18000"/>
            </a:avLst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onsolas"/>
                <a:ea typeface="Consolas"/>
              </a:rPr>
              <a:t>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spc="150">
                <a:solidFill>
                  <a:srgbClr val="E60012"/>
                </a:solidFill>
                <a:latin typeface="Consolas"/>
                <a:ea typeface="Consolas"/>
              </a:rPr>
              <a:t>領域02a ・ 受変電・重電・送配電機器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676656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A1D21"/>
                </a:solidFill>
                <a:latin typeface="Noto Sans JP"/>
                <a:ea typeface="Noto Sans JP"/>
              </a:rPr>
              <a:t>電気を変える・送る — 変圧器/GISメーカー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170432"/>
            <a:ext cx="10634472" cy="18288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252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spc="100">
                <a:solidFill>
                  <a:srgbClr val="E60012"/>
                </a:solidFill>
                <a:latin typeface="Consolas"/>
                <a:ea typeface="Consolas"/>
              </a:rPr>
              <a:t>Model A / B 両取り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627632"/>
            <a:ext cx="2103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日立製作所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627632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6501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7368" y="1627632"/>
            <a:ext cx="5943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DC・半導体工場向け変圧器/送配電の受注が世界的に急拡大、米国に変圧器新工場。3年ぶり最高益。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30968" y="1627632"/>
            <a:ext cx="640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E60012"/>
                </a:solidFill>
                <a:latin typeface="Noto Sans JP"/>
                <a:ea typeface="Noto Sans JP"/>
              </a:rPr>
              <a:t>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86000"/>
            <a:ext cx="9966960" cy="6583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286000"/>
            <a:ext cx="2103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三菱電機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286000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6503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87368" y="2286000"/>
            <a:ext cx="5943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特別高圧変圧器（赤穂）の生産予約が数年先まで。DC/防衛で5年連続最高益。C-GISも増産。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30968" y="2286000"/>
            <a:ext cx="640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E60012"/>
                </a:solidFill>
                <a:latin typeface="Noto Sans JP"/>
                <a:ea typeface="Noto Sans JP"/>
              </a:rPr>
              <a:t>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2944368"/>
            <a:ext cx="2103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東芝エネルギーシステムズ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2944368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非上場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87368" y="2944368"/>
            <a:ext cx="5943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送変電機器の増産投資を拡大（GIS等に約550億円、30年度に生産能力2倍超）。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30968" y="2944368"/>
            <a:ext cx="640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E60012"/>
                </a:solidFill>
                <a:latin typeface="Noto Sans JP"/>
                <a:ea typeface="Noto Sans JP"/>
              </a:rPr>
              <a:t>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602736"/>
            <a:ext cx="9966960" cy="6583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602736"/>
            <a:ext cx="2103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富士電機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602736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6504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87368" y="3602736"/>
            <a:ext cx="5943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DC・半導体向け特高変圧器とUPS・施設電源が伸長し5年連続最高益。生産体制を再編・増強。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30968" y="3602736"/>
            <a:ext cx="640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E60012"/>
                </a:solidFill>
                <a:latin typeface="Noto Sans JP"/>
                <a:ea typeface="Noto Sans JP"/>
              </a:rPr>
              <a:t>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4261104"/>
            <a:ext cx="2103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明電舎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4261104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6508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87368" y="4261104"/>
            <a:ext cx="5943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系統増強を見据え沼津の変圧器工場に160億円投資、生産能力を約1.5倍に拡大。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30968" y="4261104"/>
            <a:ext cx="640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454B54"/>
                </a:solidFill>
                <a:latin typeface="Noto Sans JP"/>
                <a:ea typeface="Noto Sans JP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919472"/>
            <a:ext cx="9966960" cy="6583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" y="4919472"/>
            <a:ext cx="2103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ダイヘン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4919472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6622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87368" y="4919472"/>
            <a:ext cx="5943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大形変圧器の需要急増で三重に新工場、生産能力を29年度までに2倍へ。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30968" y="4919472"/>
            <a:ext cx="640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E60012"/>
                </a:solidFill>
                <a:latin typeface="Noto Sans JP"/>
                <a:ea typeface="Noto Sans JP"/>
              </a:rPr>
              <a:t>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" y="5577840"/>
            <a:ext cx="2103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日新電機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577840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非上場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87368" y="5577840"/>
            <a:ext cx="5943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レベニューキャップ・半導体工場向けでGIS需要が急増、国内にGIS第二工場を新設。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30968" y="5577840"/>
            <a:ext cx="640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454B54"/>
                </a:solidFill>
                <a:latin typeface="Noto Sans JP"/>
                <a:ea typeface="Noto Sans JP"/>
              </a:rPr>
              <a:t>中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1627632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2286000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2944368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" y="3602736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4261104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4919472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7240" y="5577840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7240" y="6236208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475488" cy="475488"/>
          </a:xfrm>
          <a:prstGeom prst="roundRect">
            <a:avLst>
              <a:gd name="adj" fmla="val 18000"/>
            </a:avLst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onsolas"/>
                <a:ea typeface="Consolas"/>
              </a:rPr>
              <a:t>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spc="150">
                <a:solidFill>
                  <a:srgbClr val="E60012"/>
                </a:solidFill>
                <a:latin typeface="Consolas"/>
                <a:ea typeface="Consolas"/>
              </a:rPr>
              <a:t>領域02b ・ 電線・ケーブル / 電力会社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676656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A1D21"/>
                </a:solidFill>
                <a:latin typeface="Noto Sans JP"/>
                <a:ea typeface="Noto Sans JP"/>
              </a:rPr>
              <a:t>電気を送る — 光/電力ケーブルと送配電投資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170432"/>
            <a:ext cx="10634472" cy="18288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252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spc="100">
                <a:solidFill>
                  <a:srgbClr val="E60012"/>
                </a:solidFill>
                <a:latin typeface="Consolas"/>
                <a:ea typeface="Consolas"/>
              </a:rPr>
              <a:t>Model A / B 両取り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627632"/>
            <a:ext cx="210312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古河電気工業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627632"/>
            <a:ext cx="82296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5801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7368" y="1627632"/>
            <a:ext cx="594360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DC/AI向け高付加価値光ファイバの供給体制を強化、DC事業の営業利益を5年で8.5倍計画。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30968" y="1627632"/>
            <a:ext cx="64008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E60012"/>
                </a:solidFill>
                <a:latin typeface="Noto Sans JP"/>
                <a:ea typeface="Noto Sans JP"/>
              </a:rPr>
              <a:t>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18563"/>
            <a:ext cx="9966960" cy="590931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218563"/>
            <a:ext cx="210312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住友電気工業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218563"/>
            <a:ext cx="82296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5802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87368" y="2218563"/>
            <a:ext cx="594360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AI DC向け光デバイス/配線/コネクタ需要増で〜28年度に約1,000億円投資（光コネクタ7倍）。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30968" y="2218563"/>
            <a:ext cx="64008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E60012"/>
                </a:solidFill>
                <a:latin typeface="Noto Sans JP"/>
                <a:ea typeface="Noto Sans JP"/>
              </a:rPr>
              <a:t>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2809494"/>
            <a:ext cx="210312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フジクラ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2809494"/>
            <a:ext cx="82296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5803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87368" y="2809494"/>
            <a:ext cx="594360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北米AI DC向け光ケーブル需要が爆発、情通事業が全社営業利益の8割超。最大3,000億円増産。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30968" y="2809494"/>
            <a:ext cx="64008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E60012"/>
                </a:solidFill>
                <a:latin typeface="Noto Sans JP"/>
                <a:ea typeface="Noto Sans JP"/>
              </a:rPr>
              <a:t>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400425"/>
            <a:ext cx="9966960" cy="590931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400425"/>
            <a:ext cx="210312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SWCC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400425"/>
            <a:ext cx="82296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5805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87368" y="3400425"/>
            <a:ext cx="594360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米AI DC向け超多心光ケーブル「e-Ribbon」需要が拡大、通信・部品事業を牽引。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30968" y="3400425"/>
            <a:ext cx="64008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E60012"/>
                </a:solidFill>
                <a:latin typeface="Noto Sans JP"/>
                <a:ea typeface="Noto Sans JP"/>
              </a:rPr>
              <a:t>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3991356"/>
            <a:ext cx="210312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東京電力HD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3991356"/>
            <a:ext cx="82296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9501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87368" y="3991356"/>
            <a:ext cx="594360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千葉印西等のDC集積で電力需要急増、送電網増強へ〜27年度に4,700億円投資。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30968" y="3991356"/>
            <a:ext cx="64008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454B54"/>
                </a:solidFill>
                <a:latin typeface="Noto Sans JP"/>
                <a:ea typeface="Noto Sans JP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82287"/>
            <a:ext cx="9966960" cy="590931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" y="4582287"/>
            <a:ext cx="210312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関西電力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4582287"/>
            <a:ext cx="82296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9503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87368" y="4582287"/>
            <a:ext cx="594360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DC新増設で電力需要急増、送配電子会社が変電所・送電線に1,500億円超を追加投資。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30968" y="4582287"/>
            <a:ext cx="64008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454B54"/>
                </a:solidFill>
                <a:latin typeface="Noto Sans JP"/>
                <a:ea typeface="Noto Sans JP"/>
              </a:rPr>
              <a:t>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" y="5173218"/>
            <a:ext cx="210312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中部電力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173218"/>
            <a:ext cx="82296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9502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87368" y="5173218"/>
            <a:ext cx="594360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DC・半導体の需要増を見据え、連系線・系統増強など次世代電力網に重点投資。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30968" y="5173218"/>
            <a:ext cx="64008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454B54"/>
                </a:solidFill>
                <a:latin typeface="Noto Sans JP"/>
                <a:ea typeface="Noto Sans JP"/>
              </a:rPr>
              <a:t>中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764149"/>
            <a:ext cx="9966960" cy="590931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6968" y="5764149"/>
            <a:ext cx="210312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九州電力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0" y="5764149"/>
            <a:ext cx="82296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9508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87368" y="5764149"/>
            <a:ext cx="594360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TSMC進出等でDC/半導体需要増、送配電5カ年投資を約6,500億円（+1割）に。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30968" y="5764149"/>
            <a:ext cx="64008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E60012"/>
                </a:solidFill>
                <a:latin typeface="Noto Sans JP"/>
                <a:ea typeface="Noto Sans JP"/>
              </a:rPr>
              <a:t>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1627632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7240" y="2218563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7240" y="2809494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" y="3400425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7240" y="3991356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7240" y="4582287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77240" y="5173218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77240" y="5764149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77240" y="6355080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475488" cy="475488"/>
          </a:xfrm>
          <a:prstGeom prst="roundRect">
            <a:avLst>
              <a:gd name="adj" fmla="val 18000"/>
            </a:avLst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onsolas"/>
                <a:ea typeface="Consolas"/>
              </a:rPr>
              <a:t>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spc="150">
                <a:solidFill>
                  <a:srgbClr val="E60012"/>
                </a:solidFill>
                <a:latin typeface="Consolas"/>
                <a:ea typeface="Consolas"/>
              </a:rPr>
              <a:t>領域03a ・ データセンター建設ゼネコン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676656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A1D21"/>
                </a:solidFill>
                <a:latin typeface="Noto Sans JP"/>
                <a:ea typeface="Noto Sans JP"/>
              </a:rPr>
              <a:t>箱を建てる — 元請けゼネコン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170432"/>
            <a:ext cx="10634472" cy="18288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252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spc="100">
                <a:solidFill>
                  <a:srgbClr val="454B54"/>
                </a:solidFill>
                <a:latin typeface="Consolas"/>
                <a:ea typeface="Consolas"/>
              </a:rPr>
              <a:t>Model A ・ 発注者が主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627632"/>
            <a:ext cx="2103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鹿島建設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627632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1812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7368" y="1627632"/>
            <a:ext cx="5943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DC等大型工事の施工量増で建築が急拡大、建設業初の単体売上高3兆円を突破。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30968" y="1627632"/>
            <a:ext cx="640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454B54"/>
                </a:solidFill>
                <a:latin typeface="Noto Sans JP"/>
                <a:ea typeface="Noto Sans JP"/>
              </a:rPr>
              <a:t>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86000"/>
            <a:ext cx="9966960" cy="6583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286000"/>
            <a:ext cx="2103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大成建設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286000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1801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87368" y="2286000"/>
            <a:ext cx="5943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中期経営計画でDCを注力分野に明記、運営ノウハウを商品企画へ反映。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30968" y="2286000"/>
            <a:ext cx="640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454B54"/>
                </a:solidFill>
                <a:latin typeface="Noto Sans JP"/>
                <a:ea typeface="Noto Sans JP"/>
              </a:rPr>
              <a:t>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2944368"/>
            <a:ext cx="2103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清水建設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2944368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1803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87368" y="2944368"/>
            <a:ext cx="5943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DCを建築の主要需要分野に位置づけ、適正工期・価格で選別受注を強化。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30968" y="2944368"/>
            <a:ext cx="640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454B54"/>
                </a:solidFill>
                <a:latin typeface="Noto Sans JP"/>
                <a:ea typeface="Noto Sans JP"/>
              </a:rPr>
              <a:t>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602736"/>
            <a:ext cx="9966960" cy="6583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602736"/>
            <a:ext cx="2103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大林組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602736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1802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87368" y="3602736"/>
            <a:ext cx="5943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米DC/半導体工場専門の建設会社GCONを買収、北米DC受注拡大を狙う。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30968" y="3602736"/>
            <a:ext cx="640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E60012"/>
                </a:solidFill>
                <a:latin typeface="Noto Sans JP"/>
                <a:ea typeface="Noto Sans JP"/>
              </a:rPr>
              <a:t>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4261104"/>
            <a:ext cx="2103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竹中工務店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4261104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非上場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87368" y="4261104"/>
            <a:ext cx="5943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業界初のDC特化型設計支援ツールを自社開発、提案スピードを強化。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30968" y="4261104"/>
            <a:ext cx="640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454B54"/>
                </a:solidFill>
                <a:latin typeface="Noto Sans JP"/>
                <a:ea typeface="Noto Sans JP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919472"/>
            <a:ext cx="9966960" cy="6583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" y="4919472"/>
            <a:ext cx="2103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戸田建設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4919472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1860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87368" y="4919472"/>
            <a:ext cx="5943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関西けいはんなの大型DCキャンパス「KIX01A」（総電力80MW）を受注。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30968" y="4919472"/>
            <a:ext cx="640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454B54"/>
                </a:solidFill>
                <a:latin typeface="Noto Sans JP"/>
                <a:ea typeface="Noto Sans JP"/>
              </a:rPr>
              <a:t>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" y="5577840"/>
            <a:ext cx="2103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西松建設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577840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1820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87368" y="5577840"/>
            <a:ext cx="5943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中計でDCを注力分野に明記、国内建築の高収益体質への転換を推進。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30968" y="5577840"/>
            <a:ext cx="640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454B54"/>
                </a:solidFill>
                <a:latin typeface="Noto Sans JP"/>
                <a:ea typeface="Noto Sans JP"/>
              </a:rPr>
              <a:t>中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1627632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2286000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2944368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" y="3602736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4261104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4919472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7240" y="5577840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7240" y="6236208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475488" cy="475488"/>
          </a:xfrm>
          <a:prstGeom prst="roundRect">
            <a:avLst>
              <a:gd name="adj" fmla="val 18000"/>
            </a:avLst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onsolas"/>
                <a:ea typeface="Consolas"/>
              </a:rPr>
              <a:t>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spc="150">
                <a:solidFill>
                  <a:srgbClr val="E60012"/>
                </a:solidFill>
                <a:latin typeface="Consolas"/>
                <a:ea typeface="Consolas"/>
              </a:rPr>
              <a:t>領域03b ・ 電気・空調 設備工事（サブコン）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676656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A1D21"/>
                </a:solidFill>
                <a:latin typeface="Noto Sans JP"/>
                <a:ea typeface="Noto Sans JP"/>
              </a:rPr>
              <a:t>箱を建てる — 設備工事の専門会社（営業本命）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170432"/>
            <a:ext cx="10634472" cy="18288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252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spc="100">
                <a:solidFill>
                  <a:srgbClr val="E60012"/>
                </a:solidFill>
                <a:latin typeface="Consolas"/>
                <a:ea typeface="Consolas"/>
              </a:rPr>
              <a:t>Model B ・ 請負が主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627632"/>
            <a:ext cx="210312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1D21"/>
                </a:solidFill>
                <a:latin typeface="Noto Sans JP"/>
                <a:ea typeface="Noto Sans JP"/>
              </a:rPr>
              <a:t>きんでん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627632"/>
            <a:ext cx="82296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8A9098"/>
                </a:solidFill>
                <a:latin typeface="Consolas"/>
                <a:ea typeface="Consolas"/>
              </a:rPr>
              <a:t>1944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7368" y="1627632"/>
            <a:ext cx="594360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C4148"/>
                </a:solidFill>
                <a:latin typeface="Noto Sans JP"/>
                <a:ea typeface="Noto Sans JP"/>
              </a:rPr>
              <a:t>DC/物流向け一般電気工事が急拡大、一般電気工事の受注高が+21.0%（3,194億円）。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30968" y="1627632"/>
            <a:ext cx="64008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900" b="1">
                <a:solidFill>
                  <a:srgbClr val="E60012"/>
                </a:solidFill>
                <a:latin typeface="Noto Sans JP"/>
                <a:ea typeface="Noto Sans JP"/>
              </a:rPr>
              <a:t>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152904"/>
            <a:ext cx="9966960" cy="525272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152904"/>
            <a:ext cx="210312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1D21"/>
                </a:solidFill>
                <a:latin typeface="Noto Sans JP"/>
                <a:ea typeface="Noto Sans JP"/>
              </a:rPr>
              <a:t>関電工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152904"/>
            <a:ext cx="82296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8A9098"/>
                </a:solidFill>
                <a:latin typeface="Consolas"/>
                <a:ea typeface="Consolas"/>
              </a:rPr>
              <a:t>1942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87368" y="2152904"/>
            <a:ext cx="594360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C4148"/>
                </a:solidFill>
                <a:latin typeface="Noto Sans JP"/>
                <a:ea typeface="Noto Sans JP"/>
              </a:rPr>
              <a:t>DC・半導体工場向け電気設備工事とビル再開発で、26/3期は連続最高益の見通し。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30968" y="2152904"/>
            <a:ext cx="64008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900" b="1">
                <a:solidFill>
                  <a:srgbClr val="E60012"/>
                </a:solidFill>
                <a:latin typeface="Noto Sans JP"/>
                <a:ea typeface="Noto Sans JP"/>
              </a:rPr>
              <a:t>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2678176"/>
            <a:ext cx="210312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1D21"/>
                </a:solidFill>
                <a:latin typeface="Noto Sans JP"/>
                <a:ea typeface="Noto Sans JP"/>
              </a:rPr>
              <a:t>クラフティア(旧九電工)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2678176"/>
            <a:ext cx="82296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8A9098"/>
                </a:solidFill>
                <a:latin typeface="Consolas"/>
                <a:ea typeface="Consolas"/>
              </a:rPr>
              <a:t>1959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87368" y="2678176"/>
            <a:ext cx="594360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C4148"/>
                </a:solidFill>
                <a:latin typeface="Noto Sans JP"/>
                <a:ea typeface="Noto Sans JP"/>
              </a:rPr>
              <a:t>DC関連工事中心に受注を強化、中間期受注高が+20.8%（2,752億円）。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30968" y="2678176"/>
            <a:ext cx="64008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900" b="1">
                <a:solidFill>
                  <a:srgbClr val="E60012"/>
                </a:solidFill>
                <a:latin typeface="Noto Sans JP"/>
                <a:ea typeface="Noto Sans JP"/>
              </a:rPr>
              <a:t>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203447"/>
            <a:ext cx="9966960" cy="525272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203447"/>
            <a:ext cx="210312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1D21"/>
                </a:solidFill>
                <a:latin typeface="Noto Sans JP"/>
                <a:ea typeface="Noto Sans JP"/>
              </a:rPr>
              <a:t>ダイダン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203447"/>
            <a:ext cx="82296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8A9098"/>
                </a:solidFill>
                <a:latin typeface="Consolas"/>
                <a:ea typeface="Consolas"/>
              </a:rPr>
              <a:t>1980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87368" y="3203447"/>
            <a:ext cx="594360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C4148"/>
                </a:solidFill>
                <a:latin typeface="Noto Sans JP"/>
                <a:ea typeface="Noto Sans JP"/>
              </a:rPr>
              <a:t>DC新設で大型空調工事が急増、受注工事高が+25.5%（3,531億円）。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30968" y="3203447"/>
            <a:ext cx="64008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900" b="1">
                <a:solidFill>
                  <a:srgbClr val="E60012"/>
                </a:solidFill>
                <a:latin typeface="Noto Sans JP"/>
                <a:ea typeface="Noto Sans JP"/>
              </a:rPr>
              <a:t>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3728719"/>
            <a:ext cx="210312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1D21"/>
                </a:solidFill>
                <a:latin typeface="Noto Sans JP"/>
                <a:ea typeface="Noto Sans JP"/>
              </a:rPr>
              <a:t>高砂熱学工業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3728719"/>
            <a:ext cx="82296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8A9098"/>
                </a:solidFill>
                <a:latin typeface="Consolas"/>
                <a:ea typeface="Consolas"/>
              </a:rPr>
              <a:t>1969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87368" y="3728719"/>
            <a:ext cx="594360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C4148"/>
                </a:solidFill>
                <a:latin typeface="Noto Sans JP"/>
                <a:ea typeface="Noto Sans JP"/>
              </a:rPr>
              <a:t>半導体/AI DC向け高難度空調を独占的に受注、4期連続最高益（営業+47.3%）。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30968" y="3728719"/>
            <a:ext cx="64008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900" b="1">
                <a:solidFill>
                  <a:srgbClr val="E60012"/>
                </a:solidFill>
                <a:latin typeface="Noto Sans JP"/>
                <a:ea typeface="Noto Sans JP"/>
              </a:rPr>
              <a:t>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253992"/>
            <a:ext cx="9966960" cy="525272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" y="4253992"/>
            <a:ext cx="210312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1D21"/>
                </a:solidFill>
                <a:latin typeface="Noto Sans JP"/>
                <a:ea typeface="Noto Sans JP"/>
              </a:rPr>
              <a:t>新日本空調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4253992"/>
            <a:ext cx="82296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8A9098"/>
                </a:solidFill>
                <a:latin typeface="Consolas"/>
                <a:ea typeface="Consolas"/>
              </a:rPr>
              <a:t>1952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87368" y="4253992"/>
            <a:ext cx="594360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C4148"/>
                </a:solidFill>
                <a:latin typeface="Noto Sans JP"/>
                <a:ea typeface="Noto Sans JP"/>
              </a:rPr>
              <a:t>半導体CR・DC向け「産業」が完成工事高の57%超、受注・繰越とも過去最高。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30968" y="4253992"/>
            <a:ext cx="64008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900" b="1">
                <a:solidFill>
                  <a:srgbClr val="E60012"/>
                </a:solidFill>
                <a:latin typeface="Noto Sans JP"/>
                <a:ea typeface="Noto Sans JP"/>
              </a:rPr>
              <a:t>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" y="4779264"/>
            <a:ext cx="210312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1D21"/>
                </a:solidFill>
                <a:latin typeface="Noto Sans JP"/>
                <a:ea typeface="Noto Sans JP"/>
              </a:rPr>
              <a:t>三機工業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4779264"/>
            <a:ext cx="82296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8A9098"/>
                </a:solidFill>
                <a:latin typeface="Consolas"/>
                <a:ea typeface="Consolas"/>
              </a:rPr>
              <a:t>1961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87368" y="4779264"/>
            <a:ext cx="594360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C4148"/>
                </a:solidFill>
                <a:latin typeface="Noto Sans JP"/>
                <a:ea typeface="Noto Sans JP"/>
              </a:rPr>
              <a:t>DC向け大容量空調「L-LAC」で大型受注が継続、営業利益が過去最高。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30968" y="4779264"/>
            <a:ext cx="64008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900" b="1">
                <a:solidFill>
                  <a:srgbClr val="E60012"/>
                </a:solidFill>
                <a:latin typeface="Noto Sans JP"/>
                <a:ea typeface="Noto Sans JP"/>
              </a:rPr>
              <a:t>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304536"/>
            <a:ext cx="9966960" cy="525272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6968" y="5304536"/>
            <a:ext cx="210312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1D21"/>
                </a:solidFill>
                <a:latin typeface="Noto Sans JP"/>
                <a:ea typeface="Noto Sans JP"/>
              </a:rPr>
              <a:t>住友電設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0" y="5304536"/>
            <a:ext cx="82296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8A9098"/>
                </a:solidFill>
                <a:latin typeface="Consolas"/>
                <a:ea typeface="Consolas"/>
              </a:rPr>
              <a:t>1949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87368" y="5304536"/>
            <a:ext cx="594360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C4148"/>
                </a:solidFill>
                <a:latin typeface="Noto Sans JP"/>
                <a:ea typeface="Noto Sans JP"/>
              </a:rPr>
              <a:t>国内外の大型DC案件と再エネ工事が好調、営業利益+42.5%。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30968" y="5304536"/>
            <a:ext cx="64008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900" b="1">
                <a:solidFill>
                  <a:srgbClr val="E60012"/>
                </a:solidFill>
                <a:latin typeface="Noto Sans JP"/>
                <a:ea typeface="Noto Sans JP"/>
              </a:rPr>
              <a:t>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" y="5829808"/>
            <a:ext cx="210312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1D21"/>
                </a:solidFill>
                <a:latin typeface="Noto Sans JP"/>
                <a:ea typeface="Noto Sans JP"/>
              </a:rPr>
              <a:t>日本電設工業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5829808"/>
            <a:ext cx="82296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8A9098"/>
                </a:solidFill>
                <a:latin typeface="Consolas"/>
                <a:ea typeface="Consolas"/>
              </a:rPr>
              <a:t>1950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87368" y="5829808"/>
            <a:ext cx="594360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C4148"/>
                </a:solidFill>
                <a:latin typeface="Noto Sans JP"/>
                <a:ea typeface="Noto Sans JP"/>
              </a:rPr>
              <a:t>民間DC投資拡大で一般電気工事が伸長、受注・売上とも過去最高。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30968" y="5829808"/>
            <a:ext cx="64008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900" b="1">
                <a:solidFill>
                  <a:srgbClr val="454B54"/>
                </a:solidFill>
                <a:latin typeface="Noto Sans JP"/>
                <a:ea typeface="Noto Sans JP"/>
              </a:rPr>
              <a:t>中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1627632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7240" y="2152904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77240" y="2678176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77240" y="3203447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77240" y="3728719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77240" y="4253992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77240" y="4779264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7240" y="5304536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7240" y="5829808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7240" y="6355080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475488" cy="475488"/>
          </a:xfrm>
          <a:prstGeom prst="roundRect">
            <a:avLst>
              <a:gd name="adj" fmla="val 18000"/>
            </a:avLst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onsolas"/>
                <a:ea typeface="Consolas"/>
              </a:rPr>
              <a:t>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spc="150">
                <a:solidFill>
                  <a:srgbClr val="E60012"/>
                </a:solidFill>
                <a:latin typeface="Consolas"/>
                <a:ea typeface="Consolas"/>
              </a:rPr>
              <a:t>領域04a ・ 冷却・空調 / 電源保護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676656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A1D21"/>
                </a:solidFill>
                <a:latin typeface="Noto Sans JP"/>
                <a:ea typeface="Noto Sans JP"/>
              </a:rPr>
              <a:t>冷やす・止めない — 液冷/チラー/UPS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170432"/>
            <a:ext cx="10634472" cy="18288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252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spc="100">
                <a:solidFill>
                  <a:srgbClr val="E60012"/>
                </a:solidFill>
                <a:latin typeface="Consolas"/>
                <a:ea typeface="Consolas"/>
              </a:rPr>
              <a:t>Model B ・ 請負が主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627632"/>
            <a:ext cx="2103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ダイキン工業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627632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6367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7368" y="1627632"/>
            <a:ext cx="5943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北米DC冷却の売上を約230億→3,000億円超（30年度）へ、液冷企業を相次ぎ買収。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30968" y="1627632"/>
            <a:ext cx="640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E60012"/>
                </a:solidFill>
                <a:latin typeface="Noto Sans JP"/>
                <a:ea typeface="Noto Sans JP"/>
              </a:rPr>
              <a:t>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86000"/>
            <a:ext cx="9966960" cy="6583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286000"/>
            <a:ext cx="2103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三菱重工サーマルシステムズ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286000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非上場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87368" y="2286000"/>
            <a:ext cx="5943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国内ターボ冷凍機シェア約7割、半導体/DC向け受注増で増産。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30968" y="2286000"/>
            <a:ext cx="640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454B54"/>
                </a:solidFill>
                <a:latin typeface="Noto Sans JP"/>
                <a:ea typeface="Noto Sans JP"/>
              </a:rPr>
              <a:t>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2944368"/>
            <a:ext cx="2103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荏原冷熱システム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2944368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非上場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87368" y="2944368"/>
            <a:ext cx="5943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北米DC向けターボ冷凍機・冷却塔がAI/DC拡大で好調。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30968" y="2944368"/>
            <a:ext cx="640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8A9098"/>
                </a:solidFill>
                <a:latin typeface="Noto Sans JP"/>
                <a:ea typeface="Noto Sans JP"/>
              </a:rPr>
              <a:t>低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602736"/>
            <a:ext cx="9966960" cy="6583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602736"/>
            <a:ext cx="2103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東洋熱工業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602736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非上場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87368" y="3602736"/>
            <a:ext cx="5943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DC向け高効率冷却ユニット「グリーンアイル」など独自技術で冷却需要を取り込む。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30968" y="3602736"/>
            <a:ext cx="640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454B54"/>
                </a:solidFill>
                <a:latin typeface="Noto Sans JP"/>
                <a:ea typeface="Noto Sans JP"/>
              </a:rPr>
              <a:t>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4261104"/>
            <a:ext cx="2103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ジーエス・ユアサ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4261104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6674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87368" y="4261104"/>
            <a:ext cx="5943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DC/半導体工場向け非常用電池電源（UPS蓄電池）の大型受注で増収増益。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30968" y="4261104"/>
            <a:ext cx="640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E60012"/>
                </a:solidFill>
                <a:latin typeface="Noto Sans JP"/>
                <a:ea typeface="Noto Sans JP"/>
              </a:rPr>
              <a:t>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919472"/>
            <a:ext cx="9966960" cy="6583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" y="4919472"/>
            <a:ext cx="2103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エア・ウォーター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4919472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4088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87368" y="4919472"/>
            <a:ext cx="5943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子会社Hitec中心の高出力UPSがDC/半導体向けでアジア・北米受注を拡大。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30968" y="4919472"/>
            <a:ext cx="640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E60012"/>
                </a:solidFill>
                <a:latin typeface="Noto Sans JP"/>
                <a:ea typeface="Noto Sans JP"/>
              </a:rPr>
              <a:t>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1627632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" y="2286000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2944368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240" y="3602736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" y="4261104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4919472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5577840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475488" cy="475488"/>
          </a:xfrm>
          <a:prstGeom prst="roundRect">
            <a:avLst>
              <a:gd name="adj" fmla="val 18000"/>
            </a:avLst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onsolas"/>
                <a:ea typeface="Consolas"/>
              </a:rPr>
              <a:t>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spc="150">
                <a:solidFill>
                  <a:srgbClr val="E60012"/>
                </a:solidFill>
                <a:latin typeface="Consolas"/>
                <a:ea typeface="Consolas"/>
              </a:rPr>
              <a:t>領域04b ・ 免震・防音・セキュリティ・建材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676656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A1D21"/>
                </a:solidFill>
                <a:latin typeface="Noto Sans JP"/>
                <a:ea typeface="Noto Sans JP"/>
              </a:rPr>
              <a:t>守る — データセンターの特殊設備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170432"/>
            <a:ext cx="10634472" cy="18288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252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spc="100">
                <a:solidFill>
                  <a:srgbClr val="E60012"/>
                </a:solidFill>
                <a:latin typeface="Consolas"/>
                <a:ea typeface="Consolas"/>
              </a:rPr>
              <a:t>Model B ・ 請負が主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627632"/>
            <a:ext cx="2103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オイレス工業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627632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6282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7368" y="1627632"/>
            <a:ext cx="5943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都市型DC/物流向け免震装置のスペックインを重点化、大型案件の受注に注力。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30968" y="1627632"/>
            <a:ext cx="640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454B54"/>
                </a:solidFill>
                <a:latin typeface="Noto Sans JP"/>
                <a:ea typeface="Noto Sans JP"/>
              </a:rPr>
              <a:t>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86000"/>
            <a:ext cx="9966960" cy="6583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286000"/>
            <a:ext cx="2103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日創グループ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286000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3440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87368" y="2286000"/>
            <a:ext cx="5943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子会社製のDC向け非常用発電機用の防音筐体・消音ダクトの受注が拡大。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30968" y="2286000"/>
            <a:ext cx="640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E60012"/>
                </a:solidFill>
                <a:latin typeface="Noto Sans JP"/>
                <a:ea typeface="Noto Sans JP"/>
              </a:rPr>
              <a:t>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2944368"/>
            <a:ext cx="2103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オプテックスグループ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2944368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6914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87368" y="2944368"/>
            <a:ext cx="5943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AI/DC投資拡大で、北米中心にDC等向け防犯センサーの受注・需要が拡大。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30968" y="2944368"/>
            <a:ext cx="640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E60012"/>
                </a:solidFill>
                <a:latin typeface="Noto Sans JP"/>
                <a:ea typeface="Noto Sans JP"/>
              </a:rPr>
              <a:t>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602736"/>
            <a:ext cx="9966960" cy="6583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602736"/>
            <a:ext cx="2103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ヤマックス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602736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5285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87368" y="3602736"/>
            <a:ext cx="5943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熊本の半導体集積で工場建設向けプレキャストが想定超、TSMC熊本のCR床材に採用。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30968" y="3602736"/>
            <a:ext cx="640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E60012"/>
                </a:solidFill>
                <a:latin typeface="Noto Sans JP"/>
                <a:ea typeface="Noto Sans JP"/>
              </a:rPr>
              <a:t>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1627632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2286000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2944368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3602736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261104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475488" cy="475488"/>
          </a:xfrm>
          <a:prstGeom prst="roundRect">
            <a:avLst>
              <a:gd name="adj" fmla="val 18000"/>
            </a:avLst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onsolas"/>
                <a:ea typeface="Consolas"/>
              </a:rPr>
              <a:t>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spc="150">
                <a:solidFill>
                  <a:srgbClr val="E60012"/>
                </a:solidFill>
                <a:latin typeface="Consolas"/>
                <a:ea typeface="Consolas"/>
              </a:rPr>
              <a:t>領域05 ・ 半導体（装置・材料・メモリ）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676656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A1D21"/>
                </a:solidFill>
                <a:latin typeface="Noto Sans JP"/>
                <a:ea typeface="Noto Sans JP"/>
              </a:rPr>
              <a:t>頭脳をつくる — 日本は装置・材料に世界的強み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170432"/>
            <a:ext cx="10634472" cy="18288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252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spc="100">
                <a:solidFill>
                  <a:srgbClr val="E60012"/>
                </a:solidFill>
                <a:latin typeface="Consolas"/>
                <a:ea typeface="Consolas"/>
              </a:rPr>
              <a:t>Model A / B 両取り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627632"/>
            <a:ext cx="210312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東京エレクトロン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627632"/>
            <a:ext cx="82296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8035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7368" y="1627632"/>
            <a:ext cx="594360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生成AI DC向けの微細化投資でロジック・DRAM向け装置売上が急拡大。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30968" y="1627632"/>
            <a:ext cx="64008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E60012"/>
                </a:solidFill>
                <a:latin typeface="Noto Sans JP"/>
                <a:ea typeface="Noto Sans JP"/>
              </a:rPr>
              <a:t>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18563"/>
            <a:ext cx="9966960" cy="590931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218563"/>
            <a:ext cx="210312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ディスコ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218563"/>
            <a:ext cx="82296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6146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87368" y="2218563"/>
            <a:ext cx="594360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GPU/HBM等の先端半導体需要で精密加工装置が拡大、6期連続で営業最高益。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30968" y="2218563"/>
            <a:ext cx="64008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E60012"/>
                </a:solidFill>
                <a:latin typeface="Noto Sans JP"/>
                <a:ea typeface="Noto Sans JP"/>
              </a:rPr>
              <a:t>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2809494"/>
            <a:ext cx="210312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SCREENホールディングス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2809494"/>
            <a:ext cx="82296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7735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87368" y="2809494"/>
            <a:ext cx="594360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半導体微細化・チップレット向け需要で、27/3期の増収増益を見込む。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30968" y="2809494"/>
            <a:ext cx="64008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8A9098"/>
                </a:solidFill>
                <a:latin typeface="Noto Sans JP"/>
                <a:ea typeface="Noto Sans JP"/>
              </a:rPr>
              <a:t>低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400425"/>
            <a:ext cx="9966960" cy="590931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400425"/>
            <a:ext cx="210312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SUMCO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400425"/>
            <a:ext cx="82296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3436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87368" y="3400425"/>
            <a:ext cx="594360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AIサーバ/HBM向けシリコンウエハ需要拡大で、既存工場（伊万里）の増強・高精度化に投資。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30968" y="3400425"/>
            <a:ext cx="64008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454B54"/>
                </a:solidFill>
                <a:latin typeface="Noto Sans JP"/>
                <a:ea typeface="Noto Sans JP"/>
              </a:rPr>
              <a:t>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3991356"/>
            <a:ext cx="210312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信越化学工業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3991356"/>
            <a:ext cx="82296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4063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87368" y="3991356"/>
            <a:ext cx="594360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シリコンウエハ・電子材料のAI用途比率が2割超、顧客の在庫積み増しで追加受注。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30968" y="3991356"/>
            <a:ext cx="64008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454B54"/>
                </a:solidFill>
                <a:latin typeface="Noto Sans JP"/>
                <a:ea typeface="Noto Sans JP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82287"/>
            <a:ext cx="9966960" cy="590931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" y="4582287"/>
            <a:ext cx="210312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レゾナック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4582287"/>
            <a:ext cx="82296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4004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87368" y="4582287"/>
            <a:ext cx="594360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先端パッケージング材料（TIM/NCF）のAI向け販売増で半導体材料の営業利益が過去最高。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30968" y="4582287"/>
            <a:ext cx="64008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E60012"/>
                </a:solidFill>
                <a:latin typeface="Noto Sans JP"/>
                <a:ea typeface="Noto Sans JP"/>
              </a:rPr>
              <a:t>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" y="5173218"/>
            <a:ext cx="210312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キオクシア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173218"/>
            <a:ext cx="82296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285A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87368" y="5173218"/>
            <a:ext cx="594360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AI DC向けSSD需要で26年度の生産能力は完売、設備投資を前年比+66%へ。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30968" y="5173218"/>
            <a:ext cx="64008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E60012"/>
                </a:solidFill>
                <a:latin typeface="Noto Sans JP"/>
                <a:ea typeface="Noto Sans JP"/>
              </a:rPr>
              <a:t>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764149"/>
            <a:ext cx="9966960" cy="590931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6968" y="5764149"/>
            <a:ext cx="210312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ラピダス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0" y="5764149"/>
            <a:ext cx="82296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非上場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87368" y="5764149"/>
            <a:ext cx="594360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2nmロジックの量産（27年度後半予定）へ資金を積み増し中、顧客受注確定は途上。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30968" y="5764149"/>
            <a:ext cx="64008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8A9098"/>
                </a:solidFill>
                <a:latin typeface="Noto Sans JP"/>
                <a:ea typeface="Noto Sans JP"/>
              </a:rPr>
              <a:t>低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1627632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7240" y="2218563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7240" y="2809494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" y="3400425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7240" y="3991356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7240" y="4582287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77240" y="5173218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77240" y="5764149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77240" y="6355080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475488" cy="475488"/>
          </a:xfrm>
          <a:prstGeom prst="roundRect">
            <a:avLst>
              <a:gd name="adj" fmla="val 18000"/>
            </a:avLst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onsolas"/>
                <a:ea typeface="Consolas"/>
              </a:rPr>
              <a:t>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spc="150">
                <a:solidFill>
                  <a:srgbClr val="E60012"/>
                </a:solidFill>
                <a:latin typeface="Consolas"/>
                <a:ea typeface="Consolas"/>
              </a:rPr>
              <a:t>領域06a ・ 半導体製造装置 部品・サブシステム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676656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A1D21"/>
                </a:solidFill>
                <a:latin typeface="Noto Sans JP"/>
                <a:ea typeface="Noto Sans JP"/>
              </a:rPr>
              <a:t>装置の“中身” — 流体制御・シール・搬送・計測（SMC等）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170432"/>
            <a:ext cx="10634472" cy="18288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252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spc="100">
                <a:solidFill>
                  <a:srgbClr val="E60012"/>
                </a:solidFill>
                <a:latin typeface="Consolas"/>
                <a:ea typeface="Consolas"/>
              </a:rPr>
              <a:t>Model B ・ 請負が主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627632"/>
            <a:ext cx="210312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1D21"/>
                </a:solidFill>
                <a:latin typeface="Noto Sans JP"/>
                <a:ea typeface="Noto Sans JP"/>
              </a:rPr>
              <a:t>SMC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627632"/>
            <a:ext cx="82296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8A9098"/>
                </a:solidFill>
                <a:latin typeface="Consolas"/>
                <a:ea typeface="Consolas"/>
              </a:rPr>
              <a:t>6273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7368" y="1627632"/>
            <a:ext cx="594360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C4148"/>
                </a:solidFill>
                <a:latin typeface="Noto Sans JP"/>
                <a:ea typeface="Noto Sans JP"/>
              </a:rPr>
              <a:t>空気圧制御で世界シェア約4割、半導体装置に多用。前工程投資回復で増収増益（売上8,425億円+6.4%）。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30968" y="1627632"/>
            <a:ext cx="64008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900" b="1">
                <a:solidFill>
                  <a:srgbClr val="454B54"/>
                </a:solidFill>
                <a:latin typeface="Noto Sans JP"/>
                <a:ea typeface="Noto Sans JP"/>
              </a:rPr>
              <a:t>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152904"/>
            <a:ext cx="9966960" cy="525272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152904"/>
            <a:ext cx="210312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1D21"/>
                </a:solidFill>
                <a:latin typeface="Noto Sans JP"/>
                <a:ea typeface="Noto Sans JP"/>
              </a:rPr>
              <a:t>CKD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152904"/>
            <a:ext cx="82296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8A9098"/>
                </a:solidFill>
                <a:latin typeface="Consolas"/>
                <a:ea typeface="Consolas"/>
              </a:rPr>
              <a:t>6407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87368" y="2152904"/>
            <a:ext cx="594360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C4148"/>
                </a:solidFill>
                <a:latin typeface="Noto Sans JP"/>
                <a:ea typeface="Noto Sans JP"/>
              </a:rPr>
              <a:t>空気圧・薬液用バルブ等の装置向け部品が主力。半導体関連は堅調でAI投資が追い風。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30968" y="2152904"/>
            <a:ext cx="64008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900" b="1">
                <a:solidFill>
                  <a:srgbClr val="454B54"/>
                </a:solidFill>
                <a:latin typeface="Noto Sans JP"/>
                <a:ea typeface="Noto Sans JP"/>
              </a:rPr>
              <a:t>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2678176"/>
            <a:ext cx="210312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1D21"/>
                </a:solidFill>
                <a:latin typeface="Noto Sans JP"/>
                <a:ea typeface="Noto Sans JP"/>
              </a:rPr>
              <a:t>日本ピラー工業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2678176"/>
            <a:ext cx="82296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8A9098"/>
                </a:solidFill>
                <a:latin typeface="Consolas"/>
                <a:ea typeface="Consolas"/>
              </a:rPr>
              <a:t>6490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87368" y="2678176"/>
            <a:ext cx="594360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C4148"/>
                </a:solidFill>
                <a:latin typeface="Noto Sans JP"/>
                <a:ea typeface="Noto Sans JP"/>
              </a:rPr>
              <a:t>超純水・薬液用フッ素樹脂継手/シールで高シェア。27/3期に売上700億円へ大幅拡大を計画。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30968" y="2678176"/>
            <a:ext cx="64008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900" b="1">
                <a:solidFill>
                  <a:srgbClr val="E60012"/>
                </a:solidFill>
                <a:latin typeface="Noto Sans JP"/>
                <a:ea typeface="Noto Sans JP"/>
              </a:rPr>
              <a:t>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203447"/>
            <a:ext cx="9966960" cy="525272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203447"/>
            <a:ext cx="210312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1D21"/>
                </a:solidFill>
                <a:latin typeface="Noto Sans JP"/>
                <a:ea typeface="Noto Sans JP"/>
              </a:rPr>
              <a:t>イーグル工業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203447"/>
            <a:ext cx="82296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8A9098"/>
                </a:solidFill>
                <a:latin typeface="Consolas"/>
                <a:ea typeface="Consolas"/>
              </a:rPr>
              <a:t>6486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87368" y="3203447"/>
            <a:ext cx="594360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C4148"/>
                </a:solidFill>
                <a:latin typeface="Noto Sans JP"/>
                <a:ea typeface="Noto Sans JP"/>
              </a:rPr>
              <a:t>装置向けメカニカルシールが生成AIで回復、26/3期は営業利益+58.6%で過去最高。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30968" y="3203447"/>
            <a:ext cx="64008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900" b="1">
                <a:solidFill>
                  <a:srgbClr val="E60012"/>
                </a:solidFill>
                <a:latin typeface="Noto Sans JP"/>
                <a:ea typeface="Noto Sans JP"/>
              </a:rPr>
              <a:t>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3728719"/>
            <a:ext cx="210312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1D21"/>
                </a:solidFill>
                <a:latin typeface="Noto Sans JP"/>
                <a:ea typeface="Noto Sans JP"/>
              </a:rPr>
              <a:t>堀場製作所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3728719"/>
            <a:ext cx="82296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8A9098"/>
                </a:solidFill>
                <a:latin typeface="Consolas"/>
                <a:ea typeface="Consolas"/>
              </a:rPr>
              <a:t>6856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87368" y="3728719"/>
            <a:ext cx="594360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C4148"/>
                </a:solidFill>
                <a:latin typeface="Noto Sans JP"/>
                <a:ea typeface="Noto Sans JP"/>
              </a:rPr>
              <a:t>マスフローコントローラ世界シェア約6割。AI/DC需要で通期見通しを上方修正（営業+28.2%）。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30968" y="3728719"/>
            <a:ext cx="64008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900" b="1">
                <a:solidFill>
                  <a:srgbClr val="E60012"/>
                </a:solidFill>
                <a:latin typeface="Noto Sans JP"/>
                <a:ea typeface="Noto Sans JP"/>
              </a:rPr>
              <a:t>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253992"/>
            <a:ext cx="9966960" cy="525272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" y="4253992"/>
            <a:ext cx="210312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1D21"/>
                </a:solidFill>
                <a:latin typeface="Noto Sans JP"/>
                <a:ea typeface="Noto Sans JP"/>
              </a:rPr>
              <a:t>ローツェ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4253992"/>
            <a:ext cx="82296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8A9098"/>
                </a:solidFill>
                <a:latin typeface="Consolas"/>
                <a:ea typeface="Consolas"/>
              </a:rPr>
              <a:t>6323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87368" y="4253992"/>
            <a:ext cx="594360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C4148"/>
                </a:solidFill>
                <a:latin typeface="Noto Sans JP"/>
                <a:ea typeface="Noto Sans JP"/>
              </a:rPr>
              <a:t>搬送ロボット・EFEMで世界シェア25〜35%。Applied・TSMCが主要顧客で前工程需要が追い風。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30968" y="4253992"/>
            <a:ext cx="64008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900" b="1">
                <a:solidFill>
                  <a:srgbClr val="454B54"/>
                </a:solidFill>
                <a:latin typeface="Noto Sans JP"/>
                <a:ea typeface="Noto Sans JP"/>
              </a:rPr>
              <a:t>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" y="4779264"/>
            <a:ext cx="210312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1D21"/>
                </a:solidFill>
                <a:latin typeface="Noto Sans JP"/>
                <a:ea typeface="Noto Sans JP"/>
              </a:rPr>
              <a:t>アドバンテスト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4779264"/>
            <a:ext cx="82296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8A9098"/>
                </a:solidFill>
                <a:latin typeface="Consolas"/>
                <a:ea typeface="Consolas"/>
              </a:rPr>
              <a:t>6857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87368" y="4779264"/>
            <a:ext cx="594360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C4148"/>
                </a:solidFill>
                <a:latin typeface="Noto Sans JP"/>
                <a:ea typeface="Noto Sans JP"/>
              </a:rPr>
              <a:t>GPU/HBM向けテスタ需要が急拡大、26/3期は売上+44.7%・営業利益+118.8%で過去最高。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30968" y="4779264"/>
            <a:ext cx="64008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900" b="1">
                <a:solidFill>
                  <a:srgbClr val="E60012"/>
                </a:solidFill>
                <a:latin typeface="Noto Sans JP"/>
                <a:ea typeface="Noto Sans JP"/>
              </a:rPr>
              <a:t>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304536"/>
            <a:ext cx="9966960" cy="525272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6968" y="5304536"/>
            <a:ext cx="210312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1D21"/>
                </a:solidFill>
                <a:latin typeface="Noto Sans JP"/>
                <a:ea typeface="Noto Sans JP"/>
              </a:rPr>
              <a:t>ダイフク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0" y="5304536"/>
            <a:ext cx="82296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8A9098"/>
                </a:solidFill>
                <a:latin typeface="Consolas"/>
                <a:ea typeface="Consolas"/>
              </a:rPr>
              <a:t>6383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87368" y="5304536"/>
            <a:ext cx="594360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C4148"/>
                </a:solidFill>
                <a:latin typeface="Noto Sans JP"/>
                <a:ea typeface="Noto Sans JP"/>
              </a:rPr>
              <a:t>クリーンルーム搬送(AMHS)で世界大手。先端半導体投資で受注+54.7%（Q1・過去最高）。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30968" y="5304536"/>
            <a:ext cx="64008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900" b="1">
                <a:solidFill>
                  <a:srgbClr val="E60012"/>
                </a:solidFill>
                <a:latin typeface="Noto Sans JP"/>
                <a:ea typeface="Noto Sans JP"/>
              </a:rPr>
              <a:t>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" y="5829808"/>
            <a:ext cx="210312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1D21"/>
                </a:solidFill>
                <a:latin typeface="Noto Sans JP"/>
                <a:ea typeface="Noto Sans JP"/>
              </a:rPr>
              <a:t>フェローテックHD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5829808"/>
            <a:ext cx="82296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8A9098"/>
                </a:solidFill>
                <a:latin typeface="Consolas"/>
                <a:ea typeface="Consolas"/>
              </a:rPr>
              <a:t>6890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87368" y="5829808"/>
            <a:ext cx="594360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C4148"/>
                </a:solidFill>
                <a:latin typeface="Noto Sans JP"/>
                <a:ea typeface="Noto Sans JP"/>
              </a:rPr>
              <a:t>装置向け真空シール・石英/セラミック部品が主力。生成AI・メモリ装置投資で増収増益。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30968" y="5829808"/>
            <a:ext cx="640080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900" b="1">
                <a:solidFill>
                  <a:srgbClr val="454B54"/>
                </a:solidFill>
                <a:latin typeface="Noto Sans JP"/>
                <a:ea typeface="Noto Sans JP"/>
              </a:rPr>
              <a:t>中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1627632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7240" y="2152904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77240" y="2678176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77240" y="3203447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77240" y="3728719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77240" y="4253992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77240" y="4779264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7240" y="5304536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7240" y="5829808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7240" y="6355080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475488" cy="475488"/>
          </a:xfrm>
          <a:prstGeom prst="roundRect">
            <a:avLst>
              <a:gd name="adj" fmla="val 18000"/>
            </a:avLst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onsolas"/>
                <a:ea typeface="Consolas"/>
              </a:rPr>
              <a:t>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spc="150">
                <a:solidFill>
                  <a:srgbClr val="E60012"/>
                </a:solidFill>
                <a:latin typeface="Consolas"/>
                <a:ea typeface="Consolas"/>
              </a:rPr>
              <a:t>領域06b ・ 電子部品・パッケージ基板・産業ガス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676656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A1D21"/>
                </a:solidFill>
                <a:latin typeface="Noto Sans JP"/>
                <a:ea typeface="Noto Sans JP"/>
              </a:rPr>
              <a:t>AIサーバー/半導体の下流 — 基板・MLCC・特殊ガス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170432"/>
            <a:ext cx="10634472" cy="18288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252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spc="100">
                <a:solidFill>
                  <a:srgbClr val="E60012"/>
                </a:solidFill>
                <a:latin typeface="Consolas"/>
                <a:ea typeface="Consolas"/>
              </a:rPr>
              <a:t>Model A / B 両取り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627632"/>
            <a:ext cx="210312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イビデン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627632"/>
            <a:ext cx="82296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4062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7368" y="1627632"/>
            <a:ext cx="594360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生成AIサーバー向けICパッケージ基板が堅調。3年で5,000億円投資し基板能力を2.5倍へ。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30968" y="1627632"/>
            <a:ext cx="64008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E60012"/>
                </a:solidFill>
                <a:latin typeface="Noto Sans JP"/>
                <a:ea typeface="Noto Sans JP"/>
              </a:rPr>
              <a:t>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18563"/>
            <a:ext cx="9966960" cy="590931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218563"/>
            <a:ext cx="210312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新光電気工業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218563"/>
            <a:ext cx="82296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6967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87368" y="2218563"/>
            <a:ext cx="594360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GPU向けFC-BGA基板大手。AIパッケージング需要で成長投資（JIC傘下で非上場化）。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30968" y="2218563"/>
            <a:ext cx="64008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454B54"/>
                </a:solidFill>
                <a:latin typeface="Noto Sans JP"/>
                <a:ea typeface="Noto Sans JP"/>
              </a:rPr>
              <a:t>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2809494"/>
            <a:ext cx="210312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村田製作所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2809494"/>
            <a:ext cx="82296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6981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87368" y="2809494"/>
            <a:ext cx="594360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MLCC世界首位。AIサーバー1台に約3万個必要で需要急拡大、26年4月に15〜35%値上げ。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30968" y="2809494"/>
            <a:ext cx="64008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E60012"/>
                </a:solidFill>
                <a:latin typeface="Noto Sans JP"/>
                <a:ea typeface="Noto Sans JP"/>
              </a:rPr>
              <a:t>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400425"/>
            <a:ext cx="9966960" cy="590931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400425"/>
            <a:ext cx="210312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太陽誘電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400425"/>
            <a:ext cx="82296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6976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87368" y="3400425"/>
            <a:ext cx="594360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AIサーバー向けMLCC（1台約2.8万個）が急拡大、26/3期は営業利益+91.2%・純利益5.4倍。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30968" y="3400425"/>
            <a:ext cx="64008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E60012"/>
                </a:solidFill>
                <a:latin typeface="Noto Sans JP"/>
                <a:ea typeface="Noto Sans JP"/>
              </a:rPr>
              <a:t>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3991356"/>
            <a:ext cx="210312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TDK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3991356"/>
            <a:ext cx="82296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6762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87368" y="3991356"/>
            <a:ext cx="594360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AI DC向けHDD部品・パッシブ部品が牽引し26/3期は過去最高。パッシブ部品売上を約10倍へ。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30968" y="3991356"/>
            <a:ext cx="64008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E60012"/>
                </a:solidFill>
                <a:latin typeface="Noto Sans JP"/>
                <a:ea typeface="Noto Sans JP"/>
              </a:rPr>
              <a:t>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82287"/>
            <a:ext cx="9966960" cy="590931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" y="4582287"/>
            <a:ext cx="210312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日本酸素HD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4582287"/>
            <a:ext cx="82296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4091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87368" y="4582287"/>
            <a:ext cx="594360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産業ガス国内首位・特殊ガス世界3強。AI半導体増産で特殊ガス供給が堅調、増収増益。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30968" y="4582287"/>
            <a:ext cx="64008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454B54"/>
                </a:solidFill>
                <a:latin typeface="Noto Sans JP"/>
                <a:ea typeface="Noto Sans JP"/>
              </a:rPr>
              <a:t>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" y="5173218"/>
            <a:ext cx="210312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関東電化工業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173218"/>
            <a:ext cx="82296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4047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87368" y="5173218"/>
            <a:ext cx="594360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半導体エッチング用の含フッ素特殊ガスが主力。AI半導体増産で経常利益+47.1%、27/3期も拡大。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30968" y="5173218"/>
            <a:ext cx="64008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454B54"/>
                </a:solidFill>
                <a:latin typeface="Noto Sans JP"/>
                <a:ea typeface="Noto Sans JP"/>
              </a:rPr>
              <a:t>中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764149"/>
            <a:ext cx="9966960" cy="590931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6968" y="5764149"/>
            <a:ext cx="210312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1"/>
                </a:solidFill>
                <a:latin typeface="Noto Sans JP"/>
                <a:ea typeface="Noto Sans JP"/>
              </a:rPr>
              <a:t>トリケミカル研究所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0" y="5764149"/>
            <a:ext cx="82296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8A9098"/>
                </a:solidFill>
                <a:latin typeface="Consolas"/>
                <a:ea typeface="Consolas"/>
              </a:rPr>
              <a:t>4369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87368" y="5764149"/>
            <a:ext cx="594360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C4148"/>
                </a:solidFill>
                <a:latin typeface="Noto Sans JP"/>
                <a:ea typeface="Noto Sans JP"/>
              </a:rPr>
              <a:t>High-k等の超高純度前駆体材料で高シェア。生成AI需要で売上+37.4%・営業+30.2%。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30968" y="5764149"/>
            <a:ext cx="640080" cy="590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Consolas"/>
                <a:ea typeface="Consolas"/>
              </a:rPr>
              <a:t>確度 </a:t>
            </a:r>
            <a:r>
              <a:rPr sz="1000" b="1">
                <a:solidFill>
                  <a:srgbClr val="E60012"/>
                </a:solidFill>
                <a:latin typeface="Noto Sans JP"/>
                <a:ea typeface="Noto Sans JP"/>
              </a:rPr>
              <a:t>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1627632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7240" y="2218563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7240" y="2809494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" y="3400425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7240" y="3991356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7240" y="4582287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77240" y="5173218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77240" y="5764149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77240" y="6355080"/>
            <a:ext cx="9966960" cy="9144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