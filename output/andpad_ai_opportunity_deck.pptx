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9844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71600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製造業事業部  ·  AI DEMAND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14884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AI需要の拡大が生む、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製造業の現場管理</a:t>
            </a: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オポチュニティ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1605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「</a:t>
            </a:r>
            <a:r>
              <a:rPr sz="1900" b="1">
                <a:solidFill>
                  <a:srgbClr val="454B54"/>
                </a:solidFill>
                <a:latin typeface="Noto Sans JP"/>
                <a:ea typeface="Noto Sans JP"/>
              </a:rPr>
              <a:t>発注者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」と「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請負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」——ふたつの入り方で、増える現場をつかむ。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12064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303520"/>
            <a:ext cx="10241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生成AI → データセンター建設ラッシュ → 電力・重電・冷却・半導体まで、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製造業のあらゆる領域で「設備投資」と「据付・保守の現場」が同時に急増している。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出典：AIインフラ・バリューチェーン調査（国内外128社・決算/IR一次情報）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AIインフラのバリューチェーン（価値の流れ）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電気をつくる川上から、計算する半導体の川下まで。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1051560" cy="960120"/>
          </a:xfrm>
          <a:prstGeom prst="roundRect">
            <a:avLst>
              <a:gd name="adj" fmla="val 8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の拡大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46920" y="1600200"/>
            <a:ext cx="1764792" cy="960120"/>
          </a:xfrm>
          <a:prstGeom prst="roundRect">
            <a:avLst>
              <a:gd name="adj" fmla="val 6000"/>
            </a:avLst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46920" y="1600200"/>
            <a:ext cx="176479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7CFDB"/>
                </a:solidFill>
                <a:latin typeface="Consolas"/>
                <a:ea typeface="Consolas"/>
              </a:rPr>
              <a:t>価値実現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AIサービス稼働</a:t>
            </a:r>
          </a:p>
        </p:txBody>
      </p:sp>
      <p:sp>
        <p:nvSpPr>
          <p:cNvPr id="12" name="Chevron 11"/>
          <p:cNvSpPr/>
          <p:nvPr/>
        </p:nvSpPr>
        <p:spPr>
          <a:xfrm>
            <a:off x="1828800" y="1600200"/>
            <a:ext cx="1682495" cy="96012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6459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C9CE"/>
                </a:solidFill>
                <a:latin typeface="Consolas"/>
              </a:rPr>
              <a:t>01  </a:t>
            </a:r>
            <a:r>
              <a:rPr sz="1150" b="1">
                <a:solidFill>
                  <a:srgbClr val="FFFFFF"/>
                </a:solidFill>
                <a:latin typeface="Noto Sans JP"/>
              </a:rPr>
              <a:t>発電・電源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FFE2E5"/>
                </a:solidFill>
                <a:latin typeface="Noto Sans JP"/>
              </a:rPr>
              <a:t>電気をつくる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38528" y="2788920"/>
            <a:ext cx="1389888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8256" y="2898648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8256" y="32461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48256" y="3959352"/>
            <a:ext cx="117043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069079"/>
            <a:ext cx="11704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三菱重工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IHI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ヤンマー</a:t>
            </a:r>
          </a:p>
        </p:txBody>
      </p:sp>
      <p:sp>
        <p:nvSpPr>
          <p:cNvPr id="18" name="Chevron 17"/>
          <p:cNvSpPr/>
          <p:nvPr/>
        </p:nvSpPr>
        <p:spPr>
          <a:xfrm>
            <a:off x="3328416" y="1600200"/>
            <a:ext cx="1682495" cy="96012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6459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C9CE"/>
                </a:solidFill>
                <a:latin typeface="Consolas"/>
              </a:rPr>
              <a:t>02  </a:t>
            </a:r>
            <a:r>
              <a:rPr sz="1150" b="1">
                <a:solidFill>
                  <a:srgbClr val="FFFFFF"/>
                </a:solidFill>
                <a:latin typeface="Noto Sans JP"/>
              </a:rPr>
              <a:t>送変電・電線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FFE2E5"/>
                </a:solidFill>
                <a:latin typeface="Noto Sans JP"/>
              </a:rPr>
              <a:t>電気を送る・変える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38144" y="2788920"/>
            <a:ext cx="1389888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7872" y="2898648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A＋B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32461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変圧器 生産能力2倍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2" y="3959352"/>
            <a:ext cx="117043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4069079"/>
            <a:ext cx="11704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日立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三菱電機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24" name="Chevron 23"/>
          <p:cNvSpPr/>
          <p:nvPr/>
        </p:nvSpPr>
        <p:spPr>
          <a:xfrm>
            <a:off x="4828032" y="1600200"/>
            <a:ext cx="1682495" cy="96012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6459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C9CE"/>
                </a:solidFill>
                <a:latin typeface="Consolas"/>
              </a:rPr>
              <a:t>03  </a:t>
            </a:r>
            <a:r>
              <a:rPr sz="1150" b="1">
                <a:solidFill>
                  <a:srgbClr val="FFFFFF"/>
                </a:solidFill>
                <a:latin typeface="Noto Sans JP"/>
              </a:rPr>
              <a:t>DC建設・設備工事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FFE2E5"/>
                </a:solidFill>
                <a:latin typeface="Noto Sans JP"/>
              </a:rPr>
              <a:t>箱を建てる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59" y="2788920"/>
            <a:ext cx="1389888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7488" y="2898648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7488" y="32461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空調工事 受注+25.5%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ダイダン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47488" y="3959352"/>
            <a:ext cx="117043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4069079"/>
            <a:ext cx="11704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鹿島・大林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きんでん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高砂熱学</a:t>
            </a:r>
          </a:p>
        </p:txBody>
      </p:sp>
      <p:sp>
        <p:nvSpPr>
          <p:cNvPr id="30" name="Chevron 29"/>
          <p:cNvSpPr/>
          <p:nvPr/>
        </p:nvSpPr>
        <p:spPr>
          <a:xfrm>
            <a:off x="6327648" y="1600200"/>
            <a:ext cx="1682495" cy="96012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6459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C9CE"/>
                </a:solidFill>
                <a:latin typeface="Consolas"/>
              </a:rPr>
              <a:t>04  </a:t>
            </a:r>
            <a:r>
              <a:rPr sz="1150" b="1">
                <a:solidFill>
                  <a:srgbClr val="FFFFFF"/>
                </a:solidFill>
                <a:latin typeface="Noto Sans JP"/>
              </a:rPr>
              <a:t>冷却・電源保護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FFE2E5"/>
                </a:solidFill>
                <a:latin typeface="Noto Sans JP"/>
              </a:rPr>
              <a:t>冷やす・止めない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37375" y="2788920"/>
            <a:ext cx="1389888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3" y="2898648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3" y="32461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ダイキン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47103" y="3959352"/>
            <a:ext cx="117043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47103" y="4069079"/>
            <a:ext cx="11704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ダイキン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GSユアサ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オイレス</a:t>
            </a:r>
          </a:p>
        </p:txBody>
      </p:sp>
      <p:sp>
        <p:nvSpPr>
          <p:cNvPr id="36" name="Chevron 35"/>
          <p:cNvSpPr/>
          <p:nvPr/>
        </p:nvSpPr>
        <p:spPr>
          <a:xfrm>
            <a:off x="7827264" y="1600200"/>
            <a:ext cx="1682495" cy="96012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64592" tIns="0" bIns="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C9CE"/>
                </a:solidFill>
                <a:latin typeface="Consolas"/>
              </a:rPr>
              <a:t>05  </a:t>
            </a:r>
            <a:r>
              <a:rPr sz="1150" b="1">
                <a:solidFill>
                  <a:srgbClr val="FFFFFF"/>
                </a:solidFill>
                <a:latin typeface="Noto Sans JP"/>
              </a:rPr>
              <a:t>半導体</a:t>
            </a:r>
          </a:p>
          <a:p>
            <a:pPr algn="ctr">
              <a:spcBef>
                <a:spcPts val="100"/>
              </a:spcBef>
            </a:pPr>
            <a:r>
              <a:rPr sz="850">
                <a:solidFill>
                  <a:srgbClr val="FFE2E5"/>
                </a:solidFill>
                <a:latin typeface="Noto Sans JP"/>
              </a:rPr>
              <a:t>計算する頭脳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36992" y="2788920"/>
            <a:ext cx="1389888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19" y="2898648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A＋B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19" y="3246120"/>
            <a:ext cx="1170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19" y="3959352"/>
            <a:ext cx="117043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19" y="4069079"/>
            <a:ext cx="117043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東京ｴﾚｸﾄﾛﾝ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ディスコ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信越化学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943600"/>
            <a:ext cx="10634472" cy="566928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94360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8A9098"/>
                </a:solidFill>
                <a:latin typeface="Consolas"/>
                <a:ea typeface="Consolas"/>
              </a:rPr>
              <a:t>現場管理の入り方：</a:t>
            </a:r>
            <a:r>
              <a:rPr sz="1050" b="1">
                <a:solidFill>
                  <a:srgbClr val="454B54"/>
                </a:solidFill>
                <a:latin typeface="Noto Sans JP"/>
                <a:ea typeface="Noto Sans JP"/>
              </a:rPr>
              <a:t> A 発注者＝自社の設備投資を建てる側で管理</a:t>
            </a:r>
            <a:r>
              <a:rPr sz="1050" b="0">
                <a:solidFill>
                  <a:srgbClr val="8A9098"/>
                </a:solidFill>
                <a:latin typeface="Noto Sans JP"/>
                <a:ea typeface="Noto Sans JP"/>
              </a:rPr>
              <a:t>　／　</a:t>
            </a:r>
            <a:r>
              <a:rPr sz="105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請負＝据付・試運転・保守を納める側で管理</a:t>
            </a:r>
            <a:r>
              <a:rPr sz="950" b="0">
                <a:solidFill>
                  <a:srgbClr val="8A9098"/>
                </a:solidFill>
                <a:latin typeface="Noto Sans JP"/>
                <a:ea typeface="Noto Sans JP"/>
              </a:rPr>
              <a:t>　（各段階は代表企業のみ表示）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なぜ、いま製造業に追い風なのか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AI需要の連鎖が、製造業に投資と現場をもたらす。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DC1棟で数万世帯分の電力。膨大な電源・冷却・建屋・半導体が要る。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製造業に投資と案件が波及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重電・電線・空調・UPS・半導体装置——各社が工場を増設し、機器の納入・据付案件が全国で立ち上がる。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管理すべき“現場”が急増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設備投資プロジェクトも、据付・試運転・アフター保守の現場も同時に増える。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34472" cy="1371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5兆円超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ガスタービン受注残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35858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2倍へ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変圧器の生産能力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4476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8796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北米DC冷却の売上計画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ダイキン 230→3,000億円超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53094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27414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+66%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半導体の設備投資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166360"/>
            <a:ext cx="10634472" cy="109728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35838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案件は急増、人手は増えない。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　その差を、現場管理サービスで埋める。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紙・Excel・電話では、増えた据付／試運転／保守の現場をさばききれない。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どの領域で、どんなテーマが生まれるか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ふたつの活用モデルで、バリューチェーンを攻める。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54B54"/>
                </a:solidFill>
                <a:latin typeface="Noto Sans JP"/>
                <a:ea typeface="Noto Sans JP"/>
              </a:rPr>
              <a:t>A  発注者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自社の設備投資を、建てる側として管理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工場新設・増産、生産ライン更新、自社DC・電源/冷却設備の導入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FDECEE"/>
          </a:solidFill>
          <a:ln w="1524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B  請負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据付・試運転・保守を、納める側として管理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発電機・変圧器・空調・液冷・UPS・半導体装置のフィールド現場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06040"/>
            <a:ext cx="10634472" cy="5669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060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60604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Model A ・ 発注者テーマ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60604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Model B ・ 請負テーマ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1729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01 発電・電源設備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3172968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メーカーの工場新増設を管理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2944" y="3172968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非常用電源の設置・試運転・保守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39896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98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受変電・送配電・電線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3739896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変圧器工場の増産・変電所建設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3739896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機器の据付・更新工事・保守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3068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03 DC建設・設備工事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5304" y="4306824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自社拠点を建てる事業者の管理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52944" y="4306824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機器を納める製造業への横展開接点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73752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" y="48737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873752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空調メーカーの増産投資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873752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液冷・UPS・免震の据付〜アフター（最有力）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" y="54406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5304" y="544068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巨大ファブ・クリーンルーム新設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2944" y="544068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製造装置の据付・立ち上げ・保守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260604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17296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3739896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306824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873752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44068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600760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2900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1356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60012"/>
                </a:solidFill>
                <a:latin typeface="Consolas"/>
                <a:ea typeface="Consolas"/>
              </a:rPr>
              <a:t>代表的な国内プレーヤー：</a:t>
            </a: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 三菱重工 / 日立 / 三菱電機 / ダイヘン / フジクラ / きんでん・高砂熱学 / ダイキン・GSユアサ / 東京エレクトロン・ディスコ・キオクシア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どこから攻めるか — 狙い目と次の一歩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据付・保守は「請負」で、工場増設は「発注者」で。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5486400" cy="521207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A 発注者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075688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01 発電・電源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596896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2596896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4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03 DC建設・設備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39311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3639311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16052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155448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207568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2596896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118104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639311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416052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8172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79145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A9098"/>
                </a:solidFill>
                <a:latin typeface="Consolas"/>
                <a:ea typeface="Consolas"/>
              </a:rPr>
              <a:t>◎ = 相性が特に高い / ○ = 有望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1554480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20840" y="1554480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59" y="1700784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最有力の入口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 × フィールド」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冷却・UPS・半導体装置など、設置→試運転→保守が命の機器メーカー。Model Bの本命。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20840" y="2770632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20840" y="2770632"/>
            <a:ext cx="91440" cy="1051560"/>
          </a:xfrm>
          <a:prstGeom prst="rect">
            <a:avLst/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95159" y="2916936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454B54"/>
                </a:solidFill>
                <a:latin typeface="Consolas"/>
                <a:ea typeface="Consolas"/>
              </a:rPr>
              <a:t>大型の伸びしろ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工場増設ラッシュは「発注者」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変圧器・半導体の増産投資は桁違い。建てる側のプロジェクト管理としてModel Aで。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20840" y="3986783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0840" y="3986783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159" y="4133087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横展開の型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建設接点から機器メーカーへ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DC建設の設備工事はANDPADの中核。そこに機器を納める製造業へ請負活用を広げる。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6126480"/>
            <a:ext cx="10634472" cy="566928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6126480"/>
            <a:ext cx="10149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次の一歩：</a:t>
            </a:r>
            <a:r>
              <a:rPr sz="1250" b="0">
                <a:solidFill>
                  <a:srgbClr val="1A1D21"/>
                </a:solidFill>
                <a:latin typeface="Noto Sans JP"/>
                <a:ea typeface="Noto Sans JP"/>
              </a:rPr>
              <a:t> 領域04（冷却・UPS）と領域05（半導体装置）の機器メーカーを起点に、「据付・試運転・アフター現場」の課題ヒアリングから着手する。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7432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300">
                <a:solidFill>
                  <a:srgbClr val="E60012"/>
                </a:solidFill>
                <a:latin typeface="Consolas"/>
                <a:ea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参考：企業別 AI需要の影響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2628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C7D0DC"/>
                </a:solidFill>
                <a:latin typeface="Noto Sans JP"/>
                <a:ea typeface="Noto Sans JP"/>
              </a:rPr>
              <a:t>バリューチェーンの領域ごとに、国内主要企業がAI需要をどう受けるかを整理。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6B6"/>
                </a:solidFill>
                <a:latin typeface="Consolas"/>
                <a:ea typeface="Consolas"/>
              </a:rPr>
              <a:t>数値は各社の決算・IR等の直近開示にもとづく（対象期間・単位は出典元を要確認）。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領域01 ・ 発電・電源設備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 — 重工・エンジン・発電機メーカー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北米中心にガスタービン受注が急拡大。大型ガスタービンの生産能力を2倍へ増強。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川崎重工業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ガスタービン・ガスエンジンが増収増益。非常用「PUシリーズ」8,000台超の納入実績。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子会社IHI原動機がDC向け非常用発電装置の引き合い増で、発電機を高出力化。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非常用発電機の国内需要が堅調、米国向け輸出も好調で増収増益。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ヤンマーHD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DC向け大容量非常用発電機「GY175」を商品化、北九州に専用新工場（28年稼働）。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領域02a ・ 受変電・重電・送配電機器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電気を変える・送る — 変圧器/GISメーカー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日立製作所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DC・半導体工場向け変圧器/送配電の受注が世界的に急拡大、米国に変圧器新工場。3年ぶり最高益。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特別高圧変圧器（赤穂）の生産予約が数年先まで。DC/防衛で5年連続最高益。C-GISも増産。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東芝エネルギーシステムズ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送変電機器の増産投資を拡大（GIS等に約550億円、30年度に生産能力2倍超）。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富士電機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DC・半導体向け特高変圧器とUPS・施設電源が伸長し5年連続最高益。生産体制を再編・増強。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明電舎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系統増強を見据え沼津の変圧器工場に160億円投資、生産能力を約1.5倍に拡大。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大形変圧器の需要急増で三重に新工場、生産能力を29年度までに2倍へ。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日新電機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レベニューキャップ・半導体工場向けでGIS需要が急増、国内にGIS第二工場を新設。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領域02b ・ 電線・ケーブル / 電力会社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電気を送る — 光/電力ケーブルと送配電投資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古河電気工業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DC/AI向け高付加価値光ファイバの供給体制を強化、DC事業の営業利益を5年で8.5倍計画。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住友電気工業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DC向け光デバイス/配線/コネクタ需要増で〜28年度に約1,000億円投資（光コネクタ7倍）。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北米AI DC向け光ケーブル需要が爆発、情通事業が全社営業利益の8割超。最大3,000億円増産。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SWCC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米AI DC向け超多心光ケーブル「e-Ribbon」需要が拡大、通信・部品事業を牽引。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東京電力HD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千葉印西等のDC集積で電力需要急増、送電網増強へ〜27年度に4,700億円投資。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関西電力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DC新増設で電力需要急増、送配電子会社が変電所・送電線に1,500億円超を追加投資。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中部電力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DC・半導体の需要増を見据え、連系線・系統増強など次世代電力網に重点投資。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九州電力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TSMC進出等でDC/半導体需要増、送配電5カ年投資を約6,500億円（+1割）に。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領域03a ・ データセンター建設ゼネコン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元請けゼネコン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454B54"/>
                </a:solidFill>
                <a:latin typeface="Consolas"/>
                <a:ea typeface="Consolas"/>
              </a:rPr>
              <a:t>Model A ・ 発注者が主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DC等大型工事の施工量増で建築が急拡大、建設業初の単体売上高3兆円を突破。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大成建設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中期経営計画でDCを注力分野に明記、運営ノウハウを商品企画へ反映。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清水建設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DCを建築の主要需要分野に位置づけ、適正工期・価格で選別受注を強化。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米DC/半導体工場専門の建設会社GCONを買収、北米DC受注拡大を狙う。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竹中工務店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業界初のDC特化型設計支援ツールを自社開発、提案スピードを強化。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戸田建設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関西けいはんなの大型DCキャンパス「KIX01A」（総電力80MW）を受注。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西松建設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中計でDCを注力分野に明記、国内建築の高収益体質への転換を推進。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領域03b ・ 電気・空調 設備工事（サブコン）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設備工事の専門会社（営業本命）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DC/物流向け一般電気工事が急拡大、一般電気工事の受注高が+21.0%（3,194億円）。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52904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15290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関電工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15290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15290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DC・半導体工場向け電気設備工事とビル再開発で、26/3期は連続最高益の見通し。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15290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7817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クラフティア(旧九電工)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7817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67817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DC関連工事中心に受注を強化、中間期受注高が+20.8%（2,752億円）。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67817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03447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03447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ダイダン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03447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203447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DC新設で大型空調工事が急増、受注工事高が+25.5%（3,531億円）。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203447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28719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高砂熱学工業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28719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728719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半導体/AI DC向け高難度空調を独占的に受注、4期連続最高益（営業+47.3%）。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728719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53992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25399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新日本空調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25399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25399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半導体CR・DC向け「産業」が完成工事高の57%超、受注・繰越とも過去最高。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25399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77926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三機工業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77926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477926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DC向け大容量空調「L-LAC」で大型受注が継続、営業利益が過去最高。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477926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304536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30453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住友電設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30453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30453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国内外の大型DC案件と再エネ工事が好調、営業利益+42.5%。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30453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5829808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日本電設工業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829808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87368" y="5829808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民間DC投資拡大で一般電気工事が伸長、受注・売上とも過去最高。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30968" y="5829808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21529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267817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320344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372871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7240" y="425399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7926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045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58298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領域04a ・ 冷却・空調 / 電源保護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 — 液冷/チラー/UPS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ダイキン工業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6367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北米DC冷却の売上を約230億→3,000億円超（30年度）へ、液冷企業を相次ぎ買収。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三菱重工サーマルシステムズ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国内ターボ冷凍機シェア約7割、半導体/DC向け受注増で増産。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荏原冷熱システム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北米DC向けターボ冷凍機・冷却塔がAI/DC拡大で好調。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東洋熱工業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DC向け高効率冷却ユニット「グリーンアイル」など独自技術で冷却需要を取り込む。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ジーエス・ユアサ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DC/半導体工場向け非常用電池電源（UPS蓄電池）の大型受注で増収増益。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エア・ウォーター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子会社Hitec中心の高出力UPSがDC/半導体向けでアジア・北米受注を拡大。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領域04b ・ 免震・防音・セキュリティ・建材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守る — データセンターの特殊設備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オイレス工業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6282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都市型DC/物流向け免震装置のスペックインを重点化、大型案件の受注に注力。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日創グループ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子会社製のDC向け非常用発電機用の防音筐体・消音ダクトの受注が拡大。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オプテックスグループ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AI/DC投資拡大で、北米中心にDC等向け防犯センサーの受注・需要が拡大。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ヤマックス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熊本の半導体集積で工場建設向けプレキャストが想定超、TSMC熊本のCR床材に採用。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領域05 ・ 半導体（装置・材料・メモリ）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頭脳をつくる — 日本は装置・材料に世界的強み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8035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生成AI DC向けの微細化投資でロジック・DRAM向け装置売上が急拡大。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6146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GPU/HBM等の先端半導体需要で精密加工装置が拡大、6期連続で営業最高益。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SCREENホールディングス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7735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半導体微細化・チップレット向け需要で、27/3期の増収増益を見込む。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SUMCO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AIサーバ/HBM向けシリコンウエハ需要拡大で、既存工場（伊万里）の増強・高精度化に投資。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信越化学工業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シリコンウエハ・電子材料のAI用途比率が2割超、顧客の在庫積み増しで追加受注。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レゾナック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先端パッケージング材料（TIM/NCF）のAI向け販売増で半導体材料の営業利益が過去最高。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285A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DC向けSSD需要で26年度の生産能力は完売、設備投資を前年比+66%へ。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ラピダス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2nmロジックの量産（27年度後半予定）へ資金を積み増し中、顧客受注確定は途上。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