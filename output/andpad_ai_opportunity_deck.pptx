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9844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716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1605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454B54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12064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30352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AIインフラのバリューチェーン（価値の流れ）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電気をつくる川上から、計算する半導体の川下まで。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932688" cy="822960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93268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JP"/>
                <a:ea typeface="Noto Sans JP"/>
              </a:rPr>
              <a:t>の拡大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47504" y="1325880"/>
            <a:ext cx="1664208" cy="3703320"/>
          </a:xfrm>
          <a:prstGeom prst="roundRect">
            <a:avLst>
              <a:gd name="adj" fmla="val 5000"/>
            </a:avLst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1453895"/>
            <a:ext cx="14081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spc="100">
                <a:solidFill>
                  <a:srgbClr val="C7CFDB"/>
                </a:solidFill>
                <a:latin typeface="Consolas"/>
                <a:ea typeface="Consolas"/>
              </a:rPr>
              <a:t>最終工程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DC構築・IT基盤SI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>
                <a:solidFill>
                  <a:srgbClr val="C7CFDB"/>
                </a:solidFill>
                <a:latin typeface="Noto Sans JP"/>
                <a:ea typeface="Noto Sans JP"/>
              </a:rPr>
              <a:t>／DC運営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286000"/>
            <a:ext cx="14081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9AA6B6"/>
                </a:solidFill>
                <a:latin typeface="Noto Sans JP"/>
                <a:ea typeface="Noto Sans JP"/>
              </a:rPr>
              <a:t>箱の中身を構築し“稼働”へ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532888"/>
            <a:ext cx="140817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9AA6B6"/>
                </a:solidFill>
                <a:latin typeface="Consolas"/>
                <a:ea typeface="Consolas"/>
              </a:rPr>
              <a:t>代表企業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AEEF4"/>
                </a:solidFill>
                <a:latin typeface="Noto Sans JP"/>
                <a:ea typeface="Noto Sans JP"/>
              </a:rPr>
              <a:t>さくら・IIJ・NTTデータ・CTC・兼松エレ・NECネッツ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3931920"/>
            <a:ext cx="1408176" cy="10972"/>
          </a:xfrm>
          <a:prstGeom prst="rect">
            <a:avLst/>
          </a:prstGeom>
          <a:solidFill>
            <a:srgbClr val="334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0" y="4023360"/>
            <a:ext cx="140817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C7CFDB"/>
                </a:solidFill>
                <a:latin typeface="Consolas"/>
                <a:ea typeface="Consolas"/>
              </a:rPr>
              <a:t>A 発注者（運営）＋ B 請負（構築）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4389120"/>
            <a:ext cx="14081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Noto Sans JP"/>
                <a:ea typeface="Noto Sans JP"/>
              </a:rPr>
              <a:t>→ AIサービス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JP"/>
                <a:ea typeface="Noto Sans JP"/>
              </a:rPr>
              <a:t>稼働</a:t>
            </a:r>
          </a:p>
        </p:txBody>
      </p:sp>
      <p:sp>
        <p:nvSpPr>
          <p:cNvPr id="17" name="Chevron 16"/>
          <p:cNvSpPr/>
          <p:nvPr/>
        </p:nvSpPr>
        <p:spPr>
          <a:xfrm>
            <a:off x="1828800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224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92807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79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79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79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電力が全ての起点。発電機・非常用電源が急増。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79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79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79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79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三菱重工・IHI・ヤンマー・デンヨー</a:t>
            </a:r>
          </a:p>
        </p:txBody>
      </p:sp>
      <p:sp>
        <p:nvSpPr>
          <p:cNvPr id="27" name="Chevron 26"/>
          <p:cNvSpPr/>
          <p:nvPr/>
        </p:nvSpPr>
        <p:spPr>
          <a:xfrm>
            <a:off x="3401568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64992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65576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84448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変圧器でDC向けに変換。品薄で受注は数年先。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4448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84448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日立・三菱電機・ダイヘン・フジクラ</a:t>
            </a:r>
          </a:p>
        </p:txBody>
      </p:sp>
      <p:sp>
        <p:nvSpPr>
          <p:cNvPr id="37" name="Chevron 36"/>
          <p:cNvSpPr/>
          <p:nvPr/>
        </p:nvSpPr>
        <p:spPr>
          <a:xfrm>
            <a:off x="4974336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937760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8344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57216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57216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巨大な建屋を建設。設備工事が営業の本命。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57216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57216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ダイダン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57216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鹿島・大林・きんでん・高砂熱学</a:t>
            </a:r>
          </a:p>
        </p:txBody>
      </p:sp>
      <p:sp>
        <p:nvSpPr>
          <p:cNvPr id="47" name="Chevron 46"/>
          <p:cNvSpPr/>
          <p:nvPr/>
        </p:nvSpPr>
        <p:spPr>
          <a:xfrm>
            <a:off x="6547104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510528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11112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29983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9983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9983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液冷で冷やしUPSで止めない。据付・保守の宝庫。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9983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29983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ダイキン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9983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9983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ダイキン・GSユアサ・オイレス</a:t>
            </a:r>
          </a:p>
        </p:txBody>
      </p:sp>
      <p:sp>
        <p:nvSpPr>
          <p:cNvPr id="57" name="Chevron 56"/>
          <p:cNvSpPr/>
          <p:nvPr/>
        </p:nvSpPr>
        <p:spPr>
          <a:xfrm>
            <a:off x="8119872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083296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83880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02752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02752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チップは海外勢。装置・材料で日本が強い。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02752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02752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02752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東京ｴﾚｸﾄﾛﾝ・ディスコ・信越化学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77240" y="5175504"/>
            <a:ext cx="10634472" cy="969264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77240" y="5175504"/>
            <a:ext cx="1737360" cy="969264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8680" y="5175504"/>
            <a:ext cx="1572768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1" spc="150">
                <a:solidFill>
                  <a:srgbClr val="FFC9CE"/>
                </a:solidFill>
                <a:latin typeface="Consolas"/>
                <a:ea typeface="Consolas"/>
              </a:rPr>
              <a:t>SUPPORT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部品・材料・ガス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FFE2E5"/>
                </a:solidFill>
                <a:latin typeface="Noto Sans JP"/>
                <a:ea typeface="Noto Sans JP"/>
              </a:rPr>
              <a:t>全段階を下から支える層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3405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装置部品・サブシステム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SMC・堀場製作所・アドバンテスト・日本ピラー・ダイフク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41264" y="5321808"/>
            <a:ext cx="10972" cy="676656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1441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電子部品・パッケージ基板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村田製作所・太陽誘電・TDK・イビデン・新光電気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21624" y="5321808"/>
            <a:ext cx="10972" cy="676656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477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産業/特殊ガス・前駆体材料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日本酸素HD・関東電化工業・トリケミカル研究所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7240" y="6272784"/>
            <a:ext cx="10634472" cy="402336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5840" y="6272784"/>
            <a:ext cx="1024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現場管理の入り方：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 A 発注者＝自社の設備投資を建てる側で管理</a:t>
            </a:r>
            <a:r>
              <a:rPr sz="9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請負＝据付・試運転・保守を納める側で管理</a:t>
            </a:r>
            <a:r>
              <a:rPr sz="850" b="0">
                <a:solidFill>
                  <a:srgbClr val="8A9098"/>
                </a:solidFill>
                <a:latin typeface="Noto Sans JP"/>
                <a:ea typeface="Noto Sans JP"/>
              </a:rPr>
              <a:t>　※各段階は代表企業のみ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なぜ、いま製造業に追い風なのか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35858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4476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3094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7414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166360"/>
            <a:ext cx="10634472" cy="109728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　その差を、現場管理サービスで埋める。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紙・Excel・電話では、増えた据付／試運転／保守の現場をさばききれない。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どの領域で、どんなテーマが生まれるか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54B54"/>
                </a:solidFill>
                <a:latin typeface="Noto Sans JP"/>
                <a:ea typeface="Noto Sans JP"/>
              </a:rPr>
              <a:t>A  発注者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自社の設備投資を、建てる側として管理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B  請負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据付・試運転・保守を、納める側として管理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06040"/>
            <a:ext cx="10634472" cy="5669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060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060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6060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1729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17296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17296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39896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98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73989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373989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3068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4306824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4" y="4306824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2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737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87375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87375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4406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544068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544068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0604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17296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3739896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306824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873752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00760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2900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1356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60012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どこから攻めるか — 狙い目と次の一歩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5486400" cy="521207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075688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96896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596896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4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39311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3639311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16052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55448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07568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596896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18104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39311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16052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8172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7914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A9098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155448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1554480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170078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2770632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2770632"/>
            <a:ext cx="91440" cy="10515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2916936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454B54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20840" y="3986783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0840" y="3986783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4133087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612648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2648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A1D21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43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参考：企業別 AI需要の影響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7D0DC"/>
                </a:solidFill>
                <a:latin typeface="Noto Sans JP"/>
                <a:ea typeface="Noto Sans JP"/>
              </a:rPr>
              <a:t>バリューチェーンの領域ごとに、国内主要企業がAI需要をどう受けるかを整理。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6B6"/>
                </a:solidFill>
                <a:latin typeface="Consolas"/>
                <a:ea typeface="Consolas"/>
              </a:rPr>
              <a:t>数値は各社の決算・IR等の直近開示にもとづく（対象期間・単位は出典元を要確認）。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領域01 ・ 発電・電源設備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 — 重工・エンジン・発電機メーカー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北米中心にガスタービン受注が急拡大。大型ガスタービンの生産能力を2倍へ増強。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ガスタービン・ガスエンジンが増収増益。非常用「PUシリーズ」8,000台超の納入実績。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子会社IHI原動機がDC向け非常用発電装置の引き合い増で、発電機を高出力化。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非常用発電機の国内需要が堅調、米国向け輸出も好調で増収増益。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ヤンマーHD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DC向け大容量非常用発電機「GY175」を商品化、北九州に専用新工場（28年稼働）。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領域02a ・ 受変電・重電・送配電機器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電気を変える・送る — 変圧器/GISメーカー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DC・半導体工場向け変圧器/送配電の受注が世界的に急拡大、米国に変圧器新工場。3年ぶり最高益。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特別高圧変圧器（赤穂）の生産予約が数年先まで。DC/防衛で5年連続最高益。C-GISも増産。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送変電機器の増産投資を拡大（GIS等に約550億円、30年度に生産能力2倍超）。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DC・半導体向け特高変圧器とUPS・施設電源が伸長し5年連続最高益。生産体制を再編・増強。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系統増強を見据え沼津の変圧器工場に160億円投資、生産能力を約1.5倍に拡大。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大形変圧器の需要急増で三重に新工場、生産能力を29年度までに2倍へ。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レベニューキャップ・半導体工場向けでGIS需要が急増、国内にGIS第二工場を新設。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領域02b ・ 電線・ケーブル / 電力会社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電気を送る — 光/電力ケーブルと送配電投資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DC/AI向け高付加価値光ファイバの供給体制を強化、DC事業の営業利益を5年で8.5倍計画。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DC向け光デバイス/配線/コネクタ需要増で〜28年度に約1,000億円投資（光コネクタ7倍）。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北米AI DC向け光ケーブル需要が爆発、情通事業が全社営業利益の8割超。最大3,000億円増産。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SWCC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米AI DC向け超多心光ケーブル「e-Ribbon」需要が拡大、通信・部品事業を牽引。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東京電力HD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千葉印西等のDC集積で電力需要急増、送電網増強へ〜27年度に4,700億円投資。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DC新増設で電力需要急増、送配電子会社が変電所・送電線に1,500億円超を追加投資。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DC・半導体の需要増を見据え、連系線・系統増強など次世代電力網に重点投資。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TSMC進出等でDC/半導体需要増、送配電5カ年投資を約6,500億円（+1割）に。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領域03a ・ データセンター建設ゼネコン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元請けゼネコン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454B54"/>
                </a:solidFill>
                <a:latin typeface="Consolas"/>
                <a:ea typeface="Consolas"/>
              </a:rPr>
              <a:t>Model A ・ 発注者が主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DC等大型工事の施工量増で建築が急拡大、建設業初の単体売上高3兆円を突破。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中期経営計画でDCを注力分野に明記、運営ノウハウを商品企画へ反映。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DCを建築の主要需要分野に位置づけ、適正工期・価格で選別受注を強化。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米DC/半導体工場専門の建設会社GCONを買収、北米DC受注拡大を狙う。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業界初のDC特化型設計支援ツールを自社開発、提案スピードを強化。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関西けいはんなの大型DCキャンパス「KIX01A」（総電力80MW）を受注。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中計でDCを注力分野に明記、国内建築の高収益体質への転換を推進。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領域03b ・ 電気・空調 設備工事（サブコン）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設備工事の専門会社（営業本命）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DC/物流向け一般電気工事が急拡大、一般電気工事の受注高が+21.0%（3,194億円）。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DC・半導体工場向け電気設備工事とビル再開発で、26/3期は連続最高益の見通し。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クラフティア(旧九電工)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DC関連工事中心に受注を強化、中間期受注高が+20.8%（2,752億円）。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DC新設で大型空調工事が急増、受注工事高が+25.5%（3,531億円）。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半導体/AI DC向け高難度空調を独占的に受注、4期連続最高益（営業+47.3%）。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半導体CR・DC向け「産業」が完成工事高の57%超、受注・繰越とも過去最高。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DC向け大容量空調「L-LAC」で大型受注が継続、営業利益が過去最高。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国内外の大型DC案件と再エネ工事が好調、営業利益+42.5%。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民間DC投資拡大で一般電気工事が伸長、受注・売上とも過去最高。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領域04a ・ 冷却・空調 / 電源保護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 — 液冷/チラー/UPS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北米DC冷却の売上を約230億→3,000億円超（30年度）へ、液冷企業を相次ぎ買収。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国内ターボ冷凍機シェア約7割、半導体/DC向け受注増で増産。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北米DC向けターボ冷凍機・冷却塔がAI/DC拡大で好調。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DC向け高効率冷却ユニット「グリーンアイル」など独自技術で冷却需要を取り込む。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ジーエス・ユアサ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DC/半導体工場向け非常用電池電源（UPS蓄電池）の大型受注で増収増益。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子会社Hitec中心の高出力UPSがDC/半導体向けでアジア・北米受注を拡大。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領域04b ・ 免震・防音・セキュリティ・建材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守る — データセンターの特殊設備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オイレス工業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都市型DC/物流向け免震装置のスペックインを重点化、大型案件の受注に注力。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日創グループ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子会社製のDC向け非常用発電機用の防音筐体・消音ダクトの受注が拡大。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オプテックスグループ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AI/DC投資拡大で、北米中心にDC等向け防犯センサーの受注・需要が拡大。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熊本の半導体集積で工場建設向けプレキャストが想定超、TSMC熊本のCR床材に採用。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領域05 ・ 半導体（装置・材料・メモリ）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頭脳をつくる — 日本は装置・材料に世界的強み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 DC向けの微細化投資でロジック・DRAM向け装置売上が急拡大。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GPU/HBM等の先端半導体需要で精密加工装置が拡大、6期連続で営業最高益。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半導体微細化・チップレット向け需要で、27/3期の増収増益を見込む。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AIサーバ/HBM向けシリコンウエハ需要拡大で、既存工場（伊万里）の増強・高精度化に投資。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シリコンウエハ・電子材料のAI用途比率が2割超、顧客の在庫積み増しで追加受注。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先端パッケージング材料（TIM/NCF）のAI向け販売増で半導体材料の営業利益が過去最高。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DC向けSSD需要で26年度の生産能力は完売、設備投資を前年比+66%へ。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ラピダス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2nmロジックの量産（27年度後半予定）へ資金を積み増し中、顧客受注確定は途上。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領域06a ・ 半導体製造装置 部品・サブシステム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装置の“中身” — 流体制御・シール・搬送・計測（SMC等）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SMC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空気圧制御で世界シェア約4割、半導体装置に多用。前工程投資回復で増収増益（売上8,425億円+6.4%）。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CKD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空気圧・薬液用バルブ等の装置向け部品が主力。半導体関連は堅調でAI投資が追い風。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日本ピラー工業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超純水・薬液用フッ素樹脂継手/シールで高シェア。27/3期に売上700億円へ大幅拡大を計画。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イーグル工業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装置向けメカニカルシールが生成AIで回復、26/3期は営業利益+58.6%で過去最高。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堀場製作所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マスフローコントローラ世界シェア約6割。AI/DC需要で通期見通しを上方修正（営業+28.2%）。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ローツェ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6323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搬送ロボット・EFEMで世界シェア25〜35%。Applied・TSMCが主要顧客で前工程需要が追い風。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アドバンテスト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GPU/HBM向けテスタ需要が急拡大、26/3期は売上+44.7%・営業利益+118.8%で過去最高。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ダイフク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6383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クリーンルーム搬送(AMHS)で世界大手。先端半導体投資で受注+54.7%（Q1・過去最高）。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フェローテックHD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装置向け真空シール・石英/セラミック部品が主力。生成AI・メモリ装置投資で増収増益。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領域06b ・ 電子部品・パッケージ基板・産業ガス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AIサーバー/半導体の下流 — 基板・MLCC・特殊ガス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イビデン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生成AIサーバー向けICパッケージ基板が堅調。3年で5,000億円投資し基板能力を2.5倍へ。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新光電気工業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GPU向けFC-BGA基板大手。AIパッケージング需要で成長投資（JIC傘下で非上場化）。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村田製作所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MLCC世界首位。AIサーバー1台に約3万個必要で需要急拡大、26年4月に15〜35%値上げ。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太陽誘電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AIサーバー向けMLCC（1台約2.8万個）が急拡大、26/3期は営業利益+91.2%・純利益5.4倍。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TDK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6762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DC向けHDD部品・パッシブ部品が牽引し26/3期は過去最高。パッシブ部品売上を約10倍へ。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日本酸素HD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産業ガス国内首位・特殊ガス世界3強。AI半導体増産で特殊ガス供給が堅調、増収増益。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関東電化工業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半導体エッチング用の含フッ素特殊ガスが主力。AI半導体増産で経常利益+47.1%、27/3期も拡大。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トリケミカル研究所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4369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High-k等の超高純度前駆体材料で高シェア。生成AI需要で売上+37.4%・営業+30.2%。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領域07 ・ DC構築・ITインフラSI／DC運営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箱の中身を構築し“稼働”へ — 建屋完成〜サービス稼働の橋渡し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さくらインターネット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3778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生成AI向けGPU基盤拡大で石狩DCを拡張・液冷導入、NVIDIA Blackwell搭載。設備投資668億円（発注者）。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インターネットイニシアティブ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3774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白井DCキャンパス3期棟（約1,000ラック・約300億円）を増設、水冷Readyで26年度運用開始（発注者）。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NTTデータグループ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9613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DCをAI中核インフラと位置づけ2030年度に3GW超へ。外部ファンドと共同出資で投資を上積み（発注者）。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伊藤忠テクノソリューションズ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4739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クラウド・GPU基盤サービスが牽引し26/3期は売上7,937億円+9%・営業+19%（発注者＋構築請負）。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兼松エレクトロニクス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NW機器・生成AI機器とDCインフラ構築需要で3期ぶり増収増益（売上1,073億+9.7%・営業+37.2%／請負）。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アイネット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横浜の新DC「inet annex」を26年1月開所、DC・クラウド事業で増収増益を継続（発注者）。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NECネッツエスアイ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企業のAIインフラ（NW・セキュリティ・計算基盤）の設計・構築をCisco連携で提供（構築請負）。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NTTファシリティーズ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高発熱GPUサーバー対応のDC冷却（液冷・チラーレス）の設計・施工力を強化（構築請負）。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