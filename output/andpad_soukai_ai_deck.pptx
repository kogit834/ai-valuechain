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63040"/>
            <a:ext cx="137160" cy="13716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" y="1389888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spc="200">
                <a:solidFill>
                  <a:srgbClr val="E60012"/>
                </a:solidFill>
                <a:latin typeface="Consolas"/>
                <a:ea typeface="Consolas"/>
              </a:rPr>
              <a:t>ANDPAD 本部総会   ·   WHY MANUFACTURING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2240280"/>
            <a:ext cx="107899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15181C"/>
                </a:solidFill>
                <a:latin typeface="Noto Sans JP"/>
                <a:ea typeface="Noto Sans JP"/>
              </a:rPr>
              <a:t>建設SaaSの我々が、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15181C"/>
                </a:solidFill>
                <a:latin typeface="Noto Sans JP"/>
                <a:ea typeface="Noto Sans JP"/>
              </a:rPr>
              <a:t>なぜ、いま</a:t>
            </a:r>
            <a:r>
              <a:rPr sz="4600" b="1">
                <a:solidFill>
                  <a:srgbClr val="E60012"/>
                </a:solidFill>
                <a:latin typeface="Noto Sans JP"/>
                <a:ea typeface="Noto Sans JP"/>
              </a:rPr>
              <a:t>製造業</a:t>
            </a:r>
            <a:r>
              <a:rPr sz="4600" b="1">
                <a:solidFill>
                  <a:srgbClr val="15181C"/>
                </a:solidFill>
                <a:latin typeface="Noto Sans JP"/>
                <a:ea typeface="Noto Sans JP"/>
              </a:rPr>
              <a:t>なのか。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434840"/>
            <a:ext cx="2926080" cy="4572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470916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373C43"/>
                </a:solidFill>
                <a:latin typeface="Noto Sans JP"/>
                <a:ea typeface="Noto Sans JP"/>
              </a:rPr>
              <a:t>AIをはじめ世界のメガトレンドは、膨大な“設備”を必要とする。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373C43"/>
                </a:solidFill>
                <a:latin typeface="Noto Sans JP"/>
                <a:ea typeface="Noto Sans JP"/>
              </a:rPr>
              <a:t>それを作り・建てるのは、建設業だけでなく製造業がコア——その市場が、いま圧倒的に広がっている。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355080"/>
            <a:ext cx="10543032" cy="1270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6455664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1A9"/>
                </a:solidFill>
                <a:latin typeface="Consolas"/>
                <a:ea typeface="Consolas"/>
              </a:rPr>
              <a:t>2026-07   /   AIインフラ・バリューチェーン調査（国内外154社・決算/IR一次情報）＋公開データ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66928"/>
            <a:ext cx="128016" cy="12801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50292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spc="150">
                <a:solidFill>
                  <a:srgbClr val="E60012"/>
                </a:solidFill>
                <a:latin typeface="Consolas"/>
                <a:ea typeface="Consolas"/>
              </a:rPr>
              <a:t>世界のメガトレンドと、その“共通の土台”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502920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9AA1A9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841248"/>
            <a:ext cx="10543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5181C"/>
                </a:solidFill>
                <a:latin typeface="Noto Sans JP"/>
                <a:ea typeface="Noto Sans JP"/>
              </a:rPr>
              <a:t>世界が動く先には、必ず「設備」がいる。その主役は、製造業だ。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463040"/>
            <a:ext cx="10543032" cy="1778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57276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6E767F"/>
                </a:solidFill>
                <a:latin typeface="Noto Sans JP"/>
                <a:ea typeface="Noto Sans JP"/>
              </a:rPr>
              <a:t>いま世界を動かす3つのメガトレンド。どれも、実現するには物理的な“設備”が要る。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048256"/>
            <a:ext cx="3112008" cy="6400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249424"/>
            <a:ext cx="3112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00">
                <a:solidFill>
                  <a:srgbClr val="9AA1A9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31136"/>
            <a:ext cx="3112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60012"/>
                </a:solidFill>
                <a:latin typeface="Consolas"/>
                <a:ea typeface="Consolas"/>
              </a:rPr>
              <a:t>● 本日フォーカス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05456"/>
            <a:ext cx="31120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60012"/>
                </a:solidFill>
                <a:latin typeface="Noto Sans JP"/>
                <a:ea typeface="Noto Sans JP"/>
              </a:rPr>
              <a:t>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017520"/>
            <a:ext cx="31120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E767F"/>
                </a:solidFill>
                <a:latin typeface="Noto Sans JP"/>
                <a:ea typeface="Noto Sans JP"/>
              </a:rPr>
              <a:t>生成AI・データセンター・半導体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64992"/>
            <a:ext cx="31120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spc="100">
                <a:solidFill>
                  <a:srgbClr val="9AA1A9"/>
                </a:solidFill>
                <a:latin typeface="Consolas"/>
                <a:ea typeface="Consolas"/>
              </a:rPr>
              <a:t>要る設備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E60012"/>
                </a:solidFill>
                <a:latin typeface="Noto Sans JP"/>
                <a:ea typeface="Noto Sans JP"/>
              </a:rPr>
              <a:t>→ </a:t>
            </a:r>
            <a:r>
              <a:rPr sz="1350" b="1">
                <a:solidFill>
                  <a:srgbClr val="373C43"/>
                </a:solidFill>
                <a:latin typeface="Noto Sans JP"/>
                <a:ea typeface="Noto Sans JP"/>
              </a:rPr>
              <a:t>電源・冷却・建屋・チップ工場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7847" y="2066544"/>
            <a:ext cx="12700" cy="1810512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7304" y="2048256"/>
            <a:ext cx="3112008" cy="64008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37304" y="2249424"/>
            <a:ext cx="3112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00">
                <a:solidFill>
                  <a:srgbClr val="9AA1A9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7304" y="2505456"/>
            <a:ext cx="31120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5181C"/>
                </a:solidFill>
                <a:latin typeface="Noto Sans JP"/>
                <a:ea typeface="Noto Sans JP"/>
              </a:rPr>
              <a:t>脱炭素（GX）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7304" y="3017520"/>
            <a:ext cx="31120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E767F"/>
                </a:solidFill>
                <a:latin typeface="Noto Sans JP"/>
                <a:ea typeface="Noto Sans JP"/>
              </a:rPr>
              <a:t>再エネ・送電網・電化・蓄電池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7304" y="3364992"/>
            <a:ext cx="31120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spc="100">
                <a:solidFill>
                  <a:srgbClr val="9AA1A9"/>
                </a:solidFill>
                <a:latin typeface="Consolas"/>
                <a:ea typeface="Consolas"/>
              </a:rPr>
              <a:t>要る設備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E60012"/>
                </a:solidFill>
                <a:latin typeface="Noto Sans JP"/>
                <a:ea typeface="Noto Sans JP"/>
              </a:rPr>
              <a:t>→ </a:t>
            </a:r>
            <a:r>
              <a:rPr sz="1350" b="1">
                <a:solidFill>
                  <a:srgbClr val="373C43"/>
                </a:solidFill>
                <a:latin typeface="Noto Sans JP"/>
                <a:ea typeface="Noto Sans JP"/>
              </a:rPr>
              <a:t>発電・変電・ケーブル・電池／EV工場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32191" y="2066544"/>
            <a:ext cx="12700" cy="1810512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851647" y="2048256"/>
            <a:ext cx="3112008" cy="64008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51647" y="2249424"/>
            <a:ext cx="3112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00">
                <a:solidFill>
                  <a:srgbClr val="9AA1A9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51647" y="2505456"/>
            <a:ext cx="31120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5181C"/>
                </a:solidFill>
                <a:latin typeface="Noto Sans JP"/>
                <a:ea typeface="Noto Sans JP"/>
              </a:rPr>
              <a:t>経済安保・国内回帰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51647" y="3017520"/>
            <a:ext cx="31120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E767F"/>
                </a:solidFill>
                <a:latin typeface="Noto Sans JP"/>
                <a:ea typeface="Noto Sans JP"/>
              </a:rPr>
              <a:t>半導体・重要物資の国産化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51647" y="3364992"/>
            <a:ext cx="31120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spc="100">
                <a:solidFill>
                  <a:srgbClr val="9AA1A9"/>
                </a:solidFill>
                <a:latin typeface="Consolas"/>
                <a:ea typeface="Consolas"/>
              </a:rPr>
              <a:t>要る設備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E60012"/>
                </a:solidFill>
                <a:latin typeface="Noto Sans JP"/>
                <a:ea typeface="Noto Sans JP"/>
              </a:rPr>
              <a:t>→ </a:t>
            </a:r>
            <a:r>
              <a:rPr sz="1350" b="1">
                <a:solidFill>
                  <a:srgbClr val="373C43"/>
                </a:solidFill>
                <a:latin typeface="Noto Sans JP"/>
                <a:ea typeface="Noto Sans JP"/>
              </a:rPr>
              <a:t>国内に工場を新設・供給網を再構築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3968496"/>
            <a:ext cx="31120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60012"/>
                </a:solidFill>
                <a:latin typeface="Noto Sans JP"/>
                <a:ea typeface="Noto Sans JP"/>
              </a:rPr>
              <a:t>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37304" y="3968496"/>
            <a:ext cx="31120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60012"/>
                </a:solidFill>
                <a:latin typeface="Noto Sans JP"/>
                <a:ea typeface="Noto Sans JP"/>
              </a:rPr>
              <a:t>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51647" y="3968496"/>
            <a:ext cx="31120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60012"/>
                </a:solidFill>
                <a:latin typeface="Noto Sans JP"/>
                <a:ea typeface="Noto Sans JP"/>
              </a:rPr>
              <a:t>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261104"/>
            <a:ext cx="10543032" cy="102412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3610" y="4425696"/>
            <a:ext cx="18288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07008" y="4261104"/>
            <a:ext cx="4301154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spc="100">
                <a:solidFill>
                  <a:srgbClr val="FFCFD3"/>
                </a:solidFill>
                <a:latin typeface="Consolas"/>
                <a:ea typeface="Consolas"/>
              </a:rPr>
              <a:t>3つに共通する“土台”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Noto Sans JP"/>
                <a:ea typeface="Noto Sans JP"/>
              </a:rPr>
              <a:t>膨大な“設備”がいる。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9954" y="4261104"/>
            <a:ext cx="4870277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spc="100">
                <a:solidFill>
                  <a:srgbClr val="FFCFD3"/>
                </a:solidFill>
                <a:latin typeface="Consolas"/>
                <a:ea typeface="Consolas"/>
              </a:rPr>
              <a:t>作る・建てる主役は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Noto Sans JP"/>
                <a:ea typeface="Noto Sans JP"/>
              </a:rPr>
              <a:t>重電・機械・電機など、“製造業”がコア。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696712"/>
            <a:ext cx="82296" cy="47548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78992" y="5650992"/>
            <a:ext cx="1026871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181C"/>
                </a:solidFill>
                <a:latin typeface="Noto Sans JP"/>
                <a:ea typeface="Noto Sans JP"/>
              </a:rPr>
              <a:t>→ 今日はその中で、最も勢いのある「</a:t>
            </a:r>
            <a:r>
              <a:rPr sz="1900" b="1">
                <a:solidFill>
                  <a:srgbClr val="E60012"/>
                </a:solidFill>
                <a:latin typeface="Noto Sans JP"/>
                <a:ea typeface="Noto Sans JP"/>
              </a:rPr>
              <a:t>AI</a:t>
            </a:r>
            <a:r>
              <a:rPr sz="1900" b="1">
                <a:solidFill>
                  <a:srgbClr val="15181C"/>
                </a:solidFill>
                <a:latin typeface="Noto Sans JP"/>
                <a:ea typeface="Noto Sans JP"/>
              </a:rPr>
              <a:t>」に絞って話す。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66928"/>
            <a:ext cx="128016" cy="12801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50292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spc="150">
                <a:solidFill>
                  <a:srgbClr val="E60012"/>
                </a:solidFill>
                <a:latin typeface="Consolas"/>
                <a:ea typeface="Consolas"/>
              </a:rPr>
              <a:t>規模より“勢い”——トレンドとして、どれだけ急か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502920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9AA1A9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841248"/>
            <a:ext cx="10543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5181C"/>
                </a:solidFill>
                <a:latin typeface="Noto Sans JP"/>
                <a:ea typeface="Noto Sans JP"/>
              </a:rPr>
              <a:t>AI投資は“大きい”だけじゃない。数年で“何倍”に跳ねている。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463040"/>
            <a:ext cx="10543032" cy="1778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83664"/>
            <a:ext cx="2834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5181C"/>
                </a:solidFill>
                <a:latin typeface="Noto Sans JP"/>
                <a:ea typeface="Noto Sans JP"/>
              </a:rPr>
              <a:t>AIチップの需要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Consolas"/>
                <a:ea typeface="Consolas"/>
              </a:rPr>
              <a:t>NVIDIA データセンター売上</a:t>
            </a:r>
          </a:p>
        </p:txBody>
      </p:sp>
      <p:sp>
        <p:nvSpPr>
          <p:cNvPr id="9" name="Rectangle 8"/>
          <p:cNvSpPr/>
          <p:nvPr/>
        </p:nvSpPr>
        <p:spPr>
          <a:xfrm>
            <a:off x="3794760" y="2432304"/>
            <a:ext cx="3566160" cy="1778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11930" y="2386117"/>
            <a:ext cx="457200" cy="46186"/>
          </a:xfrm>
          <a:prstGeom prst="rect">
            <a:avLst/>
          </a:prstGeom>
          <a:solidFill>
            <a:srgbClr val="D2D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94760" y="249631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E767F"/>
                </a:solidFill>
                <a:latin typeface="Consolas"/>
                <a:ea typeface="Consolas"/>
              </a:rPr>
              <a:t>FY23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03470" y="2284507"/>
            <a:ext cx="457200" cy="147796"/>
          </a:xfrm>
          <a:prstGeom prst="rect">
            <a:avLst/>
          </a:prstGeom>
          <a:solidFill>
            <a:srgbClr val="D2D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6300" y="249631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E767F"/>
                </a:solidFill>
                <a:latin typeface="Consolas"/>
                <a:ea typeface="Consolas"/>
              </a:rPr>
              <a:t>FY24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95010" y="2078207"/>
            <a:ext cx="457200" cy="354096"/>
          </a:xfrm>
          <a:prstGeom prst="rect">
            <a:avLst/>
          </a:prstGeom>
          <a:solidFill>
            <a:srgbClr val="D2D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249631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E767F"/>
                </a:solidFill>
                <a:latin typeface="Consolas"/>
                <a:ea typeface="Consolas"/>
              </a:rPr>
              <a:t>FY25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86550" y="1828800"/>
            <a:ext cx="457200" cy="603504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9380" y="249631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E767F"/>
                </a:solidFill>
                <a:latin typeface="Consolas"/>
                <a:ea typeface="Consolas"/>
              </a:rPr>
              <a:t>FY26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37910" y="1591056"/>
            <a:ext cx="1554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E767F"/>
                </a:solidFill>
                <a:latin typeface="Consolas"/>
                <a:ea typeface="Consolas"/>
              </a:rPr>
              <a:t>約2,000億ドル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1810512"/>
            <a:ext cx="1600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E60012"/>
                </a:solidFill>
                <a:latin typeface="Noto Sans JP"/>
                <a:ea typeface="Noto Sans JP"/>
              </a:rPr>
              <a:t>約13倍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1810512"/>
            <a:ext cx="18288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E767F"/>
                </a:solidFill>
                <a:latin typeface="Noto Sans JP"/>
                <a:ea typeface="Noto Sans JP"/>
              </a:rPr>
              <a:t>に伸びた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2788920"/>
            <a:ext cx="10543032" cy="1270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72384"/>
            <a:ext cx="2834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5181C"/>
                </a:solidFill>
                <a:latin typeface="Noto Sans JP"/>
                <a:ea typeface="Noto Sans JP"/>
              </a:rPr>
              <a:t>AIインフラ投資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Consolas"/>
                <a:ea typeface="Consolas"/>
              </a:rPr>
              <a:t>Big Tech 4社の設備投資（年間）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94760" y="3621024"/>
            <a:ext cx="3566160" cy="1778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11930" y="3471188"/>
            <a:ext cx="457200" cy="149835"/>
          </a:xfrm>
          <a:prstGeom prst="rect">
            <a:avLst/>
          </a:prstGeom>
          <a:solidFill>
            <a:srgbClr val="D2D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94760" y="368503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E767F"/>
                </a:solidFill>
                <a:latin typeface="Consolas"/>
                <a:ea typeface="Consolas"/>
              </a:rPr>
              <a:t>’23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03470" y="3429567"/>
            <a:ext cx="457200" cy="191456"/>
          </a:xfrm>
          <a:prstGeom prst="rect">
            <a:avLst/>
          </a:prstGeom>
          <a:solidFill>
            <a:srgbClr val="D2D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6300" y="368503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E767F"/>
                </a:solidFill>
                <a:latin typeface="Consolas"/>
                <a:ea typeface="Consolas"/>
              </a:rPr>
              <a:t>’24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95010" y="3279732"/>
            <a:ext cx="457200" cy="341291"/>
          </a:xfrm>
          <a:prstGeom prst="rect">
            <a:avLst/>
          </a:prstGeom>
          <a:solidFill>
            <a:srgbClr val="D2D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77840" y="368503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E767F"/>
                </a:solidFill>
                <a:latin typeface="Consolas"/>
                <a:ea typeface="Consolas"/>
              </a:rPr>
              <a:t>’25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86550" y="3017520"/>
            <a:ext cx="457200" cy="603504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69380" y="368503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E767F"/>
                </a:solidFill>
                <a:latin typeface="Consolas"/>
                <a:ea typeface="Consolas"/>
              </a:rPr>
              <a:t>’26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37910" y="2779776"/>
            <a:ext cx="1554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E767F"/>
                </a:solidFill>
                <a:latin typeface="Consolas"/>
                <a:ea typeface="Consolas"/>
              </a:rPr>
              <a:t>7,250億ドル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09560" y="2999232"/>
            <a:ext cx="1600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E60012"/>
                </a:solidFill>
                <a:latin typeface="Noto Sans JP"/>
                <a:ea typeface="Noto Sans JP"/>
              </a:rPr>
              <a:t>約4倍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55480" y="2999232"/>
            <a:ext cx="18288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E767F"/>
                </a:solidFill>
                <a:latin typeface="Noto Sans JP"/>
                <a:ea typeface="Noto Sans JP"/>
              </a:rPr>
              <a:t>に伸びた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3977639"/>
            <a:ext cx="10543032" cy="1270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4261104"/>
            <a:ext cx="2834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5181C"/>
                </a:solidFill>
                <a:latin typeface="Noto Sans JP"/>
                <a:ea typeface="Noto Sans JP"/>
              </a:rPr>
              <a:t>国内DC建設投資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Consolas"/>
                <a:ea typeface="Consolas"/>
              </a:rPr>
              <a:t>日本のデータセンター建設（年間）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94760" y="4809744"/>
            <a:ext cx="3566160" cy="1778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60520" y="4615295"/>
            <a:ext cx="457200" cy="194448"/>
          </a:xfrm>
          <a:prstGeom prst="rect">
            <a:avLst/>
          </a:prstGeom>
          <a:solidFill>
            <a:srgbClr val="D2D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794760" y="4873752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E767F"/>
                </a:solidFill>
                <a:latin typeface="Consolas"/>
                <a:ea typeface="Consolas"/>
              </a:rPr>
              <a:t>’23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49240" y="4507992"/>
            <a:ext cx="457200" cy="301752"/>
          </a:xfrm>
          <a:prstGeom prst="rect">
            <a:avLst/>
          </a:prstGeom>
          <a:solidFill>
            <a:srgbClr val="D2D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83480" y="4873752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E767F"/>
                </a:solidFill>
                <a:latin typeface="Consolas"/>
                <a:ea typeface="Consolas"/>
              </a:rPr>
              <a:t>’24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37960" y="4206240"/>
            <a:ext cx="457200" cy="603504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72200" y="4873752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E767F"/>
                </a:solidFill>
                <a:latin typeface="Consolas"/>
                <a:ea typeface="Consolas"/>
              </a:rPr>
              <a:t>’28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89320" y="3968496"/>
            <a:ext cx="1554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E767F"/>
                </a:solidFill>
                <a:latin typeface="Consolas"/>
                <a:ea typeface="Consolas"/>
              </a:rPr>
              <a:t>1兆円超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09560" y="4187952"/>
            <a:ext cx="1600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E60012"/>
                </a:solidFill>
                <a:latin typeface="Noto Sans JP"/>
                <a:ea typeface="Noto Sans JP"/>
              </a:rPr>
              <a:t>約3倍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55480" y="4187952"/>
            <a:ext cx="18288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E767F"/>
                </a:solidFill>
                <a:latin typeface="Noto Sans JP"/>
                <a:ea typeface="Noto Sans JP"/>
              </a:rPr>
              <a:t>に伸びた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2960" y="5486400"/>
            <a:ext cx="82296" cy="47548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78992" y="5440680"/>
            <a:ext cx="1026871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181C"/>
                </a:solidFill>
                <a:latin typeface="Noto Sans JP"/>
                <a:ea typeface="Noto Sans JP"/>
              </a:rPr>
              <a:t>投資のピークは2027〜2028年。この波は、まだ“</a:t>
            </a:r>
            <a:r>
              <a:rPr sz="1900" b="1">
                <a:solidFill>
                  <a:srgbClr val="E60012"/>
                </a:solidFill>
                <a:latin typeface="Noto Sans JP"/>
                <a:ea typeface="Noto Sans JP"/>
              </a:rPr>
              <a:t>序盤</a:t>
            </a:r>
            <a:r>
              <a:rPr sz="1900" b="1">
                <a:solidFill>
                  <a:srgbClr val="15181C"/>
                </a:solidFill>
                <a:latin typeface="Noto Sans JP"/>
                <a:ea typeface="Noto Sans JP"/>
              </a:rPr>
              <a:t>”だ。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36208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1A9"/>
                </a:solidFill>
                <a:latin typeface="Consolas"/>
                <a:ea typeface="Consolas"/>
              </a:rPr>
              <a:t>出典：NVIDIA IR／Big Tech各社IR・報道／IDC Japan（国内DC建設投資）。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66928"/>
            <a:ext cx="128016" cy="12801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50292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spc="150">
                <a:solidFill>
                  <a:srgbClr val="E60012"/>
                </a:solidFill>
                <a:latin typeface="Consolas"/>
                <a:ea typeface="Consolas"/>
              </a:rPr>
              <a:t>AI需要 → 連鎖して伸びる、日本のバリューチェーン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502920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9AA1A9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841248"/>
            <a:ext cx="10543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5181C"/>
                </a:solidFill>
                <a:latin typeface="Noto Sans JP"/>
                <a:ea typeface="Noto Sans JP"/>
              </a:rPr>
              <a:t>AIが伸びれば、この“川”がまるごと潤う。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463040"/>
            <a:ext cx="10543032" cy="1778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6420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60012"/>
                </a:solidFill>
                <a:latin typeface="Noto Sans JP"/>
                <a:ea typeface="Noto Sans JP"/>
              </a:rPr>
              <a:t>AI・DC需要の拡大</a:t>
            </a:r>
            <a:r>
              <a:rPr sz="1100" b="1">
                <a:solidFill>
                  <a:srgbClr val="6E767F"/>
                </a:solidFill>
                <a:latin typeface="Noto Sans JP"/>
                <a:ea typeface="Noto Sans JP"/>
              </a:rPr>
              <a:t>　この一手が、川上から川下までまるごと波及する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spc="100">
                <a:solidFill>
                  <a:srgbClr val="9AA1A9"/>
                </a:solidFill>
                <a:latin typeface="Consolas"/>
                <a:ea typeface="Consolas"/>
              </a:rPr>
              <a:t>川上（源流）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8392" y="2103120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spc="100">
                <a:solidFill>
                  <a:srgbClr val="9AA1A9"/>
                </a:solidFill>
                <a:latin typeface="Consolas"/>
                <a:ea typeface="Consolas"/>
              </a:rPr>
              <a:t>川下（据付・保守の現場）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340864"/>
            <a:ext cx="10232136" cy="4572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36808" y="2240280"/>
            <a:ext cx="365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E60012"/>
                </a:solidFill>
                <a:latin typeface="Noto Sans JP"/>
                <a:ea typeface="Noto Sans JP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70048"/>
            <a:ext cx="1852574" cy="54864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816352"/>
            <a:ext cx="185257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100">
                <a:solidFill>
                  <a:srgbClr val="9AA1A9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54096"/>
            <a:ext cx="18525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5181C"/>
                </a:solidFill>
                <a:latin typeface="Noto Sans JP"/>
                <a:ea typeface="Noto Sans JP"/>
              </a:rPr>
              <a:t>発電・電源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185257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Noto Sans JP"/>
                <a:ea typeface="Noto Sans JP"/>
              </a:rPr>
              <a:t>電気をつくる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22191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三菱重工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87952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川崎重工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553712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IHI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919472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デンヨー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21838" y="2670048"/>
            <a:ext cx="12700" cy="237744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931566" y="2670048"/>
            <a:ext cx="1852574" cy="54864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31566" y="2816352"/>
            <a:ext cx="185257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100">
                <a:solidFill>
                  <a:srgbClr val="9AA1A9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31566" y="3054096"/>
            <a:ext cx="18525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5181C"/>
                </a:solidFill>
                <a:latin typeface="Noto Sans JP"/>
                <a:ea typeface="Noto Sans JP"/>
              </a:rPr>
              <a:t>送変電・電線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31566" y="3456432"/>
            <a:ext cx="185257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Noto Sans JP"/>
                <a:ea typeface="Noto Sans JP"/>
              </a:rPr>
              <a:t>送る・変える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31566" y="3822191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日立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31566" y="4187952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三菱電機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31566" y="4553712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ダイヘン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31566" y="4919472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フジクラ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30444" y="2670048"/>
            <a:ext cx="12700" cy="237744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40172" y="2670048"/>
            <a:ext cx="1852574" cy="54864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40172" y="2816352"/>
            <a:ext cx="185257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100">
                <a:solidFill>
                  <a:srgbClr val="9AA1A9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0172" y="3054096"/>
            <a:ext cx="18525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5181C"/>
                </a:solidFill>
                <a:latin typeface="Noto Sans JP"/>
                <a:ea typeface="Noto Sans JP"/>
              </a:rPr>
              <a:t>DC建設・設備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0172" y="3456432"/>
            <a:ext cx="185257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Noto Sans JP"/>
                <a:ea typeface="Noto Sans JP"/>
              </a:rPr>
              <a:t>箱を建てる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40172" y="3822191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鹿島建設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40172" y="4187952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大林組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0172" y="4553712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きんでん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0172" y="4919472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高砂熱学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39051" y="2670048"/>
            <a:ext cx="12700" cy="237744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148779" y="2670048"/>
            <a:ext cx="1852574" cy="54864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48779" y="2816352"/>
            <a:ext cx="185257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100">
                <a:solidFill>
                  <a:srgbClr val="9AA1A9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48779" y="3054096"/>
            <a:ext cx="18525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5181C"/>
                </a:solidFill>
                <a:latin typeface="Noto Sans JP"/>
                <a:ea typeface="Noto Sans JP"/>
              </a:rPr>
              <a:t>冷却・電源保護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48779" y="3456432"/>
            <a:ext cx="185257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Noto Sans JP"/>
                <a:ea typeface="Noto Sans JP"/>
              </a:rPr>
              <a:t>冷やす・止めない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48779" y="3822191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ダイキン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48779" y="4187952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GSユアサ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48779" y="4553712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荏原製作所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7657" y="2670048"/>
            <a:ext cx="12700" cy="237744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257385" y="2670048"/>
            <a:ext cx="1852574" cy="54864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57385" y="2816352"/>
            <a:ext cx="185257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100">
                <a:solidFill>
                  <a:srgbClr val="9AA1A9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57385" y="3054096"/>
            <a:ext cx="18525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5181C"/>
                </a:solidFill>
                <a:latin typeface="Noto Sans JP"/>
                <a:ea typeface="Noto Sans JP"/>
              </a:rPr>
              <a:t>半導体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57385" y="3456432"/>
            <a:ext cx="185257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Noto Sans JP"/>
                <a:ea typeface="Noto Sans JP"/>
              </a:rPr>
              <a:t>計算する頭脳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57385" y="3822191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東京エレクトロン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57385" y="4187952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ディスコ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57385" y="4553712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キオクシア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57385" y="4919472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信越化学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5294376"/>
            <a:ext cx="82296" cy="420624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78992" y="5248656"/>
            <a:ext cx="1026871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181C"/>
                </a:solidFill>
                <a:latin typeface="Noto Sans JP"/>
                <a:ea typeface="Noto Sans JP"/>
              </a:rPr>
              <a:t>AIの“源流”が、川下の日本メーカーまで、</a:t>
            </a:r>
            <a:r>
              <a:rPr sz="1900" b="1">
                <a:solidFill>
                  <a:srgbClr val="E60012"/>
                </a:solidFill>
                <a:latin typeface="Noto Sans JP"/>
                <a:ea typeface="Noto Sans JP"/>
              </a:rPr>
              <a:t>まるごと潤す。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78992" y="5852160"/>
            <a:ext cx="10332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373C43"/>
                </a:solidFill>
                <a:latin typeface="Noto Sans JP"/>
                <a:ea typeface="Noto Sans JP"/>
              </a:rPr>
              <a:t>発電から半導体まで全段が同時に増収増益——狙える現場は、この一社一社にある。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" y="6345936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1A9"/>
                </a:solidFill>
                <a:latin typeface="Consolas"/>
                <a:ea typeface="Consolas"/>
              </a:rPr>
              <a:t>※ 各段階の代表企業を抜粋（社名表記＝ロゴのイメージ、実ロゴへ差し替え可）。数値・詳細は次頁以降。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66928"/>
            <a:ext cx="128016" cy="12801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50292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spc="150">
                <a:solidFill>
                  <a:srgbClr val="E60012"/>
                </a:solidFill>
                <a:latin typeface="Consolas"/>
                <a:ea typeface="Consolas"/>
              </a:rPr>
              <a:t>建設費の中身：どこにANDPADの市場があるか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502920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9AA1A9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841248"/>
            <a:ext cx="10543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5181C"/>
                </a:solidFill>
                <a:latin typeface="Noto Sans JP"/>
                <a:ea typeface="Noto Sans JP"/>
              </a:rPr>
              <a:t>お金の3/4は設備。効くのは機器代ではなく“工”＝据付・試運転・保守。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463040"/>
            <a:ext cx="10543032" cy="1778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011680"/>
            <a:ext cx="2635758" cy="896112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58718" y="2011680"/>
            <a:ext cx="5271516" cy="89611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30234" y="2011680"/>
            <a:ext cx="2635758" cy="896112"/>
          </a:xfrm>
          <a:prstGeom prst="rect">
            <a:avLst/>
          </a:prstGeom>
          <a:solidFill>
            <a:srgbClr val="F0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47745" y="2011680"/>
            <a:ext cx="21945" cy="8961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19261" y="2011680"/>
            <a:ext cx="21945" cy="8961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011680"/>
            <a:ext cx="2635758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建築（躯体）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FFFFFF"/>
                </a:solidFill>
                <a:latin typeface="Noto Sans JP"/>
                <a:ea typeface="Noto Sans JP"/>
              </a:rPr>
              <a:t>約25%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8718" y="2011680"/>
            <a:ext cx="5271516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Noto Sans JP"/>
                <a:ea typeface="Noto Sans JP"/>
              </a:rPr>
              <a:t>電気設備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FFFFFF"/>
                </a:solidFill>
                <a:latin typeface="Noto Sans JP"/>
                <a:ea typeface="Noto Sans JP"/>
              </a:rPr>
              <a:t>約50%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0234" y="2011680"/>
            <a:ext cx="2635758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空調・機械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FFFFFF"/>
                </a:solidFill>
                <a:latin typeface="Noto Sans JP"/>
                <a:ea typeface="Noto Sans JP"/>
              </a:rPr>
              <a:t>約25%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1719072"/>
            <a:ext cx="263575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Consolas"/>
                <a:ea typeface="Consolas"/>
              </a:rPr>
              <a:t>建設（ゼネコン）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8718" y="1719072"/>
            <a:ext cx="790727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Consolas"/>
                <a:ea typeface="Consolas"/>
              </a:rPr>
              <a:t>設備＝製造業（電気・機械）  約75%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154680"/>
            <a:ext cx="10543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その「設備 約75%」を  </a:t>
            </a:r>
            <a:r>
              <a:rPr sz="1250" b="1">
                <a:solidFill>
                  <a:srgbClr val="6E767F"/>
                </a:solidFill>
                <a:latin typeface="Noto Sans JP"/>
                <a:ea typeface="Noto Sans JP"/>
              </a:rPr>
              <a:t>材（機器・材料）</a:t>
            </a:r>
            <a:r>
              <a:rPr sz="1250" b="0">
                <a:solidFill>
                  <a:srgbClr val="373C43"/>
                </a:solidFill>
                <a:latin typeface="Noto Sans JP"/>
                <a:ea typeface="Noto Sans JP"/>
              </a:rPr>
              <a:t>  と  </a:t>
            </a:r>
            <a:r>
              <a:rPr sz="1250" b="1">
                <a:solidFill>
                  <a:srgbClr val="E60012"/>
                </a:solidFill>
                <a:latin typeface="Noto Sans JP"/>
                <a:ea typeface="Noto Sans JP"/>
              </a:rPr>
              <a:t>工（据付・施工＝人が動く）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  に分けると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493008"/>
            <a:ext cx="6325819" cy="804672"/>
          </a:xfrm>
          <a:prstGeom prst="rect">
            <a:avLst/>
          </a:prstGeom>
          <a:solidFill>
            <a:srgbClr val="D2D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48779" y="3493008"/>
            <a:ext cx="4217212" cy="80467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7806" y="3493008"/>
            <a:ext cx="21945" cy="804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493008"/>
            <a:ext cx="6325819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5181C"/>
                </a:solidFill>
                <a:latin typeface="Noto Sans JP"/>
                <a:ea typeface="Noto Sans JP"/>
              </a:rPr>
              <a:t>材：機器・材料（変圧器・冷凍機・UPS 等）  約6割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48779" y="3493008"/>
            <a:ext cx="4217212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Noto Sans JP"/>
                <a:ea typeface="Noto Sans JP"/>
              </a:rPr>
              <a:t>工：据付・施工  約4割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8779" y="4352544"/>
            <a:ext cx="42172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60012"/>
                </a:solidFill>
                <a:latin typeface="Consolas"/>
                <a:ea typeface="Consolas"/>
              </a:rPr>
              <a:t>↑ ここがANDPADの市場（工）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828032"/>
            <a:ext cx="3148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5181C"/>
                </a:solidFill>
                <a:latin typeface="Noto Sans JP"/>
                <a:ea typeface="Noto Sans JP"/>
              </a:rPr>
              <a:t>据付・施工</a:t>
            </a:r>
            <a:r>
              <a:rPr sz="1200" b="1">
                <a:solidFill>
                  <a:srgbClr val="E60012"/>
                </a:solidFill>
                <a:latin typeface="Noto Sans JP"/>
                <a:ea typeface="Noto Sans JP"/>
              </a:rPr>
              <a:t>  建設費の約3割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157216"/>
            <a:ext cx="31485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Noto Sans JP"/>
                <a:ea typeface="Noto Sans JP"/>
              </a:rPr>
              <a:t>国内の設備工事そのもの＝中核市場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54423" y="4828032"/>
            <a:ext cx="15240" cy="64008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37304" y="4828032"/>
            <a:ext cx="3148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5181C"/>
                </a:solidFill>
                <a:latin typeface="Noto Sans JP"/>
                <a:ea typeface="Noto Sans JP"/>
              </a:rPr>
              <a:t>試運転</a:t>
            </a:r>
            <a:r>
              <a:rPr sz="1200" b="1">
                <a:solidFill>
                  <a:srgbClr val="E60012"/>
                </a:solidFill>
                <a:latin typeface="Noto Sans JP"/>
                <a:ea typeface="Noto Sans JP"/>
              </a:rPr>
              <a:t>  建設費の1〜3%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7304" y="5157216"/>
            <a:ext cx="31485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Noto Sans JP"/>
                <a:ea typeface="Noto Sans JP"/>
              </a:rPr>
              <a:t>世界の試運転市場 $2.1B → $4.3B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68768" y="4828032"/>
            <a:ext cx="15240" cy="64008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51647" y="4828032"/>
            <a:ext cx="3148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5181C"/>
                </a:solidFill>
                <a:latin typeface="Noto Sans JP"/>
                <a:ea typeface="Noto Sans JP"/>
              </a:rPr>
              <a:t>保守・運用</a:t>
            </a:r>
            <a:r>
              <a:rPr sz="1200" b="1">
                <a:solidFill>
                  <a:srgbClr val="E60012"/>
                </a:solidFill>
                <a:latin typeface="Noto Sans JP"/>
                <a:ea typeface="Noto Sans JP"/>
              </a:rPr>
              <a:t>  毎年・運用費の約4割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51647" y="5157216"/>
            <a:ext cx="31485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Noto Sans JP"/>
                <a:ea typeface="Noto Sans JP"/>
              </a:rPr>
              <a:t>世界のDC運用保守 $15.8B → $45.6B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5824728"/>
            <a:ext cx="82296" cy="420624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8992" y="5779008"/>
            <a:ext cx="1026871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5181C"/>
                </a:solidFill>
                <a:latin typeface="Noto Sans JP"/>
                <a:ea typeface="Noto Sans JP"/>
              </a:rPr>
              <a:t>建設業だけを見てきた。その周辺の“工”（据付・試運転・保守）に、</a:t>
            </a:r>
            <a:r>
              <a:rPr sz="1600" b="1">
                <a:solidFill>
                  <a:srgbClr val="E60012"/>
                </a:solidFill>
                <a:latin typeface="Noto Sans JP"/>
                <a:ea typeface="Noto Sans JP"/>
              </a:rPr>
              <a:t>広大な市場</a:t>
            </a:r>
            <a:r>
              <a:rPr sz="1600" b="1">
                <a:solidFill>
                  <a:srgbClr val="15181C"/>
                </a:solidFill>
                <a:latin typeface="Noto Sans JP"/>
                <a:ea typeface="Noto Sans JP"/>
              </a:rPr>
              <a:t>がある。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66928"/>
            <a:ext cx="128016" cy="12801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50292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spc="150">
                <a:solidFill>
                  <a:srgbClr val="E60012"/>
                </a:solidFill>
                <a:latin typeface="Consolas"/>
                <a:ea typeface="Consolas"/>
              </a:rPr>
              <a:t>バリューチェーン別・国内主要プレーヤーと伸び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502920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9AA1A9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841248"/>
            <a:ext cx="10543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5181C"/>
                </a:solidFill>
                <a:latin typeface="Noto Sans JP"/>
                <a:ea typeface="Noto Sans JP"/>
              </a:rPr>
              <a:t>国内のAI投資は、製造業のこの現場に着地している。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463040"/>
            <a:ext cx="10543032" cy="1778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185257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100">
                <a:solidFill>
                  <a:srgbClr val="9AA1A9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84832"/>
            <a:ext cx="18891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5181C"/>
                </a:solidFill>
                <a:latin typeface="Noto Sans JP"/>
                <a:ea typeface="Noto Sans JP"/>
              </a:rPr>
              <a:t>発電・電源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78608"/>
            <a:ext cx="188915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Noto Sans JP"/>
                <a:ea typeface="Noto Sans JP"/>
              </a:rPr>
              <a:t>電気をつくる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99232"/>
            <a:ext cx="183428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60012"/>
                </a:solidFill>
                <a:latin typeface="Noto Sans JP"/>
                <a:ea typeface="Noto Sans JP"/>
              </a:rPr>
              <a:t>受注残 5兆円超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77639"/>
            <a:ext cx="187086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三菱重工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21838" y="1828800"/>
            <a:ext cx="15240" cy="274320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31566" y="1828800"/>
            <a:ext cx="185257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100">
                <a:solidFill>
                  <a:srgbClr val="9AA1A9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31566" y="2084832"/>
            <a:ext cx="18891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5181C"/>
                </a:solidFill>
                <a:latin typeface="Noto Sans JP"/>
                <a:ea typeface="Noto Sans JP"/>
              </a:rPr>
              <a:t>送変電・電線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31566" y="2578608"/>
            <a:ext cx="188915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Noto Sans JP"/>
                <a:ea typeface="Noto Sans JP"/>
              </a:rPr>
              <a:t>電気を送る・変える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1566" y="2999232"/>
            <a:ext cx="183428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60012"/>
                </a:solidFill>
                <a:latin typeface="Noto Sans JP"/>
                <a:ea typeface="Noto Sans JP"/>
              </a:rPr>
              <a:t>変圧器 生産能力2倍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1566" y="3977639"/>
            <a:ext cx="187086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日立・ダイヘン・フジクラ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0444" y="1828800"/>
            <a:ext cx="15240" cy="274320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40172" y="1828800"/>
            <a:ext cx="185257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100">
                <a:solidFill>
                  <a:srgbClr val="9AA1A9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40172" y="2084832"/>
            <a:ext cx="18891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5181C"/>
                </a:solidFill>
                <a:latin typeface="Noto Sans JP"/>
                <a:ea typeface="Noto Sans JP"/>
              </a:rPr>
              <a:t>DC建設・設備工事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0172" y="2578608"/>
            <a:ext cx="188915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Noto Sans JP"/>
                <a:ea typeface="Noto Sans JP"/>
              </a:rPr>
              <a:t>箱を建てる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40172" y="2999232"/>
            <a:ext cx="183428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60012"/>
                </a:solidFill>
                <a:latin typeface="Noto Sans JP"/>
                <a:ea typeface="Noto Sans JP"/>
              </a:rPr>
              <a:t>空調工事 受注 +25.5%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0172" y="3977639"/>
            <a:ext cx="187086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ダイダン・高砂熱学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39051" y="1828800"/>
            <a:ext cx="15240" cy="274320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48779" y="1828800"/>
            <a:ext cx="185257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100">
                <a:solidFill>
                  <a:srgbClr val="9AA1A9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48779" y="2084832"/>
            <a:ext cx="18891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5181C"/>
                </a:solidFill>
                <a:latin typeface="Noto Sans JP"/>
                <a:ea typeface="Noto Sans JP"/>
              </a:rPr>
              <a:t>冷却・電源保護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8779" y="2578608"/>
            <a:ext cx="188915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Noto Sans JP"/>
                <a:ea typeface="Noto Sans JP"/>
              </a:rPr>
              <a:t>冷やす・止めない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48779" y="2999232"/>
            <a:ext cx="183428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60012"/>
                </a:solidFill>
                <a:latin typeface="Noto Sans JP"/>
                <a:ea typeface="Noto Sans JP"/>
              </a:rPr>
              <a:t>北米DC冷却 約13倍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48779" y="3977639"/>
            <a:ext cx="187086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ダイキン・GSユアサ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7657" y="1828800"/>
            <a:ext cx="15240" cy="274320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57385" y="1828800"/>
            <a:ext cx="185257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100">
                <a:solidFill>
                  <a:srgbClr val="9AA1A9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57385" y="2084832"/>
            <a:ext cx="18891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5181C"/>
                </a:solidFill>
                <a:latin typeface="Noto Sans JP"/>
                <a:ea typeface="Noto Sans JP"/>
              </a:rPr>
              <a:t>半導体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7385" y="2578608"/>
            <a:ext cx="188915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Noto Sans JP"/>
                <a:ea typeface="Noto Sans JP"/>
              </a:rPr>
              <a:t>計算する頭脳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57385" y="2999232"/>
            <a:ext cx="183428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60012"/>
                </a:solidFill>
                <a:latin typeface="Noto Sans JP"/>
                <a:ea typeface="Noto Sans JP"/>
              </a:rPr>
              <a:t>設備投資 +66%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57385" y="3977639"/>
            <a:ext cx="187086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キオクシア・東京ｴﾚｸﾄﾛﾝ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4754880"/>
            <a:ext cx="10543032" cy="1270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49560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E767F"/>
                </a:solidFill>
                <a:latin typeface="Consolas"/>
                <a:ea typeface="Consolas"/>
              </a:rPr>
              <a:t>我々の入り方：</a:t>
            </a:r>
            <a:r>
              <a:rPr sz="1300" b="1">
                <a:solidFill>
                  <a:srgbClr val="373C43"/>
                </a:solidFill>
                <a:latin typeface="Noto Sans JP"/>
                <a:ea typeface="Noto Sans JP"/>
              </a:rPr>
              <a:t>  A 発注者＝“建てる側”で管理</a:t>
            </a:r>
            <a:r>
              <a:rPr sz="1200" b="0">
                <a:solidFill>
                  <a:srgbClr val="9AA1A9"/>
                </a:solidFill>
                <a:latin typeface="Noto Sans JP"/>
                <a:ea typeface="Noto Sans JP"/>
              </a:rPr>
              <a:t>   /   </a:t>
            </a:r>
            <a:r>
              <a:rPr sz="1300" b="1">
                <a:solidFill>
                  <a:srgbClr val="E60012"/>
                </a:solidFill>
                <a:latin typeface="Noto Sans JP"/>
                <a:ea typeface="Noto Sans JP"/>
              </a:rPr>
              <a:t>B 請負＝据付・試運転・保守を“納める側”で管理（本命）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5669280"/>
            <a:ext cx="82296" cy="4572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78992" y="5623560"/>
            <a:ext cx="1026871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5181C"/>
                </a:solidFill>
                <a:latin typeface="Noto Sans JP"/>
                <a:ea typeface="Noto Sans JP"/>
              </a:rPr>
              <a:t>川上から川下まで、全段が同時に増収増益。</a:t>
            </a:r>
            <a:r>
              <a:rPr sz="1700" b="1">
                <a:solidFill>
                  <a:srgbClr val="E60012"/>
                </a:solidFill>
                <a:latin typeface="Noto Sans JP"/>
                <a:ea typeface="Noto Sans JP"/>
              </a:rPr>
              <a:t>狙える現場が、日本中に生まれている。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97280"/>
            <a:ext cx="137160" cy="13716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" y="1024128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spc="200">
                <a:solidFill>
                  <a:srgbClr val="E60012"/>
                </a:solidFill>
                <a:latin typeface="Consolas"/>
                <a:ea typeface="Consolas"/>
              </a:rPr>
              <a:t>SO, LET'S 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1627632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15181C"/>
                </a:solidFill>
                <a:latin typeface="Noto Sans JP"/>
                <a:ea typeface="Noto Sans JP"/>
              </a:rPr>
              <a:t>次の主戦場は、</a:t>
            </a:r>
            <a:r>
              <a:rPr sz="4400" b="1">
                <a:solidFill>
                  <a:srgbClr val="E60012"/>
                </a:solidFill>
                <a:latin typeface="Noto Sans JP"/>
                <a:ea typeface="Noto Sans JP"/>
              </a:rPr>
              <a:t>製造業</a:t>
            </a:r>
            <a:r>
              <a:rPr sz="4400" b="1">
                <a:solidFill>
                  <a:srgbClr val="15181C"/>
                </a:solidFill>
                <a:latin typeface="Noto Sans JP"/>
                <a:ea typeface="Noto Sans JP"/>
              </a:rPr>
              <a:t>だ。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063240"/>
            <a:ext cx="2926080" cy="4572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5486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60012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3575304"/>
            <a:ext cx="4114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5181C"/>
                </a:solidFill>
                <a:latin typeface="Noto Sans JP"/>
                <a:ea typeface="Noto Sans JP"/>
              </a:rPr>
              <a:t>市場は建設の3倍広い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3575304"/>
            <a:ext cx="5669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73C43"/>
                </a:solidFill>
                <a:latin typeface="Noto Sans JP"/>
                <a:ea typeface="Noto Sans JP"/>
              </a:rPr>
              <a:t>DC建設費の約3/4は電気・機械設備＝製造業。据付・試運転・保守まで現場が続く。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288536"/>
            <a:ext cx="10543032" cy="1270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361688"/>
            <a:ext cx="5486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60012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4416552"/>
            <a:ext cx="4114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5181C"/>
                </a:solidFill>
                <a:latin typeface="Noto Sans JP"/>
                <a:ea typeface="Noto Sans JP"/>
              </a:rPr>
              <a:t>追い風は本物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4416552"/>
            <a:ext cx="5669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73C43"/>
                </a:solidFill>
                <a:latin typeface="Noto Sans JP"/>
                <a:ea typeface="Noto Sans JP"/>
              </a:rPr>
              <a:t>AIチップ需要は3年で約13倍、投資ピークは2027-28。受注残に裏打ちされた構造需要。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129784"/>
            <a:ext cx="10543032" cy="1270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202936"/>
            <a:ext cx="5486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60012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5257800"/>
            <a:ext cx="4114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5181C"/>
                </a:solidFill>
                <a:latin typeface="Noto Sans JP"/>
                <a:ea typeface="Noto Sans JP"/>
              </a:rPr>
              <a:t>武器は完成済み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5257800"/>
            <a:ext cx="5669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73C43"/>
                </a:solidFill>
                <a:latin typeface="Noto Sans JP"/>
                <a:ea typeface="Noto Sans JP"/>
              </a:rPr>
              <a:t>建設で磨いた現場管理は、製造業の据付・保守フィールドに“そのまま効く”。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144768"/>
            <a:ext cx="10543032" cy="4572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630936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5181C"/>
                </a:solidFill>
                <a:latin typeface="Noto Sans JP"/>
                <a:ea typeface="Noto Sans JP"/>
              </a:rPr>
              <a:t>建設の“周辺”に広がる巨大市場を、100人でつかみにいこう。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234440"/>
            <a:ext cx="137160" cy="13716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" y="11612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spc="200">
                <a:solidFill>
                  <a:srgbClr val="E60012"/>
                </a:solidFill>
                <a:latin typeface="Consolas"/>
                <a:ea typeface="Consolas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178308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5181C"/>
                </a:solidFill>
                <a:latin typeface="Noto Sans JP"/>
                <a:ea typeface="Noto Sans JP"/>
              </a:rPr>
              <a:t>バリューチェーン別 ・ </a:t>
            </a:r>
            <a:r>
              <a:rPr sz="3400" b="1">
                <a:solidFill>
                  <a:srgbClr val="E60012"/>
                </a:solidFill>
                <a:latin typeface="Noto Sans JP"/>
                <a:ea typeface="Noto Sans JP"/>
              </a:rPr>
              <a:t>キー企業一覧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80360"/>
            <a:ext cx="2926080" cy="4572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315468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373C43"/>
                </a:solidFill>
                <a:latin typeface="Noto Sans JP"/>
                <a:ea typeface="Noto Sans JP"/>
              </a:rPr>
              <a:t>AI需要の拡大で増収増益が見込める国内外 153 社を、17セグメント・バリューチェーン順に整理。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77639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6E767F"/>
                </a:solidFill>
                <a:latin typeface="Consolas"/>
                <a:ea typeface="Consolas"/>
              </a:rPr>
              <a:t>確度（一次情報の裏付け）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389120"/>
            <a:ext cx="137160" cy="13716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36168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5181C"/>
                </a:solidFill>
                <a:latin typeface="Noto Sans JP"/>
                <a:ea typeface="Noto Sans JP"/>
              </a:rPr>
              <a:t>高</a:t>
            </a:r>
            <a:r>
              <a:rPr sz="1100" b="0">
                <a:solidFill>
                  <a:srgbClr val="373C43"/>
                </a:solidFill>
                <a:latin typeface="Noto Sans JP"/>
                <a:ea typeface="Noto Sans JP"/>
              </a:rPr>
              <a:t>　受注・投資計画など一次情報が明確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73168"/>
            <a:ext cx="137160" cy="13716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745736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5181C"/>
                </a:solidFill>
                <a:latin typeface="Noto Sans JP"/>
                <a:ea typeface="Noto Sans JP"/>
              </a:rPr>
              <a:t>中</a:t>
            </a:r>
            <a:r>
              <a:rPr sz="1100" b="0">
                <a:solidFill>
                  <a:srgbClr val="373C43"/>
                </a:solidFill>
                <a:latin typeface="Noto Sans JP"/>
                <a:ea typeface="Noto Sans JP"/>
              </a:rPr>
              <a:t>　一次情報＋報道等の二次情報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157216"/>
            <a:ext cx="137160" cy="137160"/>
          </a:xfrm>
          <a:prstGeom prst="rect">
            <a:avLst/>
          </a:prstGeom>
          <a:solidFill>
            <a:srgbClr val="9AA1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5129783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5181C"/>
                </a:solidFill>
                <a:latin typeface="Noto Sans JP"/>
                <a:ea typeface="Noto Sans JP"/>
              </a:rPr>
              <a:t>低</a:t>
            </a:r>
            <a:r>
              <a:rPr sz="1100" b="0">
                <a:solidFill>
                  <a:srgbClr val="373C43"/>
                </a:solidFill>
                <a:latin typeface="Noto Sans JP"/>
                <a:ea typeface="Noto Sans JP"/>
              </a:rPr>
              <a:t>　二次情報が中心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977639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6E767F"/>
                </a:solidFill>
                <a:latin typeface="Consolas"/>
                <a:ea typeface="Consolas"/>
              </a:rPr>
              <a:t>社名右の表記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3616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9AA1A9"/>
                </a:solidFill>
                <a:latin typeface="Consolas"/>
                <a:ea typeface="Consolas"/>
              </a:rPr>
              <a:t>6501 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361688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73C43"/>
                </a:solidFill>
                <a:latin typeface="Noto Sans JP"/>
                <a:ea typeface="Noto Sans JP"/>
              </a:rPr>
              <a:t>証券コード（上場）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4573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9AA1A9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4745736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73C43"/>
                </a:solidFill>
                <a:latin typeface="Noto Sans JP"/>
                <a:ea typeface="Noto Sans JP"/>
              </a:rPr>
              <a:t>未上場・子会社等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5129783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9AA1A9"/>
                </a:solidFill>
                <a:latin typeface="Consolas"/>
                <a:ea typeface="Consolas"/>
              </a:rPr>
              <a:t>米 GEV 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5129783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73C43"/>
                </a:solidFill>
                <a:latin typeface="Noto Sans JP"/>
                <a:ea typeface="Noto Sans JP"/>
              </a:rPr>
              <a:t>海外は国名を併記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6126480"/>
            <a:ext cx="10543032" cy="27432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254496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1A9"/>
                </a:solidFill>
                <a:latin typeface="Consolas"/>
                <a:ea typeface="Consolas"/>
              </a:rPr>
              <a:t>出典：各社決算・IR等の一次情報＋公開データ。詳細は企業マスタ valuechain_master.xlsx ／ research/ を参照。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128016" cy="12801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484632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spc="150">
                <a:solidFill>
                  <a:srgbClr val="E60012"/>
                </a:solidFill>
                <a:latin typeface="Consolas"/>
                <a:ea typeface="Consolas"/>
              </a:rPr>
              <a:t>APPENDIX ・ バリューチェーン別 キー企業一覧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2952" y="484632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9AA1A9"/>
                </a:solidFill>
                <a:latin typeface="Consolas"/>
                <a:ea typeface="Consolas"/>
              </a:rPr>
              <a:t>付録 1 / 4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877824"/>
            <a:ext cx="10543032" cy="1524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143000"/>
            <a:ext cx="109728" cy="2286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1078992"/>
            <a:ext cx="47777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60012"/>
                </a:solidFill>
                <a:latin typeface="Consolas"/>
                <a:ea typeface="Consolas"/>
              </a:rPr>
              <a:t>01  </a:t>
            </a:r>
            <a:r>
              <a:rPr sz="1150" b="1">
                <a:solidFill>
                  <a:srgbClr val="15181C"/>
                </a:solidFill>
                <a:latin typeface="Noto Sans JP"/>
                <a:ea typeface="Noto Sans JP"/>
              </a:rPr>
              <a:t>特別高圧・大型変圧器</a:t>
            </a: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　12社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444752"/>
            <a:ext cx="4997196" cy="1016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1554480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14813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日立製作所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5716" y="14813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6501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1783080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17099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三菱電機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5716" y="17099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6503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0116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1938527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東芝エネルギーシステムズ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5716" y="1938527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2402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2167127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富士電機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5716" y="2167127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6504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2468879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" y="2395727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明電舎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5716" y="2395727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6508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26974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4128" y="2624327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ダイヘン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85716" y="2624327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6622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29260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8" y="2852927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GE Vernova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85716" y="2852927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米 GEV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1546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4128" y="3081527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Siemens Energy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85716" y="3081527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独 ENR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33832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4128" y="3310127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ABB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85716" y="3310127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瑞 ABBN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36118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4128" y="3538727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HD Hyundai Electric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85716" y="3538727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韓 267260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3840479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8" y="37673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Schneider Electric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85716" y="37673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仏 SU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" y="40690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4128" y="39959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SPX Technologies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85716" y="39959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米 SPXC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2960" y="4306824"/>
            <a:ext cx="109728" cy="2286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2416" y="4242816"/>
            <a:ext cx="47777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60012"/>
                </a:solidFill>
                <a:latin typeface="Consolas"/>
                <a:ea typeface="Consolas"/>
              </a:rPr>
              <a:t>02  </a:t>
            </a:r>
            <a:r>
              <a:rPr sz="1150" b="1">
                <a:solidFill>
                  <a:srgbClr val="15181C"/>
                </a:solidFill>
                <a:latin typeface="Noto Sans JP"/>
                <a:ea typeface="Noto Sans JP"/>
              </a:rPr>
              <a:t>発電機・タービン・非常用電源</a:t>
            </a: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　15社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2960" y="4608576"/>
            <a:ext cx="4997196" cy="1016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22960" y="4718303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24128" y="4645152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三菱重工業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85716" y="46451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7011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2960" y="4946903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24128" y="4873752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川崎重工業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85716" y="48737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7012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2960" y="5175503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24128" y="5102352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IHI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85716" y="51023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7013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22960" y="5404103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24128" y="5330952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富士電機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85716" y="53309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6504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2960" y="5632703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4128" y="5559552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明電舎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85716" y="55595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6508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5861303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24128" y="5788152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デンヨー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85716" y="57881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6517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22960" y="6089903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24128" y="6016752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ヤンマーホールディングス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85716" y="60167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22960" y="6318503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24128" y="6245352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GE Vernova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85716" y="62453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米 GEV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368796" y="1133856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569964" y="1060704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Siemens Energy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31552" y="1060704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独 ENR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68796" y="1362456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569964" y="1289304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Cummins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31552" y="1289304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米 CMI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368796" y="1591056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69964" y="1517904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Caterpillar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31552" y="1517904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米 CAT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368796" y="1819656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569964" y="1746504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Generac Holdings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31552" y="1746504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米 GNRC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368796" y="2048255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569964" y="1975103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Wärtsilä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131552" y="1975103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芬 WRT1V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368796" y="2276856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569964" y="2203703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Rolls-Royce Power Systems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131552" y="2203703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独 RR.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368796" y="2505456"/>
            <a:ext cx="91440" cy="91440"/>
          </a:xfrm>
          <a:prstGeom prst="rect">
            <a:avLst/>
          </a:prstGeom>
          <a:solidFill>
            <a:srgbClr val="9AA1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69964" y="2432303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Kohler Energy / Rehlko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131552" y="2432303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368796" y="2743199"/>
            <a:ext cx="109728" cy="2286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8252" y="2679191"/>
            <a:ext cx="47777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60012"/>
                </a:solidFill>
                <a:latin typeface="Consolas"/>
                <a:ea typeface="Consolas"/>
              </a:rPr>
              <a:t>03  </a:t>
            </a:r>
            <a:r>
              <a:rPr sz="1150" b="1">
                <a:solidFill>
                  <a:srgbClr val="15181C"/>
                </a:solidFill>
                <a:latin typeface="Noto Sans JP"/>
                <a:ea typeface="Noto Sans JP"/>
              </a:rPr>
              <a:t>送配電（開閉装置・遮断器）</a:t>
            </a: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　11社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68796" y="3044951"/>
            <a:ext cx="4997196" cy="1016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368796" y="31546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569964" y="3081527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日立製作所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131552" y="3081527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6501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368796" y="33832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569964" y="3310127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三菱電機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31552" y="3310127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6503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368796" y="36118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569964" y="3538727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東芝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131552" y="3538727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368796" y="3840479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569964" y="37673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日新電機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131552" y="37673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68796" y="40690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569964" y="39959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Hitachi Energy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131552" y="39959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368796" y="42976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569964" y="42245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ABB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131552" y="42245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瑞 ABBN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368796" y="45262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569964" y="44531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Siemens Energy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131552" y="44531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独 ENR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68796" y="47548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569964" y="46817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Schneider Electric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131552" y="46817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仏 SU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6368796" y="49834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569964" y="49103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Eaton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131552" y="49103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愛 ETN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68796" y="5212079"/>
            <a:ext cx="91440" cy="91440"/>
          </a:xfrm>
          <a:prstGeom prst="rect">
            <a:avLst/>
          </a:prstGeom>
          <a:solidFill>
            <a:srgbClr val="9AA1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569964" y="51389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G&amp;W Electric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131552" y="51389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368796" y="5440679"/>
            <a:ext cx="91440" cy="91440"/>
          </a:xfrm>
          <a:prstGeom prst="rect">
            <a:avLst/>
          </a:prstGeom>
          <a:solidFill>
            <a:srgbClr val="9AA1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569964" y="53675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S&amp;C Electric Company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131552" y="53675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368796" y="5678424"/>
            <a:ext cx="109728" cy="2286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588252" y="5614416"/>
            <a:ext cx="47777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60012"/>
                </a:solidFill>
                <a:latin typeface="Consolas"/>
                <a:ea typeface="Consolas"/>
              </a:rPr>
              <a:t>04  </a:t>
            </a:r>
            <a:r>
              <a:rPr sz="1150" b="1">
                <a:solidFill>
                  <a:srgbClr val="15181C"/>
                </a:solidFill>
                <a:latin typeface="Noto Sans JP"/>
                <a:ea typeface="Noto Sans JP"/>
              </a:rPr>
              <a:t>DC建設ゼネコン</a:t>
            </a: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　13社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368796" y="5980176"/>
            <a:ext cx="4997196" cy="1016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368796" y="6089903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569964" y="6016752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鹿島建設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131552" y="60167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1812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368796" y="6318503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569964" y="6245352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大成建設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131552" y="62453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1801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128016" cy="12801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484632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spc="150">
                <a:solidFill>
                  <a:srgbClr val="E60012"/>
                </a:solidFill>
                <a:latin typeface="Consolas"/>
                <a:ea typeface="Consolas"/>
              </a:rPr>
              <a:t>APPENDIX ・ バリューチェーン別 キー企業一覧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2952" y="484632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9AA1A9"/>
                </a:solidFill>
                <a:latin typeface="Consolas"/>
                <a:ea typeface="Consolas"/>
              </a:rPr>
              <a:t>付録 2 / 4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877824"/>
            <a:ext cx="10543032" cy="1524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133856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1060704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清水建設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5716" y="1060704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1803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62456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1289304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大林組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5716" y="1289304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1802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1591056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1517904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竹中工務店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5716" y="1517904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1819656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1746504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戸田建設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5716" y="1746504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1860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048255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1975103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西松建設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5716" y="1975103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1820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2276856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" y="2203703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Turner Construction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5716" y="2203703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2505456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4128" y="2432303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DPR Construction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85716" y="2432303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2734056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8" y="2660903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Holder Construction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85716" y="2660903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2962656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4128" y="2889503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Mortenson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85716" y="2889503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3191256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4128" y="3118103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STOビルディンググループ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85716" y="3118103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3419856"/>
            <a:ext cx="91440" cy="91440"/>
          </a:xfrm>
          <a:prstGeom prst="rect">
            <a:avLst/>
          </a:prstGeom>
          <a:solidFill>
            <a:srgbClr val="9AA1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4128" y="3346703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Fortis Construction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85716" y="3346703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3657599"/>
            <a:ext cx="109728" cy="2286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42416" y="3593591"/>
            <a:ext cx="47777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60012"/>
                </a:solidFill>
                <a:latin typeface="Consolas"/>
                <a:ea typeface="Consolas"/>
              </a:rPr>
              <a:t>05  </a:t>
            </a:r>
            <a:r>
              <a:rPr sz="1150" b="1">
                <a:solidFill>
                  <a:srgbClr val="15181C"/>
                </a:solidFill>
                <a:latin typeface="Noto Sans JP"/>
                <a:ea typeface="Noto Sans JP"/>
              </a:rPr>
              <a:t>DC電気・空調サブコン</a:t>
            </a: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　10社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" y="3959352"/>
            <a:ext cx="4997196" cy="1016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22960" y="40690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4128" y="39959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きんでん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85716" y="39959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1944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2960" y="42976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24128" y="42245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クラフティア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85716" y="42245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1959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" y="45262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24128" y="44531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関電工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85716" y="44531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1942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2960" y="47548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24128" y="46817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ダイダン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85716" y="46817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1980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2960" y="49834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24128" y="49103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高砂熱学工業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85716" y="49103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1969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22960" y="52120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24128" y="51389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新日本空調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85716" y="51389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1952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2960" y="54406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4128" y="53675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三機工業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85716" y="53675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1961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56692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24128" y="55961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住友電設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85716" y="55961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1949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22960" y="5897879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24128" y="58247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日本電設工業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85716" y="58247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1950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22960" y="6126479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24128" y="60533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東洋熱工業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85716" y="60533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368796" y="1143000"/>
            <a:ext cx="109728" cy="2286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588252" y="1078992"/>
            <a:ext cx="47777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60012"/>
                </a:solidFill>
                <a:latin typeface="Consolas"/>
                <a:ea typeface="Consolas"/>
              </a:rPr>
              <a:t>06  </a:t>
            </a:r>
            <a:r>
              <a:rPr sz="1150" b="1">
                <a:solidFill>
                  <a:srgbClr val="15181C"/>
                </a:solidFill>
                <a:latin typeface="Noto Sans JP"/>
                <a:ea typeface="Noto Sans JP"/>
              </a:rPr>
              <a:t>産業冷却・空調（液冷・チラー）</a:t>
            </a: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　13社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68796" y="1444752"/>
            <a:ext cx="4997196" cy="1016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368796" y="1554480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569964" y="14813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高砂熱学工業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31552" y="14813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1969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368796" y="1783080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69964" y="17099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ダイキン工業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31552" y="17099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6367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368796" y="2011679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569964" y="1938527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三菱重工サーマルシステムズ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31552" y="1938527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368796" y="2240279"/>
            <a:ext cx="91440" cy="91440"/>
          </a:xfrm>
          <a:prstGeom prst="rect">
            <a:avLst/>
          </a:prstGeom>
          <a:solidFill>
            <a:srgbClr val="9AA1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569964" y="2167127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荏原冷熱システム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131552" y="2167127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368796" y="24688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569964" y="2395727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Vertiv Holdings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131552" y="2395727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米 VRT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368796" y="2697479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69964" y="2624327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Schneider Electric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131552" y="2624327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仏 SU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368796" y="29260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69964" y="2852927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CoolIT Systems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131552" y="2852927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68796" y="31546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569964" y="3081527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Boyd Corporation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131552" y="3081527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368796" y="33832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569964" y="3310127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Asetek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31552" y="3310127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丁 ASETEK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368796" y="36118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569964" y="3538727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Munters Group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131552" y="3538727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典 MTRS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368796" y="38404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569964" y="37673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Trane Technologies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131552" y="37673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愛 TT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68796" y="40690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569964" y="39959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Johnson Controls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131552" y="39959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愛 JCI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368796" y="4297679"/>
            <a:ext cx="91440" cy="91440"/>
          </a:xfrm>
          <a:prstGeom prst="rect">
            <a:avLst/>
          </a:prstGeom>
          <a:solidFill>
            <a:srgbClr val="9AA1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569964" y="42245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STULZ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131552" y="42245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368796" y="4535424"/>
            <a:ext cx="109728" cy="2286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588252" y="4471416"/>
            <a:ext cx="47777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60012"/>
                </a:solidFill>
                <a:latin typeface="Consolas"/>
                <a:ea typeface="Consolas"/>
              </a:rPr>
              <a:t>07  </a:t>
            </a:r>
            <a:r>
              <a:rPr sz="1150" b="1">
                <a:solidFill>
                  <a:srgbClr val="15181C"/>
                </a:solidFill>
                <a:latin typeface="Noto Sans JP"/>
                <a:ea typeface="Noto Sans JP"/>
              </a:rPr>
              <a:t>電線・ケーブル・光ファイバー</a:t>
            </a: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　10社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368796" y="4837176"/>
            <a:ext cx="4997196" cy="1016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6368796" y="4946903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569964" y="4873752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古河電気工業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131552" y="48737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5801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6368796" y="5175503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569964" y="5102352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住友電気工業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131552" y="51023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5802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68796" y="5404103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569964" y="5330952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フジクラ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131552" y="53309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5803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368796" y="5632703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569964" y="5559552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SWCC（旧昭和電線ホールディングス）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131552" y="55595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5805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368796" y="5861303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569964" y="5788152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Prysmian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131552" y="57881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伊 PRY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368796" y="6089903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569964" y="6016752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Nexans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131552" y="60167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仏 NEX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368796" y="6318503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569964" y="6245352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Corning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131552" y="62453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米 GLW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128016" cy="12801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484632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spc="150">
                <a:solidFill>
                  <a:srgbClr val="E60012"/>
                </a:solidFill>
                <a:latin typeface="Consolas"/>
                <a:ea typeface="Consolas"/>
              </a:rPr>
              <a:t>APPENDIX ・ バリューチェーン別 キー企業一覧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2952" y="484632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9AA1A9"/>
                </a:solidFill>
                <a:latin typeface="Consolas"/>
                <a:ea typeface="Consolas"/>
              </a:rPr>
              <a:t>付録 3 / 4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877824"/>
            <a:ext cx="10543032" cy="1524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133856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1060704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Amphenol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5716" y="1060704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米 APH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62456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1289304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LS Cable &amp;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5716" y="1289304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1591056"/>
            <a:ext cx="91440" cy="91440"/>
          </a:xfrm>
          <a:prstGeom prst="rect">
            <a:avLst/>
          </a:prstGeom>
          <a:solidFill>
            <a:srgbClr val="9AA1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1517904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NKT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5716" y="1517904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丁 NKT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1828800"/>
            <a:ext cx="109728" cy="2286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1764792"/>
            <a:ext cx="47777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60012"/>
                </a:solidFill>
                <a:latin typeface="Consolas"/>
                <a:ea typeface="Consolas"/>
              </a:rPr>
              <a:t>08  </a:t>
            </a:r>
            <a:r>
              <a:rPr sz="1150" b="1">
                <a:solidFill>
                  <a:srgbClr val="15181C"/>
                </a:solidFill>
                <a:latin typeface="Noto Sans JP"/>
                <a:ea typeface="Noto Sans JP"/>
              </a:rPr>
              <a:t>半導体前工程（ファウンドリ/メモリ）</a:t>
            </a: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　7社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130552"/>
            <a:ext cx="4997196" cy="1016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2240280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21671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TSMC（台湾積体電路製造）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5716" y="21671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台 2330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2468880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" y="23957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Samsung Electronics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5716" y="23957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韓 005930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2697480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4128" y="26243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SK hynix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85716" y="26243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韓 000660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2926080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8" y="28529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Micron Technology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85716" y="28529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米 MU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154680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4128" y="30815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Kioxia Holdings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85716" y="30815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285A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3383280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4128" y="33101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Intel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85716" y="33101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米 INTC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3611880"/>
            <a:ext cx="91440" cy="91440"/>
          </a:xfrm>
          <a:prstGeom prst="rect">
            <a:avLst/>
          </a:prstGeom>
          <a:solidFill>
            <a:srgbClr val="9AA1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4128" y="35387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ラピダス（Rapidus）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85716" y="35387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3849624"/>
            <a:ext cx="109728" cy="2286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42416" y="3785616"/>
            <a:ext cx="47777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60012"/>
                </a:solidFill>
                <a:latin typeface="Consolas"/>
                <a:ea typeface="Consolas"/>
              </a:rPr>
              <a:t>09  </a:t>
            </a:r>
            <a:r>
              <a:rPr sz="1150" b="1">
                <a:solidFill>
                  <a:srgbClr val="15181C"/>
                </a:solidFill>
                <a:latin typeface="Noto Sans JP"/>
                <a:ea typeface="Noto Sans JP"/>
              </a:rPr>
              <a:t>半導体後工程（パッケージング）</a:t>
            </a: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　6社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" y="4151376"/>
            <a:ext cx="4997196" cy="1016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22960" y="4261104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4128" y="4187952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TSMC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85716" y="41879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台 2330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2960" y="4489704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24128" y="4416552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ASE Technology Holding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85716" y="44165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台 3711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" y="4718304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24128" y="4645152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Amkor Technology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85716" y="46451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米 AMKR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2960" y="4946904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24128" y="4873752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长电科技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85716" y="48737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中 600584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2960" y="5175504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24128" y="5102352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通富微电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85716" y="51023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中 002156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22960" y="5404104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24128" y="5330952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力成科技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85716" y="53309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台 6239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2960" y="5641848"/>
            <a:ext cx="109728" cy="2286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42416" y="5577840"/>
            <a:ext cx="47777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60012"/>
                </a:solidFill>
                <a:latin typeface="Consolas"/>
                <a:ea typeface="Consolas"/>
              </a:rPr>
              <a:t>10  </a:t>
            </a:r>
            <a:r>
              <a:rPr sz="1150" b="1">
                <a:solidFill>
                  <a:srgbClr val="15181C"/>
                </a:solidFill>
                <a:latin typeface="Noto Sans JP"/>
                <a:ea typeface="Noto Sans JP"/>
              </a:rPr>
              <a:t>半導体製造装置・部材</a:t>
            </a: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　10社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22960" y="5943600"/>
            <a:ext cx="4997196" cy="1016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22960" y="6053328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24128" y="5980176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東京エレクトロン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85716" y="5980176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8035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22960" y="6281928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24128" y="6208776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ASML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85716" y="6208776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蘭 ASML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68796" y="1133856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569964" y="1060704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Applied Materials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31552" y="1060704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米 AMAT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368796" y="1362456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569964" y="1289304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Lam Research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31552" y="1289304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米 LRCX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68796" y="1591056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569964" y="1517904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KLA Corporation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31552" y="1517904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米 KLAC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368796" y="1819656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69964" y="1746504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SUMCO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31552" y="1746504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3436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368796" y="2048255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569964" y="1975103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信越化学工業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31552" y="1975103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4063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368796" y="2276856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569964" y="2203703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レゾナック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131552" y="2203703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4004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368796" y="2505456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569964" y="2432303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ディスコ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131552" y="2432303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6146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368796" y="2734056"/>
            <a:ext cx="91440" cy="91440"/>
          </a:xfrm>
          <a:prstGeom prst="rect">
            <a:avLst/>
          </a:prstGeom>
          <a:solidFill>
            <a:srgbClr val="9AA1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69964" y="2660903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SCREENホールディングス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131552" y="2660903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7735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368796" y="2971799"/>
            <a:ext cx="109728" cy="2286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8252" y="2907791"/>
            <a:ext cx="47777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60012"/>
                </a:solidFill>
                <a:latin typeface="Consolas"/>
                <a:ea typeface="Consolas"/>
              </a:rPr>
              <a:t>11  </a:t>
            </a:r>
            <a:r>
              <a:rPr sz="1150" b="1">
                <a:solidFill>
                  <a:srgbClr val="15181C"/>
                </a:solidFill>
                <a:latin typeface="Noto Sans JP"/>
                <a:ea typeface="Noto Sans JP"/>
              </a:rPr>
              <a:t>電力インフラ（発送電・系統増強）</a:t>
            </a: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　9社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68796" y="3273551"/>
            <a:ext cx="4997196" cy="1016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368796" y="33832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569964" y="3310127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NextEra Energy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131552" y="3310127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米 NEE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368796" y="36118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569964" y="3538727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American Electric Power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31552" y="3538727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米 AEP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368796" y="38404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569964" y="37673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Dominion Energy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131552" y="37673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米 D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368796" y="40690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569964" y="39959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Duke Energy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131552" y="39959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米 DUK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68796" y="42976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569964" y="42245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Southern Company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131552" y="42245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米 SO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368796" y="4526279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569964" y="44531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関西電力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131552" y="44531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9503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368796" y="4754879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569964" y="46817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東京電力ホールディングス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131552" y="46817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9501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68796" y="49834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569964" y="49103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九州電力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131552" y="49103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9508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6368796" y="5212079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569964" y="51389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中部電力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131552" y="51389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9502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68796" y="5449824"/>
            <a:ext cx="109728" cy="2286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588252" y="5385816"/>
            <a:ext cx="47777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60012"/>
                </a:solidFill>
                <a:latin typeface="Consolas"/>
                <a:ea typeface="Consolas"/>
              </a:rPr>
              <a:t>12  </a:t>
            </a:r>
            <a:r>
              <a:rPr sz="1150" b="1">
                <a:solidFill>
                  <a:srgbClr val="15181C"/>
                </a:solidFill>
                <a:latin typeface="Noto Sans JP"/>
                <a:ea typeface="Noto Sans JP"/>
              </a:rPr>
              <a:t>非常用発電機・UPS</a:t>
            </a: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　8社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6368796" y="5751576"/>
            <a:ext cx="4997196" cy="1016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368796" y="5861303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569964" y="5788152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Eaton Corporation plc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131552" y="57881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愛 ETN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368796" y="6089903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569964" y="6016752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台達電子工業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131552" y="60167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台 2308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368796" y="6318503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569964" y="6245352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Piller Power Systems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131552" y="62453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非上場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128016" cy="12801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484632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spc="150">
                <a:solidFill>
                  <a:srgbClr val="E60012"/>
                </a:solidFill>
                <a:latin typeface="Consolas"/>
                <a:ea typeface="Consolas"/>
              </a:rPr>
              <a:t>APPENDIX ・ バリューチェーン別 キー企業一覧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2952" y="484632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9AA1A9"/>
                </a:solidFill>
                <a:latin typeface="Consolas"/>
                <a:ea typeface="Consolas"/>
              </a:rPr>
              <a:t>付録 4 / 4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877824"/>
            <a:ext cx="10543032" cy="1524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133856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1060704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ジーエス・ユアサ コーポレーション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5716" y="1060704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6674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62456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1289304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EnerSys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5716" y="1289304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米 ENS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1591056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1517904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エア・ウォーター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5716" y="1517904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4088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1819656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1746504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科華數據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5716" y="1746504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中 002335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048255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1975103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科士達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5716" y="1975103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中 002518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2285999"/>
            <a:ext cx="109728" cy="2286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" y="2221991"/>
            <a:ext cx="47777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60012"/>
                </a:solidFill>
                <a:latin typeface="Consolas"/>
                <a:ea typeface="Consolas"/>
              </a:rPr>
              <a:t>13  </a:t>
            </a:r>
            <a:r>
              <a:rPr sz="1150" b="1">
                <a:solidFill>
                  <a:srgbClr val="15181C"/>
                </a:solidFill>
                <a:latin typeface="Noto Sans JP"/>
                <a:ea typeface="Noto Sans JP"/>
              </a:rPr>
              <a:t>防音・免震・セキュリティ</a:t>
            </a: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　3社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2587751"/>
            <a:ext cx="4997196" cy="1016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2697479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4128" y="2624327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オイレス工業株式会社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85716" y="2624327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6282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29260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8" y="2852927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日創グループ株式会社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85716" y="2852927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3440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1546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4128" y="3081527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オプテックスグループ株式会社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85716" y="3081527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6914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3392423"/>
            <a:ext cx="109728" cy="2286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2416" y="3328415"/>
            <a:ext cx="47777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60012"/>
                </a:solidFill>
                <a:latin typeface="Consolas"/>
                <a:ea typeface="Consolas"/>
              </a:rPr>
              <a:t>14  </a:t>
            </a:r>
            <a:r>
              <a:rPr sz="1150" b="1">
                <a:solidFill>
                  <a:srgbClr val="15181C"/>
                </a:solidFill>
                <a:latin typeface="Noto Sans JP"/>
                <a:ea typeface="Noto Sans JP"/>
              </a:rPr>
              <a:t>建設資材・特殊建材</a:t>
            </a: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　1社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3694176"/>
            <a:ext cx="4997196" cy="1016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2960" y="3803903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4128" y="3730752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ヤマックス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85716" y="37307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5285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4041648"/>
            <a:ext cx="109728" cy="2286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42416" y="3977639"/>
            <a:ext cx="47777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60012"/>
                </a:solidFill>
                <a:latin typeface="Consolas"/>
                <a:ea typeface="Consolas"/>
              </a:rPr>
              <a:t>15  </a:t>
            </a:r>
            <a:r>
              <a:rPr sz="1150" b="1">
                <a:solidFill>
                  <a:srgbClr val="15181C"/>
                </a:solidFill>
                <a:latin typeface="Noto Sans JP"/>
                <a:ea typeface="Noto Sans JP"/>
              </a:rPr>
              <a:t>半導体装置 部品・サブシステム</a:t>
            </a: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　9社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" y="4343400"/>
            <a:ext cx="4997196" cy="1016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22960" y="4453127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4128" y="4379976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SMC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85716" y="4379976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6273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2960" y="4681727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24128" y="4608576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CKD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85716" y="4608576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6407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" y="4910327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24128" y="4837176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日本ピラー工業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85716" y="4837176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6490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2960" y="5138927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24128" y="5065776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イーグル工業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85716" y="5065776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6486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2960" y="5367527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24128" y="5294376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堀場製作所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85716" y="5294376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6856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22960" y="5596127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24128" y="5522976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ローツェ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85716" y="5522976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6323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2960" y="5824727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4128" y="5751576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アドバンテスト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85716" y="5751576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6857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6053327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24128" y="5980176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ダイフク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85716" y="5980176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6383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22960" y="6281927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24128" y="6208776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フェローテックホールディングス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85716" y="6208776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6890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68796" y="1143000"/>
            <a:ext cx="109728" cy="2286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588252" y="1078992"/>
            <a:ext cx="47777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60012"/>
                </a:solidFill>
                <a:latin typeface="Consolas"/>
                <a:ea typeface="Consolas"/>
              </a:rPr>
              <a:t>16  </a:t>
            </a:r>
            <a:r>
              <a:rPr sz="1150" b="1">
                <a:solidFill>
                  <a:srgbClr val="15181C"/>
                </a:solidFill>
                <a:latin typeface="Noto Sans JP"/>
                <a:ea typeface="Noto Sans JP"/>
              </a:rPr>
              <a:t>電子部品・基板・産業ガス</a:t>
            </a: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　8社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68796" y="1444752"/>
            <a:ext cx="4997196" cy="1016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68796" y="1554480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569964" y="14813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イビデン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31552" y="14813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4062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68796" y="1783080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569964" y="1709928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新光電気工業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31552" y="1709928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6967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368796" y="20116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69964" y="1938527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村田製作所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31552" y="1938527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6981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368796" y="22402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569964" y="2167127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TDK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31552" y="2167127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6762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368796" y="2468879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569964" y="2395727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日本酸素ホールディングス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131552" y="2395727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4091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368796" y="2697479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569964" y="2624327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関東電化工業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131552" y="2624327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4047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368796" y="29260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69964" y="2852927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トリケミカル研究所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131552" y="2852927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4369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368796" y="3154679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69964" y="3081527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太陽誘電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131552" y="3081527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6976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68796" y="3392423"/>
            <a:ext cx="109728" cy="2286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588252" y="3328415"/>
            <a:ext cx="47777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60012"/>
                </a:solidFill>
                <a:latin typeface="Consolas"/>
                <a:ea typeface="Consolas"/>
              </a:rPr>
              <a:t>17  </a:t>
            </a:r>
            <a:r>
              <a:rPr sz="1150" b="1">
                <a:solidFill>
                  <a:srgbClr val="15181C"/>
                </a:solidFill>
                <a:latin typeface="Noto Sans JP"/>
                <a:ea typeface="Noto Sans JP"/>
              </a:rPr>
              <a:t>DC構築SI・DC運営</a:t>
            </a: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　8社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368796" y="3694176"/>
            <a:ext cx="4997196" cy="1016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368796" y="3803903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569964" y="3730752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さくらインターネット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31552" y="37307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3778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368796" y="4032503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569964" y="3959352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インターネットイニシアティブ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131552" y="39593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3774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368796" y="4261103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569964" y="4187952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NTTデータグループ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131552" y="41879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9613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68796" y="4489703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569964" y="4416552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アイネット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131552" y="44165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9600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368796" y="4718303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569964" y="4645152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兼松エレクトロニクス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131552" y="46451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8096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368796" y="4946903"/>
            <a:ext cx="91440" cy="9144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569964" y="4873752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伊藤忠テクノソリューションズ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131552" y="48737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4739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68796" y="5175503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569964" y="5102352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NECネッツエスアイ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131552" y="51023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6368796" y="5404103"/>
            <a:ext cx="91440" cy="91440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569964" y="5330952"/>
            <a:ext cx="35158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NTTファシリティーズ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131552" y="5330952"/>
            <a:ext cx="1234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AA1A9"/>
                </a:solidFill>
                <a:latin typeface="Consolas"/>
                <a:ea typeface="Consolas"/>
              </a:rPr>
              <a:t>非上場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