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307592"/>
            <a:ext cx="9692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200">
                <a:solidFill>
                  <a:srgbClr val="E60012"/>
                </a:solidFill>
                <a:latin typeface="Consolas"/>
                <a:ea typeface="Consolas"/>
              </a:rPr>
              <a:t>ANDPAD 本部総会  ·  WHY MANUFACTURING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57400"/>
            <a:ext cx="10789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900" b="1">
                <a:solidFill>
                  <a:srgbClr val="1A1D21"/>
                </a:solidFill>
                <a:latin typeface="Noto Sans JP"/>
                <a:ea typeface="Noto Sans JP"/>
              </a:rPr>
              <a:t>建設SaaSの我々が、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900" b="1">
                <a:solidFill>
                  <a:srgbClr val="1A1D21"/>
                </a:solidFill>
                <a:latin typeface="Noto Sans JP"/>
                <a:ea typeface="Noto Sans JP"/>
              </a:rPr>
              <a:t>なぜ、いま</a:t>
            </a:r>
            <a:r>
              <a:rPr sz="3900" b="1">
                <a:solidFill>
                  <a:srgbClr val="E60012"/>
                </a:solidFill>
                <a:latin typeface="Noto Sans JP"/>
                <a:ea typeface="Noto Sans JP"/>
              </a:rPr>
              <a:t>製造業</a:t>
            </a:r>
            <a:r>
              <a:rPr sz="3900" b="1">
                <a:solidFill>
                  <a:srgbClr val="1A1D21"/>
                </a:solidFill>
                <a:latin typeface="Noto Sans JP"/>
                <a:ea typeface="Noto Sans JP"/>
              </a:rPr>
              <a:t>なのか。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0690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3C4148"/>
                </a:solidFill>
                <a:latin typeface="Noto Sans JP"/>
                <a:ea typeface="Noto Sans JP"/>
              </a:rPr>
              <a:t>AIが、日本の製造業を</a:t>
            </a:r>
            <a:r>
              <a:rPr sz="1900" b="1">
                <a:solidFill>
                  <a:srgbClr val="E60012"/>
                </a:solidFill>
                <a:latin typeface="Noto Sans JP"/>
                <a:ea typeface="Noto Sans JP"/>
              </a:rPr>
              <a:t>“歴史的な建設・据付ラッシュ”</a:t>
            </a:r>
            <a:r>
              <a:rPr sz="1900" b="0">
                <a:solidFill>
                  <a:srgbClr val="3C4148"/>
                </a:solidFill>
                <a:latin typeface="Noto Sans JP"/>
                <a:ea typeface="Noto Sans JP"/>
              </a:rPr>
              <a:t>に変えている。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5029200"/>
            <a:ext cx="3840480" cy="27432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212080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C4148"/>
                </a:solidFill>
                <a:latin typeface="Noto Sans JP"/>
                <a:ea typeface="Noto Sans JP"/>
              </a:rPr>
              <a:t>しかもお金の大半は、建物ではなく“電気・機械設備”＝製造業に流れる。据付・試運転・保守まで人が動き続ける。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C4148"/>
                </a:solidFill>
                <a:latin typeface="Noto Sans JP"/>
                <a:ea typeface="Noto Sans JP"/>
              </a:rPr>
              <a:t>増える現場、足りない人手。その差を埋めるのが、我々ANDPADの現場管理だ。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4008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2026-07  /  出典：AIインフラ・バリューチェーン調査（国内外154社・決算/IR一次情報）＋公開データ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なぜ、いま製造業がアツいのか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1D21"/>
                </a:solidFill>
                <a:latin typeface="Noto Sans JP"/>
                <a:ea typeface="Noto Sans JP"/>
              </a:rPr>
              <a:t>AIブームは“クラウドの話”ではない。電気と鉄と現場の話だ。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481328"/>
            <a:ext cx="3429000" cy="91440"/>
          </a:xfrm>
          <a:prstGeom prst="roundRect">
            <a:avLst>
              <a:gd name="adj" fmla="val 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37360"/>
            <a:ext cx="2916936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きっかけ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1A1D21"/>
                </a:solidFill>
                <a:latin typeface="Noto Sans JP"/>
                <a:ea typeface="Noto Sans JP"/>
              </a:rPr>
              <a:t>AIは“電気と設備の塊”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DC（データセンター）1棟で数万世帯分の電力。膨大な発電・変圧器・冷却・半導体が要る。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1984248"/>
            <a:ext cx="329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6001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81328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1481328"/>
            <a:ext cx="3429000" cy="91440"/>
          </a:xfrm>
          <a:prstGeom prst="roundRect">
            <a:avLst>
              <a:gd name="adj" fmla="val 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37360"/>
            <a:ext cx="2916936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連鎖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1A1D21"/>
                </a:solidFill>
                <a:latin typeface="Noto Sans JP"/>
                <a:ea typeface="Noto Sans JP"/>
              </a:rPr>
              <a:t>製造業が一斉に動き出す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重電・電線・空調・UPS・半導体——各社が工場を増設し、機器の製造・納入・据付が全国で立ち上がる。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1984248"/>
            <a:ext cx="329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6001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81328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1481328"/>
            <a:ext cx="3429000" cy="91440"/>
          </a:xfrm>
          <a:prstGeom prst="roundRect">
            <a:avLst>
              <a:gd name="adj" fmla="val 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737360"/>
            <a:ext cx="2916936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結果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1A1D21"/>
                </a:solidFill>
                <a:latin typeface="Noto Sans JP"/>
                <a:ea typeface="Noto Sans JP"/>
              </a:rPr>
              <a:t>“現場”が全国で急増する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工場を建てる現場も、機器を据え付け・試運転・保守する現場も、同時多発で増えていく。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11880"/>
            <a:ext cx="10634472" cy="1234440"/>
          </a:xfrm>
          <a:prstGeom prst="roundRect">
            <a:avLst>
              <a:gd name="adj" fmla="val 5000"/>
            </a:avLst>
          </a:prstGeom>
          <a:solidFill>
            <a:srgbClr val="ECEEF1"/>
          </a:solidFill>
          <a:ln w="15240">
            <a:solidFill>
              <a:srgbClr val="454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1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D21"/>
                </a:solidFill>
                <a:latin typeface="Noto Sans JP"/>
                <a:ea typeface="Noto Sans JP"/>
              </a:rPr>
              <a:t>いま製造業は、建設業のように</a:t>
            </a:r>
            <a:r>
              <a:rPr sz="1700" b="1">
                <a:solidFill>
                  <a:srgbClr val="E60012"/>
                </a:solidFill>
                <a:latin typeface="Noto Sans JP"/>
                <a:ea typeface="Noto Sans JP"/>
              </a:rPr>
              <a:t>“現場だらけ”</a:t>
            </a:r>
            <a:r>
              <a:rPr sz="1700" b="1">
                <a:solidFill>
                  <a:srgbClr val="1A1D21"/>
                </a:solidFill>
                <a:latin typeface="Noto Sans JP"/>
                <a:ea typeface="Noto Sans JP"/>
              </a:rPr>
              <a:t>になっている。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7083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C4148"/>
                </a:solidFill>
                <a:latin typeface="Noto Sans JP"/>
                <a:ea typeface="Noto Sans JP"/>
              </a:rPr>
              <a:t>＝ 我々が建設業で磨いた「現場管理」が、そのまま効く土俵が、製造業に新しく生まれている。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74920"/>
            <a:ext cx="10634472" cy="1143000"/>
          </a:xfrm>
          <a:prstGeom prst="roundRect">
            <a:avLst>
              <a:gd name="adj" fmla="val 5000"/>
            </a:avLst>
          </a:prstGeom>
          <a:solidFill>
            <a:srgbClr val="FDECEE"/>
          </a:solidFill>
          <a:ln w="1270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669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D21"/>
                </a:solidFill>
                <a:latin typeface="Noto Sans JP"/>
                <a:ea typeface="Noto Sans JP"/>
              </a:rPr>
              <a:t>しかもこれは、一過性のブームではない。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74243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C4148"/>
                </a:solidFill>
                <a:latin typeface="Noto Sans JP"/>
                <a:ea typeface="Noto Sans JP"/>
              </a:rPr>
              <a:t>各社の受注残・設備投資計画・売上ガイダンスに裏打ちされた、数年〜十数年続く</a:t>
            </a:r>
            <a:r>
              <a:rPr sz="1250" b="1">
                <a:solidFill>
                  <a:srgbClr val="E60012"/>
                </a:solidFill>
                <a:latin typeface="Noto Sans JP"/>
                <a:ea typeface="Noto Sans JP"/>
              </a:rPr>
              <a:t>構造需要</a:t>
            </a:r>
            <a:r>
              <a:rPr sz="1250" b="0">
                <a:solidFill>
                  <a:srgbClr val="3C4148"/>
                </a:solidFill>
                <a:latin typeface="Noto Sans JP"/>
                <a:ea typeface="Noto Sans JP"/>
              </a:rPr>
              <a:t>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AI投資の規模を、体感する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1D21"/>
                </a:solidFill>
                <a:latin typeface="Noto Sans JP"/>
                <a:ea typeface="Noto Sans JP"/>
              </a:rPr>
              <a:t>その金額、ピンとこない。だから“身近なもの”に換算する。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27048"/>
            <a:ext cx="566928" cy="548640"/>
          </a:xfrm>
          <a:prstGeom prst="roundRect">
            <a:avLst>
              <a:gd name="adj" fmla="val 14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Consolas"/>
                <a:ea typeface="Consolas"/>
              </a:rPr>
              <a:t>／年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72184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60012"/>
                </a:solidFill>
                <a:latin typeface="Noto Sans JP"/>
                <a:ea typeface="Noto Sans JP"/>
              </a:rPr>
              <a:t>110兆円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16712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098"/>
                </a:solidFill>
                <a:latin typeface="Consolas"/>
                <a:ea typeface="Consolas"/>
              </a:rPr>
              <a:t>Big Tech 4社のAI投資（'26）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472184"/>
            <a:ext cx="4572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454B54"/>
                </a:solidFill>
                <a:latin typeface="Consolas"/>
                <a:ea typeface="Consolas"/>
              </a:rPr>
              <a:t>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417320"/>
            <a:ext cx="598932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D21"/>
                </a:solidFill>
                <a:latin typeface="Noto Sans JP"/>
                <a:ea typeface="Noto Sans JP"/>
              </a:rPr>
              <a:t>日本の国家予算（115兆円）まるごと1年分。それを“毎年”、たった4社が。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59736"/>
            <a:ext cx="10634472" cy="987551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569464"/>
            <a:ext cx="566928" cy="548640"/>
          </a:xfrm>
          <a:prstGeom prst="roundRect">
            <a:avLst>
              <a:gd name="adj" fmla="val 14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69464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Consolas"/>
                <a:ea typeface="Consolas"/>
              </a:rPr>
              <a:t>累計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514600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60012"/>
                </a:solidFill>
                <a:latin typeface="Noto Sans JP"/>
                <a:ea typeface="Noto Sans JP"/>
              </a:rPr>
              <a:t>780兆円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20954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098"/>
                </a:solidFill>
                <a:latin typeface="Consolas"/>
                <a:ea typeface="Consolas"/>
              </a:rPr>
              <a:t>世界のAI DC投資（〜'30・McKinsey）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514600"/>
            <a:ext cx="4572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454B54"/>
                </a:solidFill>
                <a:latin typeface="Consolas"/>
                <a:ea typeface="Consolas"/>
              </a:rPr>
              <a:t>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59736"/>
            <a:ext cx="598932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D21"/>
                </a:solidFill>
                <a:latin typeface="Noto Sans JP"/>
                <a:ea typeface="Noto Sans JP"/>
              </a:rPr>
              <a:t>日本のGDP（約600兆円）を超える規模。国家予算に換算すると 約7年分。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611880"/>
            <a:ext cx="566928" cy="548640"/>
          </a:xfrm>
          <a:prstGeom prst="roundRect">
            <a:avLst>
              <a:gd name="adj" fmla="val 14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11880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Consolas"/>
                <a:ea typeface="Consolas"/>
              </a:rPr>
              <a:t>対日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557016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60012"/>
                </a:solidFill>
                <a:latin typeface="Noto Sans JP"/>
                <a:ea typeface="Noto Sans JP"/>
              </a:rPr>
              <a:t>4.8兆円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251960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098"/>
                </a:solidFill>
                <a:latin typeface="Consolas"/>
                <a:ea typeface="Consolas"/>
              </a:rPr>
              <a:t>米クラウド大手の対日DC投資（〜'30）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557016"/>
            <a:ext cx="4572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454B54"/>
                </a:solidFill>
                <a:latin typeface="Consolas"/>
                <a:ea typeface="Consolas"/>
              </a:rPr>
              <a:t>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502152"/>
            <a:ext cx="598932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D21"/>
                </a:solidFill>
                <a:latin typeface="Noto Sans JP"/>
                <a:ea typeface="Noto Sans JP"/>
              </a:rPr>
              <a:t>大型DC（1棟 約300億円）を 150棟以上 建てられる額が、日本に落ちる。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44568"/>
            <a:ext cx="10634472" cy="987551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4654296"/>
            <a:ext cx="566928" cy="548640"/>
          </a:xfrm>
          <a:prstGeom prst="roundRect">
            <a:avLst>
              <a:gd name="adj" fmla="val 14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54296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Consolas"/>
                <a:ea typeface="Consolas"/>
              </a:rPr>
              <a:t>電力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599431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60012"/>
                </a:solidFill>
                <a:latin typeface="Noto Sans JP"/>
                <a:ea typeface="Noto Sans JP"/>
              </a:rPr>
              <a:t>13倍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5294376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098"/>
                </a:solidFill>
                <a:latin typeface="Consolas"/>
                <a:ea typeface="Consolas"/>
              </a:rPr>
              <a:t>国内DC・半導体の最大電力（10年で）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599431"/>
            <a:ext cx="4572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454B54"/>
                </a:solidFill>
                <a:latin typeface="Consolas"/>
                <a:ea typeface="Consolas"/>
              </a:rPr>
              <a:t>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544568"/>
            <a:ext cx="598932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D21"/>
                </a:solidFill>
                <a:latin typeface="Noto Sans JP"/>
                <a:ea typeface="Noto Sans JP"/>
              </a:rPr>
              <a:t>56万→715万kW。増える分だけで 原発 約7基分 の新しい電気が要る（OCCTO）。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742432"/>
            <a:ext cx="10634472" cy="548640"/>
          </a:xfrm>
          <a:prstGeom prst="roundRect">
            <a:avLst>
              <a:gd name="adj" fmla="val 5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CFD4"/>
                </a:solidFill>
                <a:latin typeface="Noto Sans JP"/>
                <a:ea typeface="Noto Sans JP"/>
              </a:rPr>
              <a:t>要するに——</a:t>
            </a:r>
            <a:r>
              <a:rPr sz="1550" b="1">
                <a:solidFill>
                  <a:srgbClr val="FFFFFF"/>
                </a:solidFill>
                <a:latin typeface="Noto Sans JP"/>
                <a:ea typeface="Noto Sans JP"/>
              </a:rPr>
              <a:t>国家予算級のお金が、日本の“建設と設備の現場”に流れ込んでくる。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DC建設費の中身：建設（ゼネコン）と、電気・機械設備（製造業）の比率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1D21"/>
                </a:solidFill>
                <a:latin typeface="Noto Sans JP"/>
                <a:ea typeface="Noto Sans JP"/>
              </a:rPr>
              <a:t>データセンターは“建物”より“設備”。お金の3/4は製造業側へ。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2658618" cy="1143000"/>
          </a:xfrm>
          <a:prstGeom prst="rect">
            <a:avLst/>
          </a:prstGeom>
          <a:solidFill>
            <a:srgbClr val="454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5858" y="1783080"/>
            <a:ext cx="5317236" cy="114300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53094" y="1783080"/>
            <a:ext cx="2658618" cy="1143000"/>
          </a:xfrm>
          <a:prstGeom prst="rect">
            <a:avLst/>
          </a:prstGeom>
          <a:solidFill>
            <a:srgbClr val="F2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4885" y="1783080"/>
            <a:ext cx="2194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42121" y="1783080"/>
            <a:ext cx="2194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265861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建築（躯体）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</a:rPr>
              <a:t>約25%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5858" y="1783080"/>
            <a:ext cx="531723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Noto Sans JP"/>
                <a:ea typeface="Noto Sans JP"/>
              </a:rPr>
              <a:t>電気設備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FFFFFF"/>
                </a:solidFill>
                <a:latin typeface="Noto Sans JP"/>
                <a:ea typeface="Noto Sans JP"/>
              </a:rPr>
              <a:t>約50%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3094" y="1783080"/>
            <a:ext cx="265861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</a:rPr>
              <a:t>空調・機械ほか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Noto Sans JP"/>
                <a:ea typeface="Noto Sans JP"/>
              </a:rPr>
              <a:t>約25%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472184"/>
            <a:ext cx="2658618" cy="237744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2700">
            <a:solidFill>
              <a:srgbClr val="454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472184"/>
            <a:ext cx="265861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54B54"/>
                </a:solidFill>
                <a:latin typeface="Consolas"/>
                <a:ea typeface="Consolas"/>
              </a:rPr>
              <a:t>建設（ゼネコン）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5858" y="1472184"/>
            <a:ext cx="7975854" cy="237744"/>
          </a:xfrm>
          <a:prstGeom prst="roundRect">
            <a:avLst>
              <a:gd name="adj" fmla="val 10000"/>
            </a:avLst>
          </a:prstGeom>
          <a:solidFill>
            <a:srgbClr val="FDECEE"/>
          </a:solidFill>
          <a:ln w="12700">
            <a:solidFill>
              <a:srgbClr val="E6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5858" y="1472184"/>
            <a:ext cx="797585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60012"/>
                </a:solidFill>
                <a:latin typeface="Consolas"/>
                <a:ea typeface="Consolas"/>
              </a:rPr>
              <a:t>設備＝製造業（電気・機械メーカー＋設備工事）  約75%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246120"/>
            <a:ext cx="51206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4015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60012"/>
                </a:solidFill>
                <a:latin typeface="Consolas"/>
                <a:ea typeface="Consolas"/>
              </a:rPr>
              <a:t>設備工事の比率は、用途で全く違う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57599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オフィス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694175"/>
            <a:ext cx="2606040" cy="164592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63240" y="3694175"/>
            <a:ext cx="781812" cy="164592"/>
          </a:xfrm>
          <a:prstGeom prst="roundRect">
            <a:avLst>
              <a:gd name="adj" fmla="val 30000"/>
            </a:avLst>
          </a:prstGeom>
          <a:solidFill>
            <a:srgbClr val="8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3657599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098"/>
                </a:solidFill>
                <a:latin typeface="Consolas"/>
                <a:ea typeface="Consolas"/>
              </a:rPr>
              <a:t>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913632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マンション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3950207"/>
            <a:ext cx="2606040" cy="164592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63240" y="3950207"/>
            <a:ext cx="651510" cy="164592"/>
          </a:xfrm>
          <a:prstGeom prst="roundRect">
            <a:avLst>
              <a:gd name="adj" fmla="val 30000"/>
            </a:avLst>
          </a:prstGeom>
          <a:solidFill>
            <a:srgbClr val="8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4" y="3913632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098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69664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データセンター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206240"/>
            <a:ext cx="2606040" cy="164592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63240" y="4206240"/>
            <a:ext cx="1954530" cy="164592"/>
          </a:xfrm>
          <a:prstGeom prst="roundRect">
            <a:avLst>
              <a:gd name="adj" fmla="val 30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24144" y="4169664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60012"/>
                </a:solidFill>
                <a:latin typeface="Consolas"/>
                <a:ea typeface="Consolas"/>
              </a:rPr>
              <a:t>75%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3246120"/>
            <a:ext cx="5330952" cy="1234440"/>
          </a:xfrm>
          <a:prstGeom prst="roundRect">
            <a:avLst>
              <a:gd name="adj" fmla="val 5000"/>
            </a:avLst>
          </a:prstGeom>
          <a:solidFill>
            <a:srgbClr val="ECEEF1"/>
          </a:solidFill>
          <a:ln w="15240">
            <a:solidFill>
              <a:srgbClr val="454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40156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A1D21"/>
                </a:solidFill>
                <a:latin typeface="Noto Sans JP"/>
                <a:ea typeface="Noto Sans JP"/>
              </a:rPr>
              <a:t>建設業だけを見るのは、</a:t>
            </a:r>
            <a:r>
              <a:rPr sz="1550" b="1">
                <a:solidFill>
                  <a:srgbClr val="E60012"/>
                </a:solidFill>
                <a:latin typeface="Noto Sans JP"/>
                <a:ea typeface="Noto Sans JP"/>
              </a:rPr>
              <a:t>氷山の一角。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C4148"/>
                </a:solidFill>
                <a:latin typeface="Noto Sans JP"/>
                <a:ea typeface="Noto Sans JP"/>
              </a:rPr>
              <a:t>お金の“3/4”は、電気・機械設備＝製造業の世界にある。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709160"/>
            <a:ext cx="10634472" cy="914400"/>
          </a:xfrm>
          <a:prstGeom prst="roundRect">
            <a:avLst>
              <a:gd name="adj" fmla="val 5000"/>
            </a:avLst>
          </a:prstGeom>
          <a:solidFill>
            <a:srgbClr val="FDECEE"/>
          </a:solidFill>
          <a:ln w="1270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70916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D21"/>
                </a:solidFill>
                <a:latin typeface="Noto Sans JP"/>
                <a:ea typeface="Noto Sans JP"/>
              </a:rPr>
              <a:t>大型DC1棟＝数百億〜1,000億円級（IT機器は別）。</a:t>
            </a:r>
            <a:r>
              <a:rPr sz="1400" b="1">
                <a:solidFill>
                  <a:srgbClr val="E60012"/>
                </a:solidFill>
                <a:latin typeface="Noto Sans JP"/>
                <a:ea typeface="Noto Sans JP"/>
              </a:rPr>
              <a:t>その約3/4、1棟あたり数百億円が、製造業側の“設備”に向かう。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出典：日経xTECH（DC建設費は電気設備 約50%＋空調等 約25%＋建築 約25%）／建設費/MW：Cushman &amp; Wakefield・Turner &amp; Townsend。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周辺市場の正体：モノ売りではなく、“現場”がずっと続く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1D21"/>
                </a:solidFill>
                <a:latin typeface="Noto Sans JP"/>
                <a:ea typeface="Noto Sans JP"/>
              </a:rPr>
              <a:t>しかも設備は、作って終わりじゃない。据付・試運転・保守で人が動く。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253060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454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2530602" cy="91440"/>
          </a:xfrm>
          <a:prstGeom prst="rect">
            <a:avLst/>
          </a:prstGeom>
          <a:solidFill>
            <a:srgbClr val="454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82496"/>
            <a:ext cx="21648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D21"/>
                </a:solidFill>
                <a:latin typeface="Noto Sans JP"/>
                <a:ea typeface="Noto Sans JP"/>
              </a:rPr>
              <a:t>①  製造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8A9098"/>
                </a:solidFill>
                <a:latin typeface="Consolas"/>
                <a:ea typeface="Consolas"/>
              </a:rPr>
              <a:t>○ 工場のなか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機器をつくる。ここはメーカーの工場の中。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9554" y="1920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5858" y="1463040"/>
            <a:ext cx="253060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5858" y="1463040"/>
            <a:ext cx="2530602" cy="9144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8738" y="1682496"/>
            <a:ext cx="21648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D21"/>
                </a:solidFill>
                <a:latin typeface="Noto Sans JP"/>
                <a:ea typeface="Noto Sans JP"/>
              </a:rPr>
              <a:t>②  据付・施工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E60012"/>
                </a:solidFill>
                <a:latin typeface="Consolas"/>
                <a:ea typeface="Consolas"/>
              </a:rPr>
              <a:t>● 現場ではじまる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搬入・配線・配管・据付。ここから“現場”が始まる。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8172" y="1920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4476" y="1463040"/>
            <a:ext cx="253060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4476" y="1463040"/>
            <a:ext cx="2530602" cy="9144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7356" y="1682496"/>
            <a:ext cx="21648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D21"/>
                </a:solidFill>
                <a:latin typeface="Noto Sans JP"/>
                <a:ea typeface="Noto Sans JP"/>
              </a:rPr>
              <a:t>③  試運転・調整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E60012"/>
                </a:solidFill>
                <a:latin typeface="Consolas"/>
                <a:ea typeface="Consolas"/>
              </a:rPr>
              <a:t>● 現場でつづく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コミッショニング。建設費の1〜3%が試運転に。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6790" y="1920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3094" y="1463040"/>
            <a:ext cx="253060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3094" y="1463040"/>
            <a:ext cx="2530602" cy="9144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5974" y="1682496"/>
            <a:ext cx="21648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D21"/>
                </a:solidFill>
                <a:latin typeface="Noto Sans JP"/>
                <a:ea typeface="Noto Sans JP"/>
              </a:rPr>
              <a:t>④  アフター保守・運用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E60012"/>
                </a:solidFill>
                <a:latin typeface="Consolas"/>
                <a:ea typeface="Consolas"/>
              </a:rPr>
              <a:t>● 現場でずっと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引き渡し後も点検・更新が続く。建設は一度、保守は毎年。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10128"/>
            <a:ext cx="10634472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31012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C4148"/>
                </a:solidFill>
                <a:latin typeface="Noto Sans JP"/>
                <a:ea typeface="Noto Sans JP"/>
              </a:rPr>
              <a:t>4工程のうち </a:t>
            </a:r>
            <a:r>
              <a:rPr sz="1200" b="1">
                <a:solidFill>
                  <a:srgbClr val="E60012"/>
                </a:solidFill>
                <a:latin typeface="Noto Sans JP"/>
                <a:ea typeface="Noto Sans JP"/>
              </a:rPr>
              <a:t>3つが“現場”</a:t>
            </a: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——製造業の設備ビジネスは、モノを売って終わりではなく、人が現場で動き続ける労働集約の世界。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931920"/>
            <a:ext cx="5120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965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60012"/>
                </a:solidFill>
                <a:latin typeface="Consolas"/>
                <a:ea typeface="Consolas"/>
              </a:rPr>
              <a:t>保守（O&amp;M）は“毎年”積み上がる別市場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40740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60012"/>
                </a:solidFill>
                <a:latin typeface="Consolas"/>
                <a:ea typeface="Consolas"/>
              </a:rPr>
              <a:t>$15.8B → $45.6B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DC運用保守サービス市場（世界・2024→2033）。年率+11%で拡大。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931920"/>
            <a:ext cx="5330952" cy="1417320"/>
          </a:xfrm>
          <a:prstGeom prst="roundRect">
            <a:avLst>
              <a:gd name="adj" fmla="val 5000"/>
            </a:avLst>
          </a:prstGeom>
          <a:solidFill>
            <a:srgbClr val="FDECEE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11480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A1D21"/>
                </a:solidFill>
                <a:latin typeface="Noto Sans JP"/>
                <a:ea typeface="Noto Sans JP"/>
              </a:rPr>
              <a:t>＝ 建設の“周辺”に、より大きく・より長く続く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E60012"/>
                </a:solidFill>
                <a:latin typeface="Noto Sans JP"/>
                <a:ea typeface="Noto Sans JP"/>
              </a:rPr>
              <a:t>“人が動く現場”の市場</a:t>
            </a:r>
            <a:r>
              <a:rPr sz="1350" b="1">
                <a:solidFill>
                  <a:srgbClr val="1A1D21"/>
                </a:solidFill>
                <a:latin typeface="Noto Sans JP"/>
                <a:ea typeface="Noto Sans JP"/>
              </a:rPr>
              <a:t>が広がっている。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C4148"/>
                </a:solidFill>
                <a:latin typeface="Noto Sans JP"/>
                <a:ea typeface="Noto Sans JP"/>
              </a:rPr>
              <a:t>ここはANDPADの現場管理が、そのまま効く。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504688"/>
            <a:ext cx="10634472" cy="713232"/>
          </a:xfrm>
          <a:prstGeom prst="roundRect">
            <a:avLst>
              <a:gd name="adj" fmla="val 5000"/>
            </a:avLst>
          </a:prstGeom>
          <a:solidFill>
            <a:srgbClr val="ECEEF1"/>
          </a:solidFill>
          <a:ln w="15240">
            <a:solidFill>
              <a:srgbClr val="454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04688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D21"/>
                </a:solidFill>
                <a:latin typeface="Noto Sans JP"/>
                <a:ea typeface="Noto Sans JP"/>
              </a:rPr>
              <a:t>これまで建設業だけを相手にしてきた。</a:t>
            </a:r>
            <a:r>
              <a:rPr sz="1450" b="1">
                <a:solidFill>
                  <a:srgbClr val="E60012"/>
                </a:solidFill>
                <a:latin typeface="Noto Sans JP"/>
                <a:ea typeface="Noto Sans JP"/>
              </a:rPr>
              <a:t>その周辺に、設備＋据付＋試運転＋保守という広大な市場がある。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AI需要は、バリューチェーンのどこに効くのか（国内主要プレーヤー）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A1D21"/>
                </a:solidFill>
                <a:latin typeface="Noto Sans JP"/>
                <a:ea typeface="Noto Sans JP"/>
              </a:rPr>
              <a:t>国内のAI投資は、製造業のこの現場に着地している。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896112" cy="786384"/>
          </a:xfrm>
          <a:prstGeom prst="roundRect">
            <a:avLst>
              <a:gd name="adj" fmla="val 9000"/>
            </a:avLst>
          </a:prstGeom>
          <a:solidFill>
            <a:srgbClr val="454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89611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D7DBE0"/>
                </a:solidFill>
                <a:latin typeface="Consolas"/>
                <a:ea typeface="Consolas"/>
              </a:rPr>
              <a:t>起点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AI需要</a:t>
            </a:r>
          </a:p>
        </p:txBody>
      </p:sp>
      <p:sp>
        <p:nvSpPr>
          <p:cNvPr id="10" name="Chevron 9"/>
          <p:cNvSpPr/>
          <p:nvPr/>
        </p:nvSpPr>
        <p:spPr>
          <a:xfrm>
            <a:off x="1764792" y="1417320"/>
            <a:ext cx="2053742" cy="786384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46504" y="1417320"/>
            <a:ext cx="198059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発電・電源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304288"/>
            <a:ext cx="1834286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7672" y="2414016"/>
            <a:ext cx="1596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1"/>
                </a:solidFill>
                <a:latin typeface="Noto Sans JP"/>
                <a:ea typeface="Noto Sans JP"/>
              </a:rPr>
              <a:t>電気をつくる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7672" y="2816352"/>
            <a:ext cx="1596542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7672" y="2907792"/>
            <a:ext cx="159654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0012"/>
                </a:solidFill>
                <a:latin typeface="Noto Sans JP"/>
                <a:ea typeface="Noto Sans JP"/>
              </a:rPr>
              <a:t>受注残 5兆円超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3675887"/>
            <a:ext cx="15965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8A9098"/>
                </a:solidFill>
                <a:latin typeface="Consolas"/>
                <a:ea typeface="Consolas"/>
              </a:rPr>
              <a:t>代表企業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3858768"/>
            <a:ext cx="1596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1A1D21"/>
                </a:solidFill>
                <a:latin typeface="Noto Sans JP"/>
                <a:ea typeface="Noto Sans JP"/>
              </a:rPr>
              <a:t>三菱重工 ガスタービン</a:t>
            </a:r>
          </a:p>
        </p:txBody>
      </p:sp>
      <p:sp>
        <p:nvSpPr>
          <p:cNvPr id="18" name="Chevron 17"/>
          <p:cNvSpPr/>
          <p:nvPr/>
        </p:nvSpPr>
        <p:spPr>
          <a:xfrm>
            <a:off x="3690518" y="1417320"/>
            <a:ext cx="2053742" cy="786384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72230" y="1417320"/>
            <a:ext cx="198059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送変電・電線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54526" y="2304288"/>
            <a:ext cx="1834286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3398" y="2414016"/>
            <a:ext cx="1596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1"/>
                </a:solidFill>
                <a:latin typeface="Noto Sans JP"/>
                <a:ea typeface="Noto Sans JP"/>
              </a:rPr>
              <a:t>電気を送る・変える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73398" y="2816352"/>
            <a:ext cx="1596542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3398" y="2907792"/>
            <a:ext cx="159654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0012"/>
                </a:solidFill>
                <a:latin typeface="Noto Sans JP"/>
                <a:ea typeface="Noto Sans JP"/>
              </a:rPr>
              <a:t>生産能力2倍/予約数年先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3398" y="3675887"/>
            <a:ext cx="15965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8A9098"/>
                </a:solidFill>
                <a:latin typeface="Consolas"/>
                <a:ea typeface="Consolas"/>
              </a:rPr>
              <a:t>代表企業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3398" y="3858768"/>
            <a:ext cx="1596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1A1D21"/>
                </a:solidFill>
                <a:latin typeface="Noto Sans JP"/>
                <a:ea typeface="Noto Sans JP"/>
              </a:rPr>
              <a:t>変圧器各社・フジクラ</a:t>
            </a:r>
          </a:p>
        </p:txBody>
      </p:sp>
      <p:sp>
        <p:nvSpPr>
          <p:cNvPr id="26" name="Chevron 25"/>
          <p:cNvSpPr/>
          <p:nvPr/>
        </p:nvSpPr>
        <p:spPr>
          <a:xfrm>
            <a:off x="5616244" y="1417320"/>
            <a:ext cx="2053742" cy="786384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597956" y="1417320"/>
            <a:ext cx="198059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DC建設・設備工事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80252" y="2304288"/>
            <a:ext cx="1834286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9124" y="2414016"/>
            <a:ext cx="1596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1"/>
                </a:solidFill>
                <a:latin typeface="Noto Sans JP"/>
                <a:ea typeface="Noto Sans JP"/>
              </a:rPr>
              <a:t>箱を建てる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99124" y="2816352"/>
            <a:ext cx="1596542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99124" y="2907792"/>
            <a:ext cx="159654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0012"/>
                </a:solidFill>
                <a:latin typeface="Noto Sans JP"/>
                <a:ea typeface="Noto Sans JP"/>
              </a:rPr>
              <a:t>空調工事 受注 +25.5%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9124" y="3675887"/>
            <a:ext cx="15965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8A9098"/>
                </a:solidFill>
                <a:latin typeface="Consolas"/>
                <a:ea typeface="Consolas"/>
              </a:rPr>
              <a:t>代表企業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9124" y="3858768"/>
            <a:ext cx="1596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1A1D21"/>
                </a:solidFill>
                <a:latin typeface="Noto Sans JP"/>
                <a:ea typeface="Noto Sans JP"/>
              </a:rPr>
              <a:t>ダイダン・高砂熱学ほか</a:t>
            </a:r>
          </a:p>
        </p:txBody>
      </p:sp>
      <p:sp>
        <p:nvSpPr>
          <p:cNvPr id="34" name="Chevron 33"/>
          <p:cNvSpPr/>
          <p:nvPr/>
        </p:nvSpPr>
        <p:spPr>
          <a:xfrm>
            <a:off x="7541971" y="1417320"/>
            <a:ext cx="2053742" cy="786384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23683" y="1417320"/>
            <a:ext cx="198059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冷却・電源保護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05979" y="2304288"/>
            <a:ext cx="1834286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4851" y="2414016"/>
            <a:ext cx="1596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1"/>
                </a:solidFill>
                <a:latin typeface="Noto Sans JP"/>
                <a:ea typeface="Noto Sans JP"/>
              </a:rPr>
              <a:t>冷やす・止めない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4851" y="2816352"/>
            <a:ext cx="1596542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4851" y="2907792"/>
            <a:ext cx="159654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0012"/>
                </a:solidFill>
                <a:latin typeface="Noto Sans JP"/>
                <a:ea typeface="Noto Sans JP"/>
              </a:rPr>
              <a:t>北米DC冷却 約13倍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4851" y="3675887"/>
            <a:ext cx="15965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8A9098"/>
                </a:solidFill>
                <a:latin typeface="Consolas"/>
                <a:ea typeface="Consolas"/>
              </a:rPr>
              <a:t>代表企業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4851" y="3858768"/>
            <a:ext cx="1596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1A1D21"/>
                </a:solidFill>
                <a:latin typeface="Noto Sans JP"/>
                <a:ea typeface="Noto Sans JP"/>
              </a:rPr>
              <a:t>ダイキン 230→3,000億円</a:t>
            </a:r>
          </a:p>
        </p:txBody>
      </p:sp>
      <p:sp>
        <p:nvSpPr>
          <p:cNvPr id="42" name="Chevron 41"/>
          <p:cNvSpPr/>
          <p:nvPr/>
        </p:nvSpPr>
        <p:spPr>
          <a:xfrm>
            <a:off x="9467697" y="1417320"/>
            <a:ext cx="2053742" cy="786384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449409" y="1417320"/>
            <a:ext cx="198059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半導体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31705" y="2304288"/>
            <a:ext cx="1834286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50577" y="2414016"/>
            <a:ext cx="15965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1"/>
                </a:solidFill>
                <a:latin typeface="Noto Sans JP"/>
                <a:ea typeface="Noto Sans JP"/>
              </a:rPr>
              <a:t>計算する頭脳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50577" y="2816352"/>
            <a:ext cx="1596542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50577" y="2907792"/>
            <a:ext cx="159654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0012"/>
                </a:solidFill>
                <a:latin typeface="Noto Sans JP"/>
                <a:ea typeface="Noto Sans JP"/>
              </a:rPr>
              <a:t>設備投資 +66%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50577" y="3675887"/>
            <a:ext cx="15965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1">
                <a:solidFill>
                  <a:srgbClr val="8A9098"/>
                </a:solidFill>
                <a:latin typeface="Consolas"/>
                <a:ea typeface="Consolas"/>
              </a:rPr>
              <a:t>代表企業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0577" y="3858768"/>
            <a:ext cx="159654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>
                <a:solidFill>
                  <a:srgbClr val="1A1D21"/>
                </a:solidFill>
                <a:latin typeface="Noto Sans JP"/>
                <a:ea typeface="Noto Sans JP"/>
              </a:rPr>
              <a:t>キオクシア・東京ｴﾚｸﾄﾛﾝ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4572000"/>
            <a:ext cx="10634472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457200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A9098"/>
                </a:solidFill>
                <a:latin typeface="Consolas"/>
                <a:ea typeface="Consolas"/>
              </a:rPr>
              <a:t>我々の入り方：</a:t>
            </a:r>
            <a:r>
              <a:rPr sz="1100" b="1">
                <a:solidFill>
                  <a:srgbClr val="454B54"/>
                </a:solidFill>
                <a:latin typeface="Noto Sans JP"/>
                <a:ea typeface="Noto Sans JP"/>
              </a:rPr>
              <a:t> A 発注者＝工場増設・自社DCを“建てる側”で管理</a:t>
            </a:r>
            <a:r>
              <a:rPr sz="1050" b="0">
                <a:solidFill>
                  <a:srgbClr val="8A9098"/>
                </a:solidFill>
                <a:latin typeface="Noto Sans JP"/>
                <a:ea typeface="Noto Sans JP"/>
              </a:rPr>
              <a:t>　／　</a:t>
            </a:r>
            <a:r>
              <a:rPr sz="1100" b="1">
                <a:solidFill>
                  <a:srgbClr val="E60012"/>
                </a:solidFill>
                <a:latin typeface="Noto Sans JP"/>
                <a:ea typeface="Noto Sans JP"/>
              </a:rPr>
              <a:t>B 請負＝据付・試運転・保守を“納める側”で管理（本命）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5303520"/>
            <a:ext cx="10634472" cy="914400"/>
          </a:xfrm>
          <a:prstGeom prst="roundRect">
            <a:avLst>
              <a:gd name="adj" fmla="val 5000"/>
            </a:avLst>
          </a:prstGeom>
          <a:solidFill>
            <a:srgbClr val="ECEEF1"/>
          </a:solidFill>
          <a:ln w="15240">
            <a:solidFill>
              <a:srgbClr val="454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530352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A1D21"/>
                </a:solidFill>
                <a:latin typeface="Noto Sans JP"/>
                <a:ea typeface="Noto Sans JP"/>
              </a:rPr>
              <a:t>川上（発電）から川下（半導体）まで全段が同時に増収増益。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60012"/>
                </a:solidFill>
                <a:latin typeface="Noto Sans JP"/>
                <a:ea typeface="Noto Sans JP"/>
              </a:rPr>
              <a:t>＝ 攻めどころは1つではなく、チェーン全体にある。狙える現場が、日本中に生まれている。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82296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896112"/>
            <a:ext cx="9692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200">
                <a:solidFill>
                  <a:srgbClr val="FF8A97"/>
                </a:solidFill>
                <a:latin typeface="Consolas"/>
                <a:ea typeface="Consolas"/>
              </a:rPr>
              <a:t>SO, LET'S GO  ·  次の主戦場は、製造業だ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Noto Sans JP"/>
                <a:ea typeface="Noto Sans JP"/>
              </a:rPr>
              <a:t>いま製造業に行くことは、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6B7A"/>
                </a:solidFill>
                <a:latin typeface="Noto Sans JP"/>
                <a:ea typeface="Noto Sans JP"/>
              </a:rPr>
              <a:t>“次の主戦場”の一番槍</a:t>
            </a:r>
            <a:r>
              <a:rPr sz="3400" b="1">
                <a:solidFill>
                  <a:srgbClr val="FFFFFF"/>
                </a:solidFill>
                <a:latin typeface="Noto Sans JP"/>
                <a:ea typeface="Noto Sans JP"/>
              </a:rPr>
              <a:t>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11880"/>
            <a:ext cx="3361944" cy="150876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 w="127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611880"/>
            <a:ext cx="3361944" cy="8229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867912"/>
            <a:ext cx="28864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Noto Sans JP"/>
                <a:ea typeface="Noto Sans JP"/>
              </a:rPr>
              <a:t>市場は建設の3倍広い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C7D0DC"/>
                </a:solidFill>
                <a:latin typeface="Noto Sans JP"/>
                <a:ea typeface="Noto Sans JP"/>
              </a:rPr>
              <a:t>DC建設費の約3/4は電気・機械設備＝製造業。据付・試運転・保守まで現場が続く。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3504" y="3611880"/>
            <a:ext cx="3361944" cy="150876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 w="127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3611880"/>
            <a:ext cx="3361944" cy="8229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1248" y="3867912"/>
            <a:ext cx="28864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Noto Sans JP"/>
                <a:ea typeface="Noto Sans JP"/>
              </a:rPr>
              <a:t>追い風は本物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C7D0DC"/>
                </a:solidFill>
                <a:latin typeface="Noto Sans JP"/>
                <a:ea typeface="Noto Sans JP"/>
              </a:rPr>
              <a:t>国家予算級のAIマネーが国内に流入。受注残・設備投資計画に裏打ちされた構造需要。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3611880"/>
            <a:ext cx="3361944" cy="150876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 w="12700">
            <a:solidFill>
              <a:srgbClr val="3A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9768" y="3611880"/>
            <a:ext cx="3361944" cy="8229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7512" y="3867912"/>
            <a:ext cx="28864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Noto Sans JP"/>
                <a:ea typeface="Noto Sans JP"/>
              </a:rPr>
              <a:t>武器は完成済み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C7D0DC"/>
                </a:solidFill>
                <a:latin typeface="Noto Sans JP"/>
                <a:ea typeface="Noto Sans JP"/>
              </a:rPr>
              <a:t>建設で磨いた現場管理は、製造業の据付・保守フィールドに“そのまま効く”。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468112"/>
            <a:ext cx="10634472" cy="786384"/>
          </a:xfrm>
          <a:prstGeom prst="roundRect">
            <a:avLst>
              <a:gd name="adj" fmla="val 6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68112"/>
            <a:ext cx="106344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建設の“周辺”に広がる巨大市場を、100人でつかみにいこう。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