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0759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本部総会  ·  WHY MANUFACTURING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57400"/>
            <a:ext cx="10789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なぜ、いま</a:t>
            </a:r>
            <a:r>
              <a:rPr sz="39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069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AIが、日本の製造業を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“歴史的な建設・据付ラッシュ”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に変えている。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02920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21208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しかもお金の大半は、建物ではなく“電気・機械設備”＝製造業に流れる。据付・試運転・保守まで人が動き続ける。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増える現場、足りない人手。その差を埋めるのが、我々ANDPADの現場管理だ。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なぜ、いま製造業がアツいのか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AIブームは“クラウドの話”ではない。電気と鉄と現場の話だ。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DC（データセンター）1棟で数万世帯分の電力。膨大な発電・変圧器・冷却・半導体が要る。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製造業が一斉に動き出す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重電・電線・空調・UPS・半導体——各社が工場を増設し、機器の製造・納入・据付が全国で立ち上がる。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“現場”が全国で急増する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工場を建てる現場も、機器を据え付け・試運転・保守する現場も、同時多発で増えていく。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61188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1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いま製造業は、建設業のように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“現場だらけ”</a:t>
            </a: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になっている。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708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＝ 我々が建設業で磨いた「現場管理」が、そのまま効く土俵が、製造業に新しく生まれている。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634472" cy="114300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6694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しかもこれは、一過性のブームではない。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7424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各社の受注残・設備投資計画・売上ガイダンスに裏打ちされた、数年〜十数年続く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構造需要</a:t>
            </a: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2414015"/>
            <a:ext cx="338328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98798" y="2356632"/>
            <a:ext cx="420624" cy="57383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44618" y="2230389"/>
            <a:ext cx="420624" cy="18362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90438" y="1974077"/>
            <a:ext cx="420624" cy="439938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36258" y="1664207"/>
            <a:ext cx="420624" cy="749808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9058" y="1408175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517904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1627632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3年（FY23→FY26）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NVIDIA 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670048"/>
            <a:ext cx="10634472" cy="1225295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85292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3712463"/>
            <a:ext cx="338328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98798" y="3526304"/>
            <a:ext cx="420624" cy="186159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944618" y="3474593"/>
            <a:ext cx="420624" cy="237870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90438" y="3288434"/>
            <a:ext cx="420624" cy="424029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36258" y="2962656"/>
            <a:ext cx="420624" cy="749808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9058" y="2706624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816352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292608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3年（'23→'26）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各社IR/報道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151376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5010912"/>
            <a:ext cx="338328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39768" y="4780828"/>
            <a:ext cx="420624" cy="230083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67528" y="4582450"/>
            <a:ext cx="420624" cy="428461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95288" y="4261103"/>
            <a:ext cx="420624" cy="749808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8088" y="4005071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4114800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224528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3C4148"/>
                </a:solidFill>
                <a:latin typeface="Noto Sans JP"/>
                <a:ea typeface="Noto Sans JP"/>
              </a:rPr>
              <a:t>5年（'23→'28）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IDC Japan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349240"/>
            <a:ext cx="10634472" cy="841248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349240"/>
            <a:ext cx="102412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しかも投資のピークは2027〜2028年。</a:t>
            </a:r>
            <a:r>
              <a:rPr sz="1650" b="1">
                <a:solidFill>
                  <a:srgbClr val="FFD2D7"/>
                </a:solidFill>
                <a:latin typeface="Noto Sans JP"/>
                <a:ea typeface="Noto Sans JP"/>
              </a:rPr>
              <a:t>この波は、まだ“序盤”だ。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DC建設費の中身：建設 vs 設備、そして 材（機器）vs 工（作業）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お金の3/4は設備（製造業）。しかも効くのは機器代ではなく“工”。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2658618" cy="91440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35858" y="1755648"/>
            <a:ext cx="5317236" cy="9144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53094" y="1755648"/>
            <a:ext cx="2658618" cy="914400"/>
          </a:xfrm>
          <a:prstGeom prst="rect">
            <a:avLst/>
          </a:prstGeom>
          <a:solidFill>
            <a:srgbClr val="F2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4885" y="1755648"/>
            <a:ext cx="2194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42121" y="1755648"/>
            <a:ext cx="21945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55648"/>
            <a:ext cx="265861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5858" y="1755648"/>
            <a:ext cx="531723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FFFFFF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4" y="1755648"/>
            <a:ext cx="265861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463039"/>
            <a:ext cx="2658618" cy="228600"/>
          </a:xfrm>
          <a:prstGeom prst="roundRect">
            <a:avLst>
              <a:gd name="adj" fmla="val 10000"/>
            </a:avLst>
          </a:prstGeom>
          <a:solidFill>
            <a:srgbClr val="ECEEF1"/>
          </a:solidFill>
          <a:ln w="1270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463039"/>
            <a:ext cx="265861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454B54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5858" y="1463039"/>
            <a:ext cx="7975854" cy="228600"/>
          </a:xfrm>
          <a:prstGeom prst="roundRect">
            <a:avLst>
              <a:gd name="adj" fmla="val 10000"/>
            </a:avLst>
          </a:prstGeom>
          <a:solidFill>
            <a:srgbClr val="FDECEE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5858" y="1463039"/>
            <a:ext cx="7975854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852928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C4148"/>
                </a:solidFill>
                <a:latin typeface="Noto Sans JP"/>
                <a:ea typeface="Noto Sans JP"/>
              </a:rPr>
              <a:t>↓ その「設備 約75%」の中身を、</a:t>
            </a:r>
            <a:r>
              <a:rPr sz="1100" b="1">
                <a:solidFill>
                  <a:srgbClr val="8A9098"/>
                </a:solidFill>
                <a:latin typeface="Noto Sans JP"/>
                <a:ea typeface="Noto Sans JP"/>
              </a:rPr>
              <a:t>材（機器・材料）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 と 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100" b="1">
                <a:solidFill>
                  <a:srgbClr val="3C4148"/>
                </a:solidFill>
                <a:latin typeface="Noto Sans JP"/>
                <a:ea typeface="Noto Sans JP"/>
              </a:rPr>
              <a:t> に分けると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200400"/>
            <a:ext cx="6380683" cy="841248"/>
          </a:xfrm>
          <a:prstGeom prst="rect">
            <a:avLst/>
          </a:prstGeom>
          <a:solidFill>
            <a:srgbClr val="8A90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57923" y="3200400"/>
            <a:ext cx="4253788" cy="84124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6950" y="3200400"/>
            <a:ext cx="21945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200400"/>
            <a:ext cx="6380683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材：機器・材料（変圧器・冷凍機・UPS等）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約6割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3200400"/>
            <a:ext cx="425378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工：据付・施工（人が動く）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約4割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7923" y="4078224"/>
            <a:ext cx="42537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90288"/>
            <a:ext cx="10634472" cy="1170432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機器そのものの価格（材）は、正直ANDPADには関係ない。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2303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60012"/>
                </a:solidFill>
                <a:latin typeface="Noto Sans JP"/>
                <a:ea typeface="Noto Sans JP"/>
              </a:rPr>
              <a:t>効くのは“工”＝据付・施工。それでも建設費の約3割。大型DC1棟で数十〜百億円級が、現場作業に向かう。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7044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出典：日経xTECH（設備工事＝電気50%＋空調等25%）／材工比は積算の一般構成（直接工事費＝材料費＋労務費＋経費）にもとづく目安・物件で変動。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“工”の3工程：据付・試運転・保守——割合と市場を同じ物差しで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「作って終わり」じゃない。建てる時も、建てた後も、現場が続く。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10634472" cy="42062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41732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onsolas"/>
                <a:ea typeface="Consolas"/>
              </a:rPr>
              <a:t>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6936" y="1417320"/>
            <a:ext cx="2834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onsolas"/>
                <a:ea typeface="Consolas"/>
              </a:rPr>
              <a:t>やること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4455" y="1417320"/>
            <a:ext cx="1965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onsolas"/>
                <a:ea typeface="Consolas"/>
              </a:rPr>
              <a:t>建設費に対する割合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83296" y="1417320"/>
            <a:ext cx="327355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onsolas"/>
                <a:ea typeface="Consolas"/>
              </a:rPr>
              <a:t>市場の広がり（世界）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1965960"/>
            <a:ext cx="181051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A1D21"/>
                </a:solidFill>
                <a:latin typeface="Noto Sans JP"/>
                <a:ea typeface="Noto Sans JP"/>
              </a:rPr>
              <a:t>① 据付・施工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建てる時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1837944"/>
            <a:ext cx="2798063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機器を搬入し、据付・配線・配管する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5" y="1984248"/>
            <a:ext cx="1929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60012"/>
                </a:solidFill>
                <a:latin typeface="Noto Sans JP"/>
                <a:ea typeface="Noto Sans JP"/>
              </a:rPr>
              <a:t>約3割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5" y="2404872"/>
            <a:ext cx="192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設備の“工”＝ 建設費の約30%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1837944"/>
            <a:ext cx="3218687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国内の設備工事そのもの。ANDPADの中核市場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770632"/>
            <a:ext cx="10634472" cy="93268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2898648"/>
            <a:ext cx="181051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A1D21"/>
                </a:solidFill>
                <a:latin typeface="Noto Sans JP"/>
                <a:ea typeface="Noto Sans JP"/>
              </a:rPr>
              <a:t>② 試運転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建てる時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2770632"/>
            <a:ext cx="2798063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通電・調整・性能検証で“動かす”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4455" y="2916936"/>
            <a:ext cx="1929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60012"/>
                </a:solidFill>
                <a:latin typeface="Noto Sans JP"/>
                <a:ea typeface="Noto Sans JP"/>
              </a:rPr>
              <a:t>約1〜3%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4455" y="3337560"/>
            <a:ext cx="192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＋ 建設費の1〜3%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2770632"/>
            <a:ext cx="3218687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試運転サービス市場 $2.15B→$4.25B（'24→'33）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" y="3831336"/>
            <a:ext cx="181051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A1D21"/>
                </a:solidFill>
                <a:latin typeface="Noto Sans JP"/>
                <a:ea typeface="Noto Sans JP"/>
              </a:rPr>
              <a:t>③ 保守・運用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>
                <a:solidFill>
                  <a:srgbClr val="454B54"/>
                </a:solidFill>
                <a:latin typeface="Consolas"/>
                <a:ea typeface="Consolas"/>
              </a:rPr>
              <a:t>建てた後ずっと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3703320"/>
            <a:ext cx="2798063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点検・更新・障害対応（稼働中ずっと）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4455" y="3849624"/>
            <a:ext cx="1929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60012"/>
                </a:solidFill>
                <a:latin typeface="Noto Sans JP"/>
                <a:ea typeface="Noto Sans JP"/>
              </a:rPr>
              <a:t>毎年発生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4455" y="4270248"/>
            <a:ext cx="192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運用費の約4割（毎年）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83296" y="3703320"/>
            <a:ext cx="3218687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DC運用保守市場 $15.8B→$45.6B（'24→'33）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1837944"/>
            <a:ext cx="10634472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770632"/>
            <a:ext cx="10634472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03320"/>
            <a:ext cx="10634472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636008"/>
            <a:ext cx="10634472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88920" y="1837944"/>
            <a:ext cx="9144" cy="279806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06440" y="1837944"/>
            <a:ext cx="9144" cy="279806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55279" y="1837944"/>
            <a:ext cx="9144" cy="279806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77240" y="4343400"/>
            <a:ext cx="10634472" cy="45720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 w="1270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343400"/>
            <a:ext cx="10241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454B54"/>
                </a:solidFill>
                <a:latin typeface="Noto Sans JP"/>
                <a:ea typeface="Noto Sans JP"/>
              </a:rPr>
              <a:t>①②「建てる時」は一度きり。</a:t>
            </a: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 だが ③「保守」は稼働中ずっと、毎年続く。</a:t>
            </a: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 → 一度つかんだ現場が、長く残る。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56048"/>
            <a:ext cx="10634472" cy="804672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4956048"/>
            <a:ext cx="100584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これまで建設業だけを相手にしてきた。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その周辺に、据付＋試運転＋保守という“人が動く”広大な市場がある。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87044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出典：試運転＝建設費1〜3%（業界目安）・DC試運転市場 DataIntelo／DC運用保守市場 DataHorizon／保守は運用費の約4割 Thunder Said Energy。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AI需要は、バリューチェーンのどこに効くのか（国内主要プレーヤー）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896112" cy="786384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89611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</p:txBody>
      </p:sp>
      <p:sp>
        <p:nvSpPr>
          <p:cNvPr id="10" name="Chevron 9"/>
          <p:cNvSpPr/>
          <p:nvPr/>
        </p:nvSpPr>
        <p:spPr>
          <a:xfrm>
            <a:off x="1764792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46504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7672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7672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7672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7672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三菱重工 ガスタービン</a:t>
            </a:r>
          </a:p>
        </p:txBody>
      </p:sp>
      <p:sp>
        <p:nvSpPr>
          <p:cNvPr id="18" name="Chevron 17"/>
          <p:cNvSpPr/>
          <p:nvPr/>
        </p:nvSpPr>
        <p:spPr>
          <a:xfrm>
            <a:off x="3690518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72230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54526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3398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73398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3398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生産能力2倍/予約数年先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73398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3398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変圧器各社・フジクラ</a:t>
            </a:r>
          </a:p>
        </p:txBody>
      </p:sp>
      <p:sp>
        <p:nvSpPr>
          <p:cNvPr id="26" name="Chevron 25"/>
          <p:cNvSpPr/>
          <p:nvPr/>
        </p:nvSpPr>
        <p:spPr>
          <a:xfrm>
            <a:off x="5616244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97956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0252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99124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99124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9124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9124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9124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ダイダン・高砂熱学ほか</a:t>
            </a:r>
          </a:p>
        </p:txBody>
      </p:sp>
      <p:sp>
        <p:nvSpPr>
          <p:cNvPr id="34" name="Chevron 33"/>
          <p:cNvSpPr/>
          <p:nvPr/>
        </p:nvSpPr>
        <p:spPr>
          <a:xfrm>
            <a:off x="7541971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23683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05979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4851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4851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4851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4851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4851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ダイキン 230→3,000億円</a:t>
            </a:r>
          </a:p>
        </p:txBody>
      </p:sp>
      <p:sp>
        <p:nvSpPr>
          <p:cNvPr id="42" name="Chevron 41"/>
          <p:cNvSpPr/>
          <p:nvPr/>
        </p:nvSpPr>
        <p:spPr>
          <a:xfrm>
            <a:off x="9467697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49409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1705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50577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50577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0577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50577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0577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457200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457200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8A9098"/>
                </a:solidFill>
                <a:latin typeface="Consolas"/>
                <a:ea typeface="Consolas"/>
              </a:rPr>
              <a:t>我々の入り方：</a:t>
            </a:r>
            <a:r>
              <a:rPr sz="1100" b="1">
                <a:solidFill>
                  <a:srgbClr val="454B54"/>
                </a:solidFill>
                <a:latin typeface="Noto Sans JP"/>
                <a:ea typeface="Noto Sans JP"/>
              </a:rPr>
              <a:t> A 発注者＝工場増設・自社DCを“建てる側”で管理</a:t>
            </a:r>
            <a:r>
              <a:rPr sz="105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303520"/>
            <a:ext cx="10634472" cy="91440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5303520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川上（発電）から川下（半導体）まで全段が同時に増収増益。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＝ 攻めどころは1つではなく、チェーン全体にある。狙える現場が、日本中に生まれている。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822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89611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FF8A97"/>
                </a:solidFill>
                <a:latin typeface="Consolas"/>
                <a:ea typeface="Consolas"/>
              </a:rPr>
              <a:t>SO, LET'S GO  ·  次の主戦場は、製造業だ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830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いま製造業に行くことは、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6B7A"/>
                </a:solidFill>
                <a:latin typeface="Noto Sans JP"/>
                <a:ea typeface="Noto Sans JP"/>
              </a:rPr>
              <a:t>“次の主戦場”の一番槍</a:t>
            </a: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市場は建設の3倍広い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3504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追い風は本物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国家予算級のAIマネーが国内に流入。受注残・設備投資計画に裏打ちされた構造需要。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7512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武器は完成済み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468112"/>
            <a:ext cx="10634472" cy="786384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68112"/>
            <a:ext cx="1063447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