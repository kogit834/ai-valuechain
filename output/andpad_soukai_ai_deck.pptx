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0759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本部総会  ·  WHY MANUFACTURING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57400"/>
            <a:ext cx="10789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なぜ、いま</a:t>
            </a:r>
            <a:r>
              <a:rPr sz="39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069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AIが、日本の製造業を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“歴史的な建設・据付ラッシュ”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に変えている。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02920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21208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しかもお金の大半は、建物ではなく“電気・機械設備”＝製造業に流れる。据付・試運転・保守まで人が動き続ける。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増える現場、足りない人手。その差を埋めるのが、我々ANDPADの現場管理だ。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世界のメガトレンドと、その“共通の土台”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世界が動く先には、必ず「設備」がいる。その主役は、製造業だ。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34290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3429000" cy="512064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417320"/>
            <a:ext cx="30632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①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7791" y="1549908"/>
            <a:ext cx="1133856" cy="2468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1" y="1549908"/>
            <a:ext cx="1133856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本日フォーカス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2093976"/>
            <a:ext cx="29900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D21"/>
                </a:solidFill>
                <a:latin typeface="Noto Sans JP"/>
                <a:ea typeface="Noto Sans JP"/>
              </a:rPr>
              <a:t>生成AI・データセンター・半導体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715768"/>
            <a:ext cx="29900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→ 電源・冷却・建屋・チップ工場が大量に要る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417320"/>
            <a:ext cx="34290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9976" y="1417320"/>
            <a:ext cx="3429000" cy="512064"/>
          </a:xfrm>
          <a:prstGeom prst="roundRect">
            <a:avLst>
              <a:gd name="adj" fmla="val 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1417320"/>
            <a:ext cx="30632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② 脱炭素（GX）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093976"/>
            <a:ext cx="29900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D21"/>
                </a:solidFill>
                <a:latin typeface="Noto Sans JP"/>
                <a:ea typeface="Noto Sans JP"/>
              </a:rPr>
              <a:t>再エネ・送電網・電化・蓄電池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2715768"/>
            <a:ext cx="29900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→ 発電・変電・ケーブル・電池／EV工場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82712" y="1417320"/>
            <a:ext cx="34290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2712" y="1417320"/>
            <a:ext cx="3429000" cy="512064"/>
          </a:xfrm>
          <a:prstGeom prst="roundRect">
            <a:avLst>
              <a:gd name="adj" fmla="val 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1417320"/>
            <a:ext cx="30632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③ 経済安保・国内回帰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2093976"/>
            <a:ext cx="29900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D21"/>
                </a:solidFill>
                <a:latin typeface="Noto Sans JP"/>
                <a:ea typeface="Noto Sans JP"/>
              </a:rPr>
              <a:t>半導体・重要物資の国産化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715768"/>
            <a:ext cx="29900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→ 国内に工場を新設し、供給網を再構築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61188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81304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どのメガトレンドも、実現するには</a:t>
            </a:r>
            <a:r>
              <a:rPr sz="1650" b="1">
                <a:solidFill>
                  <a:srgbClr val="E60012"/>
                </a:solidFill>
                <a:latin typeface="Noto Sans JP"/>
                <a:ea typeface="Noto Sans JP"/>
              </a:rPr>
              <a:t>膨大な“設備”</a:t>
            </a: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がいる。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3159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C4148"/>
                </a:solidFill>
                <a:latin typeface="Noto Sans JP"/>
                <a:ea typeface="Noto Sans JP"/>
              </a:rPr>
              <a:t>そして設備を作る・建てるのは——建設業だけでなく、</a:t>
            </a: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重電・機械・電機など製造業がコア。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029200"/>
            <a:ext cx="10634472" cy="1188720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1937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この“設備”の市場が、いま圧倒的に広がっている。乗らない手はない。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70585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D2D7"/>
                </a:solidFill>
                <a:latin typeface="Noto Sans JP"/>
                <a:ea typeface="Noto Sans JP"/>
              </a:rPr>
              <a:t>→ 今日はその中で、最も勢いのある「</a:t>
            </a:r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AI</a:t>
            </a:r>
            <a:r>
              <a:rPr sz="1350" b="1">
                <a:solidFill>
                  <a:srgbClr val="FFD2D7"/>
                </a:solidFill>
                <a:latin typeface="Noto Sans JP"/>
                <a:ea typeface="Noto Sans JP"/>
              </a:rPr>
              <a:t>」にフォーカスして話す。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2221992"/>
            <a:ext cx="356616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66209" y="2175805"/>
            <a:ext cx="457200" cy="4618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49" y="2074195"/>
            <a:ext cx="457200" cy="14779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0579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49290" y="1867895"/>
            <a:ext cx="457200" cy="35409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40829" y="1618488"/>
            <a:ext cx="457200" cy="603504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3659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7909" y="138074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160020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606040"/>
            <a:ext cx="10634472" cy="1179576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78892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39" y="3456432"/>
            <a:ext cx="356616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66209" y="3306596"/>
            <a:ext cx="457200" cy="149835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49" y="3264975"/>
            <a:ext cx="457200" cy="19145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0579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9290" y="3115140"/>
            <a:ext cx="457200" cy="341291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40829" y="2852928"/>
            <a:ext cx="457200" cy="603504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3659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37909" y="261518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83464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02336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4690872"/>
            <a:ext cx="356616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14800" y="4496423"/>
            <a:ext cx="457200" cy="194448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473659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4389120"/>
            <a:ext cx="457200" cy="301752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59" y="473659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4087368"/>
            <a:ext cx="457200" cy="603504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79" y="473659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384962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06908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138928"/>
            <a:ext cx="10634472" cy="749808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13892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しかも投資のピークは2027〜2028年。</a:t>
            </a:r>
            <a:r>
              <a:rPr sz="1650" b="1">
                <a:solidFill>
                  <a:srgbClr val="FFD2D7"/>
                </a:solidFill>
                <a:latin typeface="Noto Sans JP"/>
                <a:ea typeface="Noto Sans JP"/>
              </a:rPr>
              <a:t>この波は、まだ“序盤”だ。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出典：NVIDIA IR（DC売上 FY23→FY26）／Big Tech各社IR・報道（'23→'26）／IDC Japan（国内DC建設投資 '23→'28）。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AI需要 → 連鎖して伸びる、日本のバリューチェーン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AIが伸びれば、この“川”がまるごと潤う。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1417320" cy="3383280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325880" cy="3383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spc="100">
                <a:solidFill>
                  <a:srgbClr val="FFC9CE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AI・DC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需要の拡大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FFFFFF"/>
                </a:solidFill>
                <a:latin typeface="Noto Sans JP"/>
                <a:ea typeface="Noto Sans JP"/>
              </a:rPr>
              <a:t/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FFE2E5"/>
                </a:solidFill>
                <a:latin typeface="Noto Sans JP"/>
                <a:ea typeface="Noto Sans JP"/>
              </a:rPr>
              <a:t>この一手が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FFE2E5"/>
                </a:solidFill>
                <a:latin typeface="Noto Sans JP"/>
                <a:ea typeface="Noto Sans JP"/>
              </a:rPr>
              <a:t>川下まで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FFE2E5"/>
                </a:solidFill>
                <a:latin typeface="Noto Sans JP"/>
                <a:ea typeface="Noto Sans JP"/>
              </a:rPr>
              <a:t>波及する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34640"/>
            <a:ext cx="320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Consolas"/>
                <a:ea typeface="Consolas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42032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42032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60903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0903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60903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60903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川崎重工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60903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60903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60903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0903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7913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37913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7913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6785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6785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日立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56785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6785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6785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6785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56785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6785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33795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33795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3795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DC建設・設備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52667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2667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2667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2667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2667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2667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52667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2667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29676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929676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29676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8548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8548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ダイキン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8548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8548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GSユアサ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8548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8548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荏原製作所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25558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725558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5558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44430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44430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44430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44430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44430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4430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44430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44430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7240" y="5029200"/>
            <a:ext cx="10634472" cy="749808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5840" y="5029200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AIの“源流”が、川下の日本メーカーまで、まるごと潤す。</a:t>
            </a:r>
            <a:r>
              <a:rPr sz="1650" b="1">
                <a:solidFill>
                  <a:srgbClr val="E60012"/>
                </a:solidFill>
                <a:latin typeface="Noto Sans JP"/>
                <a:ea typeface="Noto Sans JP"/>
              </a:rPr>
              <a:t>　狙える現場は、この一社一社にある。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58704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※ 各段階の代表企業を抜粋（社名表記＝ロゴのイメージ、実ロゴへ差し替え可）。数値・詳細は次頁以降。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建設費の中身：どこにANDPADの市場があるか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お金の3/4は設備。効くのは機器代ではなく“工”＝据付・試運転・保守。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2658618" cy="8229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35858" y="1691640"/>
            <a:ext cx="5317236" cy="8229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53094" y="1691640"/>
            <a:ext cx="2658618" cy="822960"/>
          </a:xfrm>
          <a:prstGeom prst="rect">
            <a:avLst/>
          </a:prstGeom>
          <a:solidFill>
            <a:srgbClr val="F2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4885" y="1691640"/>
            <a:ext cx="21945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42121" y="1691640"/>
            <a:ext cx="21945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691640"/>
            <a:ext cx="26586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5858" y="1691640"/>
            <a:ext cx="531723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4" y="1691640"/>
            <a:ext cx="26586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417320"/>
            <a:ext cx="2658618" cy="219456"/>
          </a:xfrm>
          <a:prstGeom prst="roundRect">
            <a:avLst>
              <a:gd name="adj" fmla="val 10000"/>
            </a:avLst>
          </a:prstGeom>
          <a:solidFill>
            <a:srgbClr val="ECEEF1"/>
          </a:solidFill>
          <a:ln w="1270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417320"/>
            <a:ext cx="265861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454B54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5858" y="1417320"/>
            <a:ext cx="7975854" cy="219456"/>
          </a:xfrm>
          <a:prstGeom prst="roundRect">
            <a:avLst>
              <a:gd name="adj" fmla="val 10000"/>
            </a:avLst>
          </a:prstGeom>
          <a:solidFill>
            <a:srgbClr val="FDECEE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5858" y="1417320"/>
            <a:ext cx="797585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697480"/>
            <a:ext cx="10634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↓ その「設備 約75%」を </a:t>
            </a:r>
            <a:r>
              <a:rPr sz="1050" b="1">
                <a:solidFill>
                  <a:srgbClr val="8A9098"/>
                </a:solidFill>
                <a:latin typeface="Noto Sans JP"/>
                <a:ea typeface="Noto Sans JP"/>
              </a:rPr>
              <a:t>材（機器・材料）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と </a:t>
            </a:r>
            <a:r>
              <a:rPr sz="105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 に分けると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999232"/>
            <a:ext cx="6380683" cy="749808"/>
          </a:xfrm>
          <a:prstGeom prst="rect">
            <a:avLst/>
          </a:prstGeom>
          <a:solidFill>
            <a:srgbClr val="8A90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57923" y="2999232"/>
            <a:ext cx="4253788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6950" y="2999232"/>
            <a:ext cx="21945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999232"/>
            <a:ext cx="6380683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材：機器・材料（変圧器・冷凍機・UPS等）  約6割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2999232"/>
            <a:ext cx="425378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工：据付・施工  約4割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7923" y="3767327"/>
            <a:ext cx="42537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160520"/>
            <a:ext cx="342290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60520"/>
            <a:ext cx="82296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270248"/>
            <a:ext cx="31120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据付・施工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　建設費の約3割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C4148"/>
                </a:solidFill>
                <a:latin typeface="Noto Sans JP"/>
                <a:ea typeface="Noto Sans JP"/>
              </a:rPr>
              <a:t>国内の設備工事＝中核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3024" y="4160520"/>
            <a:ext cx="342290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3024" y="4160520"/>
            <a:ext cx="82296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192" y="4270248"/>
            <a:ext cx="31120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試運転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　建設費の1〜3%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C4148"/>
                </a:solidFill>
                <a:latin typeface="Noto Sans JP"/>
                <a:ea typeface="Noto Sans JP"/>
              </a:rPr>
              <a:t>世界 $2.1B→$4.3B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88808" y="4160520"/>
            <a:ext cx="342290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88808" y="4160520"/>
            <a:ext cx="82296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9976" y="4270248"/>
            <a:ext cx="31120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保守・運用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　毎年・運用費の約4割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C4148"/>
                </a:solidFill>
                <a:latin typeface="Noto Sans JP"/>
                <a:ea typeface="Noto Sans JP"/>
              </a:rPr>
              <a:t>世界 $15.8B→$45.6B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138928"/>
            <a:ext cx="10634472" cy="749808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138928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これまで建設業だけを見てきた。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その周辺の“工”（据付・試運転・保守）に、広大な市場が広がっている。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94360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出典：日経xTECH（設備工事≒建設費の75%）／材工比・試運転1〜3%は積算/業界目安／市場：DataIntelo・DataHorizon。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バリューチェーン別・国内主要プレーヤーと伸び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896112" cy="786384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89611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</p:txBody>
      </p:sp>
      <p:sp>
        <p:nvSpPr>
          <p:cNvPr id="10" name="Chevron 9"/>
          <p:cNvSpPr/>
          <p:nvPr/>
        </p:nvSpPr>
        <p:spPr>
          <a:xfrm>
            <a:off x="1764792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46504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7672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7672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7672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7672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三菱重工 ガスタービン</a:t>
            </a:r>
          </a:p>
        </p:txBody>
      </p:sp>
      <p:sp>
        <p:nvSpPr>
          <p:cNvPr id="18" name="Chevron 17"/>
          <p:cNvSpPr/>
          <p:nvPr/>
        </p:nvSpPr>
        <p:spPr>
          <a:xfrm>
            <a:off x="3690518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72230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54526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3398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73398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3398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生産能力2倍/予約数年先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73398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3398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変圧器各社・フジクラ</a:t>
            </a:r>
          </a:p>
        </p:txBody>
      </p:sp>
      <p:sp>
        <p:nvSpPr>
          <p:cNvPr id="26" name="Chevron 25"/>
          <p:cNvSpPr/>
          <p:nvPr/>
        </p:nvSpPr>
        <p:spPr>
          <a:xfrm>
            <a:off x="5616244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97956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0252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99124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99124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9124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9124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9124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ダイダン・高砂熱学ほか</a:t>
            </a:r>
          </a:p>
        </p:txBody>
      </p:sp>
      <p:sp>
        <p:nvSpPr>
          <p:cNvPr id="34" name="Chevron 33"/>
          <p:cNvSpPr/>
          <p:nvPr/>
        </p:nvSpPr>
        <p:spPr>
          <a:xfrm>
            <a:off x="7541971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23683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05979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4851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4851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4851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4851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4851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ダイキン 230→3,000億円</a:t>
            </a:r>
          </a:p>
        </p:txBody>
      </p:sp>
      <p:sp>
        <p:nvSpPr>
          <p:cNvPr id="42" name="Chevron 41"/>
          <p:cNvSpPr/>
          <p:nvPr/>
        </p:nvSpPr>
        <p:spPr>
          <a:xfrm>
            <a:off x="9467697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49409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1705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50577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50577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0577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50577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0577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457200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457200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8A9098"/>
                </a:solidFill>
                <a:latin typeface="Consolas"/>
                <a:ea typeface="Consolas"/>
              </a:rPr>
              <a:t>我々の入り方：</a:t>
            </a:r>
            <a:r>
              <a:rPr sz="1100" b="1">
                <a:solidFill>
                  <a:srgbClr val="454B54"/>
                </a:solidFill>
                <a:latin typeface="Noto Sans JP"/>
                <a:ea typeface="Noto Sans JP"/>
              </a:rPr>
              <a:t> A 発注者＝工場増設・自社DCを“建てる側”で管理</a:t>
            </a:r>
            <a:r>
              <a:rPr sz="105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303520"/>
            <a:ext cx="10634472" cy="91440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5303520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川上（発電）から川下（半導体）まで全段が同時に増収増益。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＝ 攻めどころは1つではなく、チェーン全体にある。狙える現場が、日本中に生まれている。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822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89611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FF8A97"/>
                </a:solidFill>
                <a:latin typeface="Consolas"/>
                <a:ea typeface="Consolas"/>
              </a:rPr>
              <a:t>SO, LET'S GO  ·  次の主戦場は、製造業だ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830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いま製造業に行くことは、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6B7A"/>
                </a:solidFill>
                <a:latin typeface="Noto Sans JP"/>
                <a:ea typeface="Noto Sans JP"/>
              </a:rPr>
              <a:t>“次の主戦場”の一番槍</a:t>
            </a: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市場は建設の3倍広い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3504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追い風は本物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AIチップ需要は3年で約13倍、投資ピークは2027-28。受注残に裏打ちされた構造需要。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7512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武器は完成済み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468112"/>
            <a:ext cx="10634472" cy="786384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68112"/>
            <a:ext cx="1063447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