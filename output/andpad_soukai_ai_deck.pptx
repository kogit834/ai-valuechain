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63040"/>
            <a:ext cx="137160" cy="1371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138988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E60012"/>
                </a:solidFill>
                <a:latin typeface="Consolas"/>
                <a:ea typeface="Consolas"/>
              </a:rPr>
              <a:t>ANDPAD 本部総会   ·   WHY MANUFACTURING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240280"/>
            <a:ext cx="107899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5181C"/>
                </a:solidFill>
                <a:latin typeface="Noto Sans JP"/>
                <a:ea typeface="Noto Sans JP"/>
              </a:rPr>
              <a:t>建設SaaSの我々が、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5181C"/>
                </a:solidFill>
                <a:latin typeface="Noto Sans JP"/>
                <a:ea typeface="Noto Sans JP"/>
              </a:rPr>
              <a:t>なぜ、いま</a:t>
            </a:r>
            <a:r>
              <a:rPr sz="46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4600" b="1">
                <a:solidFill>
                  <a:srgbClr val="15181C"/>
                </a:solidFill>
                <a:latin typeface="Noto Sans JP"/>
                <a:ea typeface="Noto Sans JP"/>
              </a:rPr>
              <a:t>なのか。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434840"/>
            <a:ext cx="2926080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4709160"/>
            <a:ext cx="10698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73C43"/>
                </a:solidFill>
                <a:latin typeface="Noto Sans JP"/>
                <a:ea typeface="Noto Sans JP"/>
              </a:rPr>
              <a:t>AIをはじめ世界のメガトレンドは、膨大な“設備”を必要とする。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73C43"/>
                </a:solidFill>
                <a:latin typeface="Noto Sans JP"/>
                <a:ea typeface="Noto Sans JP"/>
              </a:rPr>
              <a:t>それを作り・建てるのは、建設業だけでなく製造業がコア——その市場が、いま圧倒的に広がっている。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35508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6455664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1A9"/>
                </a:solidFill>
                <a:latin typeface="Consolas"/>
                <a:ea typeface="Consolas"/>
              </a:rPr>
              <a:t>2026-07   /   AIインフラ・バリューチェーン調査（国内外154社・決算/IR一次情報）＋公開データ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世界のメガトレンドと、その“共通の土台”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世界が動く先には、必ず「設備」がいる。その主役は、製造業だ。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572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6E767F"/>
                </a:solidFill>
                <a:latin typeface="Noto Sans JP"/>
                <a:ea typeface="Noto Sans JP"/>
              </a:rPr>
              <a:t>いま世界を動かす3つのメガトレンド。どれも、実現するには物理的な“設備”が要る。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048256"/>
            <a:ext cx="3112008" cy="640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49424"/>
            <a:ext cx="3112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00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31136"/>
            <a:ext cx="3112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● 本日フォーカス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05456"/>
            <a:ext cx="3112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Noto Sans JP"/>
                <a:ea typeface="Noto Sans JP"/>
              </a:rPr>
              <a:t>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生成AI・データセンター・半導体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31120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要る設備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350" b="1">
                <a:solidFill>
                  <a:srgbClr val="373C43"/>
                </a:solidFill>
                <a:latin typeface="Noto Sans JP"/>
                <a:ea typeface="Noto Sans JP"/>
              </a:rPr>
              <a:t>電源・冷却・建屋・チップ工場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7847" y="2066544"/>
            <a:ext cx="12700" cy="1810512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7304" y="2048256"/>
            <a:ext cx="3112008" cy="64008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37304" y="2249424"/>
            <a:ext cx="3112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00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7304" y="2505456"/>
            <a:ext cx="3112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181C"/>
                </a:solidFill>
                <a:latin typeface="Noto Sans JP"/>
                <a:ea typeface="Noto Sans JP"/>
              </a:rPr>
              <a:t>脱炭素（GX）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7304" y="3017520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再エネ・送電網・電化・蓄電池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7304" y="3364992"/>
            <a:ext cx="31120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要る設備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350" b="1">
                <a:solidFill>
                  <a:srgbClr val="373C43"/>
                </a:solidFill>
                <a:latin typeface="Noto Sans JP"/>
                <a:ea typeface="Noto Sans JP"/>
              </a:rPr>
              <a:t>発電・変電・ケーブル・電池／EV工場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2191" y="2066544"/>
            <a:ext cx="12700" cy="1810512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51647" y="2048256"/>
            <a:ext cx="3112008" cy="64008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1647" y="2249424"/>
            <a:ext cx="3112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00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1647" y="2505456"/>
            <a:ext cx="31120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181C"/>
                </a:solidFill>
                <a:latin typeface="Noto Sans JP"/>
                <a:ea typeface="Noto Sans JP"/>
              </a:rPr>
              <a:t>経済安保・国内回帰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51647" y="3017520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半導体・重要物資の国産化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51647" y="3364992"/>
            <a:ext cx="31120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要る設備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→ </a:t>
            </a:r>
            <a:r>
              <a:rPr sz="1350" b="1">
                <a:solidFill>
                  <a:srgbClr val="373C43"/>
                </a:solidFill>
                <a:latin typeface="Noto Sans JP"/>
                <a:ea typeface="Noto Sans JP"/>
              </a:rPr>
              <a:t>国内に工場を新設・供給網を再構築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968496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7304" y="3968496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1647" y="3968496"/>
            <a:ext cx="31120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261104"/>
            <a:ext cx="10543032" cy="10241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3610" y="4425696"/>
            <a:ext cx="18288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4261104"/>
            <a:ext cx="4301154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spc="100">
                <a:solidFill>
                  <a:srgbClr val="FFCFD3"/>
                </a:solidFill>
                <a:latin typeface="Consolas"/>
                <a:ea typeface="Consolas"/>
              </a:rPr>
              <a:t>3つに共通する“土台”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FFFFFF"/>
                </a:solidFill>
                <a:latin typeface="Noto Sans JP"/>
                <a:ea typeface="Noto Sans JP"/>
              </a:rPr>
              <a:t>膨大な“設備”がいる。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9954" y="4261104"/>
            <a:ext cx="4870277" cy="10241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spc="100">
                <a:solidFill>
                  <a:srgbClr val="FFCFD3"/>
                </a:solidFill>
                <a:latin typeface="Consolas"/>
                <a:ea typeface="Consolas"/>
              </a:rPr>
              <a:t>作る・建てる主役は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重電・機械・電機など、“製造業”がコア。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696712"/>
            <a:ext cx="82296" cy="47548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" y="5650992"/>
            <a:ext cx="1026871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→ 今日はその中で、最も勢いのある「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AI</a:t>
            </a: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」に絞って話す。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規模より“勢い”——トレンドとして、どれだけ急か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AI投資は“大きい”だけじゃない。数年で“何倍”に跳ねている。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83664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AIチップの需要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NVIDIA データセンター売上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2432304"/>
            <a:ext cx="3566160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11930" y="2386117"/>
            <a:ext cx="457200" cy="4618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03470" y="2284507"/>
            <a:ext cx="457200" cy="14779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630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5010" y="2078207"/>
            <a:ext cx="457200" cy="35409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86550" y="1828800"/>
            <a:ext cx="457200" cy="60350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9380" y="24963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FY26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7910" y="1591056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E767F"/>
                </a:solidFill>
                <a:latin typeface="Consolas"/>
                <a:ea typeface="Consolas"/>
              </a:rPr>
              <a:t>約2,000億ドル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1810512"/>
            <a:ext cx="1600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1810512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278892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72384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AIインフラ投資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Big Tech 4社の設備投資（年間）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94760" y="3621024"/>
            <a:ext cx="3566160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11930" y="3471188"/>
            <a:ext cx="457200" cy="149835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9476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03470" y="3429567"/>
            <a:ext cx="457200" cy="191456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630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95010" y="3279732"/>
            <a:ext cx="457200" cy="341291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86550" y="3017520"/>
            <a:ext cx="457200" cy="60350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9380" y="368503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37910" y="2779776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E767F"/>
                </a:solidFill>
                <a:latin typeface="Consolas"/>
                <a:ea typeface="Consolas"/>
              </a:rPr>
              <a:t>7,250億ドル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2999232"/>
            <a:ext cx="1600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約4倍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2999232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3977639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4261104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国内DC建設投資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日本のデータセンター建設（年間）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94760" y="4809744"/>
            <a:ext cx="3566160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60520" y="4615295"/>
            <a:ext cx="457200" cy="194448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94760" y="487375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4507992"/>
            <a:ext cx="457200" cy="301752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83480" y="487375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37960" y="4206240"/>
            <a:ext cx="457200" cy="60350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72200" y="487375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E767F"/>
                </a:solidFill>
                <a:latin typeface="Consolas"/>
                <a:ea typeface="Consolas"/>
              </a:rPr>
              <a:t>’28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89320" y="3968496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6E767F"/>
                </a:solidFill>
                <a:latin typeface="Consolas"/>
                <a:ea typeface="Consolas"/>
              </a:rPr>
              <a:t>1兆円超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9560" y="4187952"/>
            <a:ext cx="1600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>
                <a:solidFill>
                  <a:srgbClr val="E60012"/>
                </a:solidFill>
                <a:latin typeface="Noto Sans JP"/>
                <a:ea typeface="Noto Sans JP"/>
              </a:rPr>
              <a:t>約3倍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4187952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E767F"/>
                </a:solidFill>
                <a:latin typeface="Noto Sans JP"/>
                <a:ea typeface="Noto Sans JP"/>
              </a:rPr>
              <a:t>に伸びた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" y="5486400"/>
            <a:ext cx="82296" cy="47548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992" y="5440680"/>
            <a:ext cx="1026871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投資のピークは2027〜2028年。この波は、まだ“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序盤</a:t>
            </a: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”だ。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36208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1A9"/>
                </a:solidFill>
                <a:latin typeface="Consolas"/>
                <a:ea typeface="Consolas"/>
              </a:rPr>
              <a:t>出典：NVIDIA IR／Big Tech各社IR・報道／IDC Japan（国内DC建設投資）。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AI需要 → 連鎖して伸びる、日本のバリューチェーン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AIが伸びれば、この“川”がまるごと潤う。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AI・DC需要の拡大</a:t>
            </a:r>
            <a:r>
              <a:rPr sz="1100" b="1">
                <a:solidFill>
                  <a:srgbClr val="6E767F"/>
                </a:solidFill>
                <a:latin typeface="Noto Sans JP"/>
                <a:ea typeface="Noto Sans JP"/>
              </a:rPr>
              <a:t>　この一手が、川上から川下までまるごと波及する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川上（源流）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10312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spc="100">
                <a:solidFill>
                  <a:srgbClr val="9AA1A9"/>
                </a:solidFill>
                <a:latin typeface="Consolas"/>
                <a:ea typeface="Consolas"/>
              </a:rPr>
              <a:t>川下（据付・保守の現場）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340864"/>
            <a:ext cx="10232136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36808" y="2240280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E60012"/>
                </a:solidFill>
                <a:latin typeface="Noto Sans JP"/>
                <a:ea typeface="Noto Sans JP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川崎重工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91947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1838" y="2670048"/>
            <a:ext cx="12700" cy="23774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931566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31566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1566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31566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送る・変える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31566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日立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31566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31566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1566" y="491947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0444" y="2670048"/>
            <a:ext cx="12700" cy="23774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40172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0172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0172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DC建設・設備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0172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0172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40172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0172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0172" y="491947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高砂熱学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39051" y="2670048"/>
            <a:ext cx="12700" cy="23774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48779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48779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48779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48779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48779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ダイキン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48779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GSユアサ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48779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荏原製作所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7657" y="2670048"/>
            <a:ext cx="12700" cy="237744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57385" y="2670048"/>
            <a:ext cx="1852574" cy="5486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57385" y="2816352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7385" y="3054096"/>
            <a:ext cx="18525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57385" y="3456432"/>
            <a:ext cx="185257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57385" y="3822191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57385" y="418795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7385" y="455371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57385" y="4919472"/>
            <a:ext cx="185257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・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信越化学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5294376"/>
            <a:ext cx="82296" cy="42062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" y="5248656"/>
            <a:ext cx="1026871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181C"/>
                </a:solidFill>
                <a:latin typeface="Noto Sans JP"/>
                <a:ea typeface="Noto Sans JP"/>
              </a:rPr>
              <a:t>AIの“源流”が、川下の日本メーカーまで、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まるごと潤す。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8992" y="5852160"/>
            <a:ext cx="10332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373C43"/>
                </a:solidFill>
                <a:latin typeface="Noto Sans JP"/>
                <a:ea typeface="Noto Sans JP"/>
              </a:rPr>
              <a:t>発電から半導体まで全段が同時に増収増益——狙える現場は、この一社一社にある。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6345936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1A9"/>
                </a:solidFill>
                <a:latin typeface="Consolas"/>
                <a:ea typeface="Consolas"/>
              </a:rPr>
              <a:t>※ 各段階の代表企業を抜粋（社名表記＝ロゴのイメージ、実ロゴへ差し替え可）。数値・詳細は次頁以降。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建設費の中身：どこにANDPADの市場があるか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お金の3/4は設備。効くのは機器代ではなく“工”＝据付・試運転・保守。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2635758" cy="896112"/>
          </a:xfrm>
          <a:prstGeom prst="rect">
            <a:avLst/>
          </a:prstGeom>
          <a:solidFill>
            <a:srgbClr val="535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8718" y="2011680"/>
            <a:ext cx="5271516" cy="89611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30234" y="2011680"/>
            <a:ext cx="2635758" cy="896112"/>
          </a:xfrm>
          <a:prstGeom prst="rect">
            <a:avLst/>
          </a:prstGeom>
          <a:solidFill>
            <a:srgbClr val="F0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47745" y="2011680"/>
            <a:ext cx="21945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19261" y="2011680"/>
            <a:ext cx="21945" cy="8961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011680"/>
            <a:ext cx="263575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建築（躯体）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8718" y="2011680"/>
            <a:ext cx="5271516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電気設備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約50%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0234" y="2011680"/>
            <a:ext cx="2635758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空調・機械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719072"/>
            <a:ext cx="263575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Consolas"/>
                <a:ea typeface="Consolas"/>
              </a:rPr>
              <a:t>建設（ゼネコン）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8718" y="1719072"/>
            <a:ext cx="790727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60012"/>
                </a:solidFill>
                <a:latin typeface="Consolas"/>
                <a:ea typeface="Consolas"/>
              </a:rPr>
              <a:t>設備＝製造業（電気・機械）  約75%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154680"/>
            <a:ext cx="10543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その「設備 約75%」を  </a:t>
            </a:r>
            <a:r>
              <a:rPr sz="1250" b="1">
                <a:solidFill>
                  <a:srgbClr val="6E767F"/>
                </a:solidFill>
                <a:latin typeface="Noto Sans JP"/>
                <a:ea typeface="Noto Sans JP"/>
              </a:rPr>
              <a:t>材（機器・材料）</a:t>
            </a:r>
            <a:r>
              <a:rPr sz="1250" b="0">
                <a:solidFill>
                  <a:srgbClr val="373C43"/>
                </a:solidFill>
                <a:latin typeface="Noto Sans JP"/>
                <a:ea typeface="Noto Sans JP"/>
              </a:rPr>
              <a:t>  と  </a:t>
            </a: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工（据付・施工＝人が動く）</a:t>
            </a:r>
            <a:r>
              <a:rPr sz="1250" b="1">
                <a:solidFill>
                  <a:srgbClr val="373C43"/>
                </a:solidFill>
                <a:latin typeface="Noto Sans JP"/>
                <a:ea typeface="Noto Sans JP"/>
              </a:rPr>
              <a:t>  に分けると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493008"/>
            <a:ext cx="6325819" cy="804672"/>
          </a:xfrm>
          <a:prstGeom prst="rect">
            <a:avLst/>
          </a:prstGeom>
          <a:solidFill>
            <a:srgbClr val="D2D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48779" y="3493008"/>
            <a:ext cx="4217212" cy="80467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7806" y="3493008"/>
            <a:ext cx="21945" cy="8046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493008"/>
            <a:ext cx="632581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5181C"/>
                </a:solidFill>
                <a:latin typeface="Noto Sans JP"/>
                <a:ea typeface="Noto Sans JP"/>
              </a:rPr>
              <a:t>材：機器・材料（変圧器・冷凍機・UPS 等）  約6割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48779" y="3493008"/>
            <a:ext cx="4217212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工：据付・施工  約4割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8779" y="4352544"/>
            <a:ext cx="42172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60012"/>
                </a:solidFill>
                <a:latin typeface="Consolas"/>
                <a:ea typeface="Consolas"/>
              </a:rPr>
              <a:t>↑ ここがANDPADの市場（工）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828032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5181C"/>
                </a:solidFill>
                <a:latin typeface="Noto Sans JP"/>
                <a:ea typeface="Noto Sans JP"/>
              </a:rPr>
              <a:t>据付・施工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  建設費の約3割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157216"/>
            <a:ext cx="3148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国内の設備工事そのもの＝中核市場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423" y="4828032"/>
            <a:ext cx="15240" cy="6400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7304" y="4828032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5181C"/>
                </a:solidFill>
                <a:latin typeface="Noto Sans JP"/>
                <a:ea typeface="Noto Sans JP"/>
              </a:rPr>
              <a:t>試運転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  建設費の1〜3%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7304" y="5157216"/>
            <a:ext cx="3148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世界の試運転市場 $2.1B → $4.3B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68768" y="4828032"/>
            <a:ext cx="15240" cy="6400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51647" y="4828032"/>
            <a:ext cx="3148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5181C"/>
                </a:solidFill>
                <a:latin typeface="Noto Sans JP"/>
                <a:ea typeface="Noto Sans JP"/>
              </a:rPr>
              <a:t>保守・運用</a:t>
            </a:r>
            <a:r>
              <a:rPr sz="1200" b="1">
                <a:solidFill>
                  <a:srgbClr val="E60012"/>
                </a:solidFill>
                <a:latin typeface="Noto Sans JP"/>
                <a:ea typeface="Noto Sans JP"/>
              </a:rPr>
              <a:t>  毎年・運用費の約4割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51647" y="5157216"/>
            <a:ext cx="31485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世界のDC運用保守 $15.8B → $45.6B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824728"/>
            <a:ext cx="82296" cy="420624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" y="5779008"/>
            <a:ext cx="1026871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5181C"/>
                </a:solidFill>
                <a:latin typeface="Noto Sans JP"/>
                <a:ea typeface="Noto Sans JP"/>
              </a:rPr>
              <a:t>建設業だけを見てきた。その周辺の“工”（据付・試運転・保守）に、</a:t>
            </a: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広大な市場</a:t>
            </a:r>
            <a:r>
              <a:rPr sz="1600" b="1">
                <a:solidFill>
                  <a:srgbClr val="15181C"/>
                </a:solidFill>
                <a:latin typeface="Noto Sans JP"/>
                <a:ea typeface="Noto Sans JP"/>
              </a:rPr>
              <a:t>がある。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566928"/>
            <a:ext cx="128016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50292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spc="150">
                <a:solidFill>
                  <a:srgbClr val="E60012"/>
                </a:solidFill>
                <a:latin typeface="Consolas"/>
                <a:ea typeface="Consolas"/>
              </a:rPr>
              <a:t>バリューチェーン別・国内主要プレーヤーと伸び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502920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9AA1A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841248"/>
            <a:ext cx="10543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15181C"/>
                </a:solidFill>
                <a:latin typeface="Noto Sans JP"/>
                <a:ea typeface="Noto Sans JP"/>
              </a:rPr>
              <a:t>国内のAI投資は、製造業のこの現場に着地している。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10543032" cy="1778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1838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31566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1566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1566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1566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変圧器 生産能力2倍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1566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日立・ダイヘン・フジクラ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444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0172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0172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0172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0172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0172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ダイダン・高砂熱学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39051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8779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8779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8779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8779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48779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ダイキン・GSユアサ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7657" y="1828800"/>
            <a:ext cx="15240" cy="27432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7385" y="1828800"/>
            <a:ext cx="185257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spc="100">
                <a:solidFill>
                  <a:srgbClr val="9AA1A9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7385" y="2084832"/>
            <a:ext cx="188915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5181C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7385" y="2578608"/>
            <a:ext cx="188915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E767F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7385" y="2999232"/>
            <a:ext cx="183428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57385" y="3977639"/>
            <a:ext cx="187086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73C43"/>
                </a:solidFill>
                <a:latin typeface="Noto Sans JP"/>
                <a:ea typeface="Noto Sans JP"/>
              </a:rPr>
              <a:t>キオクシア・東京ｴﾚｸﾄﾛﾝ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754880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956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6E767F"/>
                </a:solidFill>
                <a:latin typeface="Consolas"/>
                <a:ea typeface="Consolas"/>
              </a:rPr>
              <a:t>我々の入り方：</a:t>
            </a:r>
            <a:r>
              <a:rPr sz="1300" b="1">
                <a:solidFill>
                  <a:srgbClr val="373C43"/>
                </a:solidFill>
                <a:latin typeface="Noto Sans JP"/>
                <a:ea typeface="Noto Sans JP"/>
              </a:rPr>
              <a:t>  A 発注者＝“建てる側”で管理</a:t>
            </a:r>
            <a:r>
              <a:rPr sz="1200" b="0">
                <a:solidFill>
                  <a:srgbClr val="9AA1A9"/>
                </a:solidFill>
                <a:latin typeface="Noto Sans JP"/>
                <a:ea typeface="Noto Sans JP"/>
              </a:rPr>
              <a:t>   /   </a:t>
            </a: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請負＝据付・試運転・保守を“納める側”で管理（本命）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5669280"/>
            <a:ext cx="82296" cy="4572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8992" y="5623560"/>
            <a:ext cx="1026871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川上から川下まで、全段が同時に増収増益。</a:t>
            </a:r>
            <a:r>
              <a:rPr sz="1700" b="1">
                <a:solidFill>
                  <a:srgbClr val="E60012"/>
                </a:solidFill>
                <a:latin typeface="Noto Sans JP"/>
                <a:ea typeface="Noto Sans JP"/>
              </a:rPr>
              <a:t>狙える現場が、日本中に生まれている。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097280"/>
            <a:ext cx="137160" cy="1371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0704" y="102412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200">
                <a:solidFill>
                  <a:srgbClr val="E60012"/>
                </a:solidFill>
                <a:latin typeface="Consolas"/>
                <a:ea typeface="Consolas"/>
              </a:rPr>
              <a:t>SO, LET'S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627632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15181C"/>
                </a:solidFill>
                <a:latin typeface="Noto Sans JP"/>
                <a:ea typeface="Noto Sans JP"/>
              </a:rPr>
              <a:t>次の主戦場は、</a:t>
            </a:r>
            <a:r>
              <a:rPr sz="44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4400" b="1">
                <a:solidFill>
                  <a:srgbClr val="15181C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2926080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548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60012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575304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市場は建設の3倍広い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575304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73C43"/>
                </a:solidFill>
                <a:latin typeface="Noto Sans JP"/>
                <a:ea typeface="Noto Sans JP"/>
              </a:rPr>
              <a:t>DC建設費の約3/4は電気・機械設備＝製造業。据付・試運転・保守まで現場が続く。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88536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61688"/>
            <a:ext cx="548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60012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4416552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追い風は本物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16552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73C43"/>
                </a:solidFill>
                <a:latin typeface="Noto Sans JP"/>
                <a:ea typeface="Noto Sans JP"/>
              </a:rPr>
              <a:t>AIチップ需要は3年で約13倍、投資ピークは2027-28。受注残に裏打ちされた構造需要。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129784"/>
            <a:ext cx="10543032" cy="12700"/>
          </a:xfrm>
          <a:prstGeom prst="rect">
            <a:avLst/>
          </a:prstGeom>
          <a:solidFill>
            <a:srgbClr val="D6D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202936"/>
            <a:ext cx="5486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60012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257800"/>
            <a:ext cx="4114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5181C"/>
                </a:solidFill>
                <a:latin typeface="Noto Sans JP"/>
                <a:ea typeface="Noto Sans JP"/>
              </a:rPr>
              <a:t>武器は完成済み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5257800"/>
            <a:ext cx="5669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73C43"/>
                </a:solidFill>
                <a:latin typeface="Noto Sans JP"/>
                <a:ea typeface="Noto Sans JP"/>
              </a:rPr>
              <a:t>建設で磨いた現場管理は、製造業の据付・保守フィールドに“そのまま効く”。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144768"/>
            <a:ext cx="10543032" cy="4572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63093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5181C"/>
                </a:solidFill>
                <a:latin typeface="Noto Sans JP"/>
                <a:ea typeface="Noto Sans JP"/>
              </a:rPr>
              <a:t>建設の“周辺”に広がる巨大市場を、100人でつかみにいこう。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