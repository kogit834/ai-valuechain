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35331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 ·   WHY MANUFACTURING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148840"/>
            <a:ext cx="10698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71A1E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71A1E"/>
                </a:solidFill>
                <a:latin typeface="Noto Sans JP"/>
                <a:ea typeface="Noto Sans JP"/>
              </a:rPr>
              <a:t>なぜ、いま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000" b="1">
                <a:solidFill>
                  <a:srgbClr val="171A1E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2743200" cy="304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4348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C4148"/>
                </a:solidFill>
                <a:latin typeface="Noto Sans JP"/>
                <a:ea typeface="Noto Sans JP"/>
              </a:rPr>
              <a:t>AIをはじめとする世界のメガトレンドは、膨大な“設備”を必要とする。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C4148"/>
                </a:solidFill>
                <a:latin typeface="Noto Sans JP"/>
                <a:ea typeface="Noto Sans JP"/>
              </a:rPr>
              <a:t>そして設備を作り・建てるのは、建設業だけでなく製造業がコア——その市場が、いま圧倒的に広がっている。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63640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A5ABB2"/>
                </a:solidFill>
                <a:latin typeface="Consolas"/>
                <a:ea typeface="Consolas"/>
              </a:rPr>
              <a:t>2026-07   /   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521207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E60012"/>
                </a:solidFill>
                <a:latin typeface="Consolas"/>
                <a:ea typeface="Consolas"/>
              </a:rPr>
              <a:t>世界のメガトレンドと、その“共通の土台”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521207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5ABB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2296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71A1E"/>
                </a:solidFill>
                <a:latin typeface="Noto Sans JP"/>
                <a:ea typeface="Noto Sans JP"/>
              </a:rPr>
              <a:t>世界が動く先には、必ず「設備」がいる。その主役は、製造業だ。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89888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A5ABB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39112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● 本日フォーカス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07208"/>
            <a:ext cx="30114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A828B"/>
                </a:solidFill>
                <a:latin typeface="Noto Sans JP"/>
                <a:ea typeface="Noto Sans JP"/>
              </a:rPr>
              <a:t>生成AI・データセンター・半導体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3011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電源・冷却・建屋・チップ工場が大量に要る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6136" y="1783080"/>
            <a:ext cx="12700" cy="178308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7304" y="1783080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A5ABB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7304" y="2039112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71A1E"/>
                </a:solidFill>
                <a:latin typeface="Noto Sans JP"/>
                <a:ea typeface="Noto Sans JP"/>
              </a:rPr>
              <a:t>脱炭素（GX）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7304" y="2496312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A828B"/>
                </a:solidFill>
                <a:latin typeface="Noto Sans JP"/>
                <a:ea typeface="Noto Sans JP"/>
              </a:rPr>
              <a:t>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7304" y="2807208"/>
            <a:ext cx="30114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A828B"/>
                </a:solidFill>
                <a:latin typeface="Noto Sans JP"/>
                <a:ea typeface="Noto Sans JP"/>
              </a:rPr>
              <a:t>再エネ・送電網・電化・蓄電池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7304" y="3154680"/>
            <a:ext cx="3011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発電・変電・ケーブル・電池／EV工場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0479" y="1783080"/>
            <a:ext cx="12700" cy="178308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1647" y="1783080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A5ABB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1647" y="2039112"/>
            <a:ext cx="305714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71A1E"/>
                </a:solidFill>
                <a:latin typeface="Noto Sans JP"/>
                <a:ea typeface="Noto Sans JP"/>
              </a:rPr>
              <a:t>経済安保・国内回帰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7" y="2496312"/>
            <a:ext cx="3057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A828B"/>
                </a:solidFill>
                <a:latin typeface="Noto Sans JP"/>
                <a:ea typeface="Noto Sans JP"/>
              </a:rPr>
              <a:t>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2807208"/>
            <a:ext cx="30114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A828B"/>
                </a:solidFill>
                <a:latin typeface="Noto Sans JP"/>
                <a:ea typeface="Noto Sans JP"/>
              </a:rPr>
              <a:t>半導体・重要物資の国産化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7" y="3154680"/>
            <a:ext cx="3011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国内に工場を新設し、供給網を再構築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913632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1605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71A1E"/>
                </a:solidFill>
                <a:latin typeface="Noto Sans JP"/>
                <a:ea typeface="Noto Sans JP"/>
              </a:rPr>
              <a:t>どのメガトレンドも、実現するには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膨大な“設備”</a:t>
            </a:r>
            <a:r>
              <a:rPr sz="1700" b="1">
                <a:solidFill>
                  <a:srgbClr val="171A1E"/>
                </a:solidFill>
                <a:latin typeface="Noto Sans JP"/>
                <a:ea typeface="Noto Sans JP"/>
              </a:rPr>
              <a:t>がいる。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70916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そして設備を作る・建てるのは、建設業だけではない——</a:t>
            </a:r>
            <a:r>
              <a:rPr sz="1350" b="1">
                <a:solidFill>
                  <a:srgbClr val="171A1E"/>
                </a:solidFill>
                <a:latin typeface="Noto Sans JP"/>
                <a:ea typeface="Noto Sans JP"/>
              </a:rPr>
              <a:t>重電・機械・電機など製造業がコア。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440680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623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→ 今日はその中で、最も勢いのある「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」に絞って話す。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521207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521207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5ABB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2296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71A1E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89888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7A828B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2404872"/>
            <a:ext cx="3520440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42791" y="2362884"/>
            <a:ext cx="384048" cy="41987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9736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901" y="2270511"/>
            <a:ext cx="384048" cy="134360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4870" y="2459736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3011" y="2082965"/>
            <a:ext cx="384048" cy="321906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4980" y="2459736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3121" y="1856232"/>
            <a:ext cx="384048" cy="5486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5090" y="2459736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481" y="1636776"/>
            <a:ext cx="1481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A828B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1783080"/>
            <a:ext cx="1463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783080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828B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752344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26664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7A828B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4760" y="3575304"/>
            <a:ext cx="3520440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42791" y="3439089"/>
            <a:ext cx="384048" cy="136214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3630168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22901" y="3401252"/>
            <a:ext cx="384048" cy="174051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4870" y="3630168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3011" y="3265038"/>
            <a:ext cx="384048" cy="310265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54980" y="3630168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3121" y="3026664"/>
            <a:ext cx="384048" cy="5486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5090" y="3630168"/>
            <a:ext cx="8801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4481" y="2807208"/>
            <a:ext cx="1481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A828B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53512"/>
            <a:ext cx="1463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2953512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828B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3922776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197096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7A828B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745736"/>
            <a:ext cx="3520440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89476" y="4568964"/>
            <a:ext cx="384048" cy="176771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60" y="4800600"/>
            <a:ext cx="117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62956" y="4471416"/>
            <a:ext cx="384048" cy="274320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68240" y="4800600"/>
            <a:ext cx="117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6436" y="4197096"/>
            <a:ext cx="384048" cy="5486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1720" y="4800600"/>
            <a:ext cx="117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7A828B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7796" y="3977640"/>
            <a:ext cx="1481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A828B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123944"/>
            <a:ext cx="1463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4123944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828B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5257800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4406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71A1E"/>
                </a:solidFill>
                <a:latin typeface="Noto Sans JP"/>
                <a:ea typeface="Noto Sans JP"/>
              </a:rPr>
              <a:t>投資のピークは2027〜2028年。この波は、まだ“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序盤</a:t>
            </a:r>
            <a:r>
              <a:rPr sz="1600" b="1">
                <a:solidFill>
                  <a:srgbClr val="171A1E"/>
                </a:solidFill>
                <a:latin typeface="Noto Sans JP"/>
                <a:ea typeface="Noto Sans JP"/>
              </a:rPr>
              <a:t>”だ。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6144768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A5ABB2"/>
                </a:solidFill>
                <a:latin typeface="Consolas"/>
                <a:ea typeface="Consolas"/>
              </a:rPr>
              <a:t>出典：NVIDIA IR／Big Tech各社IR・報道／IDC Japan（国内DC建設投資）。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521207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521207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5ABB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2296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71A1E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89888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AI・DC需要の拡大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この一手が、川下までまるごと波及する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31720"/>
            <a:ext cx="10543032" cy="203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95728"/>
            <a:ext cx="10543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183428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90088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65576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58184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50791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1838" y="2788920"/>
            <a:ext cx="12700" cy="196596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1566" y="2788920"/>
            <a:ext cx="183428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1566" y="2990088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1566" y="3465576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758184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4050791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4343400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0444" y="2788920"/>
            <a:ext cx="12700" cy="196596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0172" y="2788920"/>
            <a:ext cx="183428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0172" y="2990088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0172" y="3465576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172" y="3758184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0172" y="4050791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0172" y="4343400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39051" y="2788920"/>
            <a:ext cx="12700" cy="196596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8779" y="2788920"/>
            <a:ext cx="183428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8779" y="2990088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8779" y="3465576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48779" y="3758184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48779" y="4050791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7657" y="2788920"/>
            <a:ext cx="12700" cy="196596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7385" y="2788920"/>
            <a:ext cx="183428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7385" y="2990088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7385" y="3465576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7385" y="3758184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7385" y="4050791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7385" y="4343400"/>
            <a:ext cx="18525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074920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2852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71A1E"/>
                </a:solidFill>
                <a:latin typeface="Noto Sans JP"/>
                <a:ea typeface="Noto Sans JP"/>
              </a:rPr>
              <a:t>AIの“源流”が、川下の日本メーカーまで、まるごと潤す。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57424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狙える現場は、この一社一社にある。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6263640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A5ABB2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521207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521207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5ABB2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2296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71A1E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89888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2635758" cy="749808"/>
          </a:xfrm>
          <a:prstGeom prst="rect">
            <a:avLst/>
          </a:prstGeom>
          <a:solidFill>
            <a:srgbClr val="5A6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8718" y="1874519"/>
            <a:ext cx="5271516" cy="749808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30234" y="1874519"/>
            <a:ext cx="2635758" cy="749808"/>
          </a:xfrm>
          <a:prstGeom prst="rect">
            <a:avLst/>
          </a:prstGeom>
          <a:solidFill>
            <a:srgbClr val="ADB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9574" y="1874519"/>
            <a:ext cx="18288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21090" y="1874519"/>
            <a:ext cx="18288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874519"/>
            <a:ext cx="263575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8718" y="1874519"/>
            <a:ext cx="527151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1E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1E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1874519"/>
            <a:ext cx="263575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1A1E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1E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618487"/>
            <a:ext cx="26357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8718" y="1618487"/>
            <a:ext cx="790727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80360"/>
            <a:ext cx="105430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C4148"/>
                </a:solidFill>
                <a:latin typeface="Noto Sans JP"/>
                <a:ea typeface="Noto Sans JP"/>
              </a:rPr>
              <a:t>その「設備 約75%」を  </a:t>
            </a:r>
            <a:r>
              <a:rPr sz="1100" b="1">
                <a:solidFill>
                  <a:srgbClr val="7A828B"/>
                </a:solidFill>
                <a:latin typeface="Noto Sans JP"/>
                <a:ea typeface="Noto Sans JP"/>
              </a:rPr>
              <a:t>材（機器・材料）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  と  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100" b="1">
                <a:solidFill>
                  <a:srgbClr val="3C4148"/>
                </a:solidFill>
                <a:latin typeface="Noto Sans JP"/>
                <a:ea typeface="Noto Sans JP"/>
              </a:rPr>
              <a:t>  に分けると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82112"/>
            <a:ext cx="6325819" cy="713232"/>
          </a:xfrm>
          <a:prstGeom prst="rect">
            <a:avLst/>
          </a:prstGeom>
          <a:solidFill>
            <a:srgbClr val="CF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48779" y="3182112"/>
            <a:ext cx="4217212" cy="7132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9635" y="3182112"/>
            <a:ext cx="18288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182112"/>
            <a:ext cx="63258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71A1E"/>
                </a:solidFill>
                <a:latin typeface="Noto Sans JP"/>
                <a:ea typeface="Noto Sans JP"/>
              </a:rPr>
              <a:t>材：機器・材料（変圧器・冷凍機・UPS 等）  約6割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8779" y="3182112"/>
            <a:ext cx="421721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8779" y="3941063"/>
            <a:ext cx="42172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34840"/>
            <a:ext cx="3148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据付・施工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  建設費の約3割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27448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国内の設備工事そのもの＝中核市場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2712" y="4434840"/>
            <a:ext cx="12700" cy="603504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7304" y="4434840"/>
            <a:ext cx="3148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試運転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  建設費の1〜3%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7304" y="4727448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世界の試運転市場 $2.1B → $4.3B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7056" y="4434840"/>
            <a:ext cx="12700" cy="603504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1647" y="4434840"/>
            <a:ext cx="3148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保守・運用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  毎年・運用費の約4割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7" y="4727448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世界のDC運用保守 $15.8B → $45.6B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349240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55321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71A1E"/>
                </a:solidFill>
                <a:latin typeface="Noto Sans JP"/>
                <a:ea typeface="Noto Sans JP"/>
              </a:rPr>
              <a:t>これまで建設業だけを見てきた。その周辺の“工”（据付・試運転・保守）に、</a:t>
            </a: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広大な市場</a:t>
            </a:r>
            <a:r>
              <a:rPr sz="1400" b="1">
                <a:solidFill>
                  <a:srgbClr val="171A1E"/>
                </a:solidFill>
                <a:latin typeface="Noto Sans JP"/>
                <a:ea typeface="Noto Sans JP"/>
              </a:rPr>
              <a:t>がある。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6199632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A5ABB2"/>
                </a:solidFill>
                <a:latin typeface="Consolas"/>
                <a:ea typeface="Consolas"/>
              </a:rPr>
              <a:t>出典：日経xTECH（設備工事≒建設費の75%）／材工比・試運転1〜3%は積算・業界目安／市場：DataIntelo・DataHorizon。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521207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521207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5ABB2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2296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71A1E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89888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8525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84248"/>
            <a:ext cx="187086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18708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07208"/>
            <a:ext cx="183428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49039"/>
            <a:ext cx="18525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1838" y="1783080"/>
            <a:ext cx="12700" cy="26060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1566" y="1783080"/>
            <a:ext cx="18525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1566" y="1984248"/>
            <a:ext cx="187086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1566" y="2423160"/>
            <a:ext cx="18708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1566" y="2807208"/>
            <a:ext cx="183428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1566" y="3749039"/>
            <a:ext cx="18525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日立・ダイヘン・フジクラ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444" y="1783080"/>
            <a:ext cx="12700" cy="26060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0172" y="1783080"/>
            <a:ext cx="18525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172" y="1984248"/>
            <a:ext cx="187086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172" y="2423160"/>
            <a:ext cx="18708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0172" y="2807208"/>
            <a:ext cx="183428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0172" y="3749039"/>
            <a:ext cx="18525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ダイダン・高砂熱学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39051" y="1783080"/>
            <a:ext cx="12700" cy="26060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8779" y="1783080"/>
            <a:ext cx="18525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8779" y="1984248"/>
            <a:ext cx="187086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8779" y="2423160"/>
            <a:ext cx="18708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8779" y="2807208"/>
            <a:ext cx="183428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8779" y="3749039"/>
            <a:ext cx="18525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ダイキン・GSユアサ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7657" y="1783080"/>
            <a:ext cx="12700" cy="26060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7385" y="1783080"/>
            <a:ext cx="18525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spc="100">
                <a:solidFill>
                  <a:srgbClr val="A5ABB2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7385" y="1984248"/>
            <a:ext cx="187086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1E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7385" y="2423160"/>
            <a:ext cx="18708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828B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7385" y="2807208"/>
            <a:ext cx="183428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7385" y="3749039"/>
            <a:ext cx="18525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617720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48280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828B"/>
                </a:solidFill>
                <a:latin typeface="Consolas"/>
                <a:ea typeface="Consolas"/>
              </a:rPr>
              <a:t>我々の入り方：</a:t>
            </a:r>
            <a:r>
              <a:rPr sz="1200" b="1">
                <a:solidFill>
                  <a:srgbClr val="3C4148"/>
                </a:solidFill>
                <a:latin typeface="Noto Sans JP"/>
                <a:ea typeface="Noto Sans JP"/>
              </a:rPr>
              <a:t>  A 発注者＝工場増設・自社DCを“建てる側”で管理</a:t>
            </a:r>
            <a:r>
              <a:rPr sz="1100" b="0">
                <a:solidFill>
                  <a:srgbClr val="A5ABB2"/>
                </a:solidFill>
                <a:latin typeface="Noto Sans JP"/>
                <a:ea typeface="Noto Sans JP"/>
              </a:rPr>
              <a:t>   /   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440680"/>
            <a:ext cx="10543032" cy="1524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623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川上から川下まで、全段が同時に増収増益。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9728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98755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200">
                <a:solidFill>
                  <a:srgbClr val="E60012"/>
                </a:solidFill>
                <a:latin typeface="Consolas"/>
                <a:ea typeface="Consolas"/>
              </a:rPr>
              <a:t>SO, LET'S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5544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71A1E"/>
                </a:solidFill>
                <a:latin typeface="Noto Sans JP"/>
                <a:ea typeface="Noto Sans JP"/>
              </a:rPr>
              <a:t>次の主戦場は、</a:t>
            </a: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800" b="1">
                <a:solidFill>
                  <a:srgbClr val="171A1E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80360"/>
            <a:ext cx="2743200" cy="304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46704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市場は建設の3倍広い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346704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78224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33087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追い風は本物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133087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09744"/>
            <a:ext cx="10543032" cy="12700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864608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919472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71A1E"/>
                </a:solidFill>
                <a:latin typeface="Noto Sans JP"/>
                <a:ea typeface="Noto Sans JP"/>
              </a:rPr>
              <a:t>武器は完成済み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919472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943600"/>
            <a:ext cx="10543032" cy="203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610819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71A1E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