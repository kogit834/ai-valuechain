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6304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3898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ANDPAD 本部総会   ·   WHY MANUFACTURING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24028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なぜ、いま</a:t>
            </a:r>
            <a:r>
              <a:rPr sz="46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348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70916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AIをはじめ世界のメガトレンドは、膨大な“設備”を必要とする。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それを作り・建てるのは、建設業だけでなく製造業がコア——その市場が、いま圧倒的に広がっている。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6455664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1A9"/>
                </a:solidFill>
                <a:latin typeface="Consolas"/>
                <a:ea typeface="Consolas"/>
              </a:rPr>
              <a:t>2026-07   /   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世界のメガトレンドと、その“共通の土台”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世界が動く先には、必ず「設備」がいる。その主役は、製造業だ。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3057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1302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33472"/>
            <a:ext cx="3148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Consolas"/>
                <a:ea typeface="Consolas"/>
              </a:rPr>
              <a:t>●  本日フォーカス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35808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E767F"/>
                </a:solidFill>
                <a:latin typeface="Noto Sans JP"/>
                <a:ea typeface="Noto Sans JP"/>
              </a:rPr>
              <a:t>生成AI・データセンター・半導体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0571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450" b="0">
                <a:solidFill>
                  <a:srgbClr val="373C43"/>
                </a:solidFill>
                <a:latin typeface="Noto Sans JP"/>
                <a:ea typeface="Noto Sans JP"/>
              </a:rPr>
              <a:t>電源・冷却・建屋・チップ工場が大量に要る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7847" y="1856231"/>
            <a:ext cx="15240" cy="20574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7304" y="1810512"/>
            <a:ext cx="3057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7304" y="2103120"/>
            <a:ext cx="31302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181C"/>
                </a:solidFill>
                <a:latin typeface="Noto Sans JP"/>
                <a:ea typeface="Noto Sans JP"/>
              </a:rPr>
              <a:t>脱炭素（GX）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7304" y="3035808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E767F"/>
                </a:solidFill>
                <a:latin typeface="Noto Sans JP"/>
                <a:ea typeface="Noto Sans JP"/>
              </a:rPr>
              <a:t>再エネ・送電網・電化・蓄電池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7304" y="3474720"/>
            <a:ext cx="30571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450" b="0">
                <a:solidFill>
                  <a:srgbClr val="373C43"/>
                </a:solidFill>
                <a:latin typeface="Noto Sans JP"/>
                <a:ea typeface="Noto Sans JP"/>
              </a:rPr>
              <a:t>発電・変電・ケーブル・電池／EV工場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2191" y="1856231"/>
            <a:ext cx="15240" cy="20574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51647" y="1810512"/>
            <a:ext cx="3057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7" y="2103120"/>
            <a:ext cx="31302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181C"/>
                </a:solidFill>
                <a:latin typeface="Noto Sans JP"/>
                <a:ea typeface="Noto Sans JP"/>
              </a:rPr>
              <a:t>経済安保・国内回帰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1647" y="3035808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E767F"/>
                </a:solidFill>
                <a:latin typeface="Noto Sans JP"/>
                <a:ea typeface="Noto Sans JP"/>
              </a:rPr>
              <a:t>半導体・重要物資の国産化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7" y="3474720"/>
            <a:ext cx="30571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450" b="0">
                <a:solidFill>
                  <a:srgbClr val="373C43"/>
                </a:solidFill>
                <a:latin typeface="Noto Sans JP"/>
                <a:ea typeface="Noto Sans JP"/>
              </a:rPr>
              <a:t>国内に工場を新設し、供給網を再構築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0624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どのメガトレンドも、実現するには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膨大な“設備”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がいる。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0292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373C43"/>
                </a:solidFill>
                <a:latin typeface="Noto Sans JP"/>
                <a:ea typeface="Noto Sans JP"/>
              </a:rPr>
              <a:t>設備を作る・建てるのは、建設業だけではない——</a:t>
            </a:r>
            <a:r>
              <a:rPr sz="1550" b="1">
                <a:solidFill>
                  <a:srgbClr val="15181C"/>
                </a:solidFill>
                <a:latin typeface="Noto Sans JP"/>
                <a:ea typeface="Noto Sans JP"/>
              </a:rPr>
              <a:t>重電・機械・電機など製造業がコア。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760720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715000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→ 今日はその中で、最も勢いのある「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」に絞って話す。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243230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1930" y="2386117"/>
            <a:ext cx="457200" cy="4618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03470" y="2284507"/>
            <a:ext cx="457200" cy="1477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5010" y="2078207"/>
            <a:ext cx="457200" cy="3540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6550" y="182880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7910" y="159105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181051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181051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78892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7238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4760" y="362102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11930" y="3471188"/>
            <a:ext cx="457200" cy="149835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3470" y="3429567"/>
            <a:ext cx="457200" cy="19145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630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95010" y="3279732"/>
            <a:ext cx="457200" cy="341291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6550" y="301752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938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7910" y="277977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99923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99923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3977639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26110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80974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0520" y="4615295"/>
            <a:ext cx="457200" cy="194448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6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4507992"/>
            <a:ext cx="457200" cy="30175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7960" y="420624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96849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18795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18795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5486400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" y="5440680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投資のピークは2027〜2028年。この波は、まだ“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序盤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”だ。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36208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出典：NVIDIA IR／Big Tech各社IR・報道／IDC Japan（国内DC建設投資）。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AI・DC需要の拡大</a:t>
            </a:r>
            <a:r>
              <a:rPr sz="1100" b="1">
                <a:solidFill>
                  <a:srgbClr val="6E767F"/>
                </a:solidFill>
                <a:latin typeface="Noto Sans JP"/>
                <a:ea typeface="Noto Sans JP"/>
              </a:rPr>
              <a:t>　この一手が、川下までまるごと波及する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10543032" cy="4114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83428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187086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37560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21608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05656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9704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21838" y="2514600"/>
            <a:ext cx="15240" cy="233172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1566" y="2514600"/>
            <a:ext cx="183428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1566" y="2770632"/>
            <a:ext cx="187086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1566" y="3337560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1566" y="3721608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1566" y="4105656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4489704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0444" y="2514600"/>
            <a:ext cx="15240" cy="233172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0172" y="2514600"/>
            <a:ext cx="183428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0172" y="2770632"/>
            <a:ext cx="187086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0172" y="3337560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0172" y="3721608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0172" y="4105656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172" y="4489704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39051" y="2514600"/>
            <a:ext cx="15240" cy="233172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48779" y="2514600"/>
            <a:ext cx="183428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8779" y="2770632"/>
            <a:ext cx="187086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8779" y="3337560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8779" y="3721608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8779" y="4105656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7657" y="2514600"/>
            <a:ext cx="15240" cy="233172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57385" y="2514600"/>
            <a:ext cx="183428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7385" y="2770632"/>
            <a:ext cx="187086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7385" y="3337560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7385" y="3721608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7385" y="4105656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7385" y="4489704"/>
            <a:ext cx="18708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3C43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257800"/>
            <a:ext cx="82296" cy="43891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992" y="5212080"/>
            <a:ext cx="1026871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AIの“源流”が、川下の日本メーカーまで、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まるごと潤す。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3C43"/>
                </a:solidFill>
                <a:latin typeface="Noto Sans JP"/>
                <a:ea typeface="Noto Sans JP"/>
              </a:rPr>
              <a:t>狙える現場は、この一社一社にある。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327648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solidFill>
            <a:srgbClr val="F0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745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19261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719072"/>
            <a:ext cx="2635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8718" y="1719072"/>
            <a:ext cx="79072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546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その「設備 約75%」を  </a:t>
            </a:r>
            <a:r>
              <a:rPr sz="1250" b="1">
                <a:solidFill>
                  <a:srgbClr val="6E767F"/>
                </a:solidFill>
                <a:latin typeface="Noto Sans JP"/>
                <a:ea typeface="Noto Sans JP"/>
              </a:rPr>
              <a:t>材（機器・材料）</a:t>
            </a:r>
            <a:r>
              <a:rPr sz="1250" b="0">
                <a:solidFill>
                  <a:srgbClr val="373C43"/>
                </a:solidFill>
                <a:latin typeface="Noto Sans JP"/>
                <a:ea typeface="Noto Sans JP"/>
              </a:rPr>
              <a:t>  と  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  に分けると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7806" y="3493008"/>
            <a:ext cx="21945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1C"/>
                </a:solidFill>
                <a:latin typeface="Noto Sans JP"/>
                <a:ea typeface="Noto Sans JP"/>
              </a:rPr>
              <a:t>材：機器・材料（変圧器・冷凍機・UPS 等）  約6割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8779" y="4352544"/>
            <a:ext cx="42172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据付・施工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建設費の約3割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国内の設備工事そのもの＝中核市場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423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7304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試運転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建設費の1〜3%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7304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世界の試運転市場 $2.1B → $4.3B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8768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1647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保守・運用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毎年・運用費の約4割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7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世界のDC運用保守 $15.8B → $45.6B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824728"/>
            <a:ext cx="82296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79008"/>
            <a:ext cx="1026871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建設業だけを見てきた。その周辺の“工”（据付・試運転・保守）に、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広大な市場</a:t>
            </a: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がある。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1838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1566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1566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1566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1566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1566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日立・ダイヘン・フジクラ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444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0172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172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172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0172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0172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ダイダン・高砂熱学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39051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8779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8779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8779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8779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8779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ダイキン・GSユアサ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7657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7385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7385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7385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7385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7385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7548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956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E767F"/>
                </a:solidFill>
                <a:latin typeface="Consolas"/>
                <a:ea typeface="Consolas"/>
              </a:rPr>
              <a:t>我々の入り方：</a:t>
            </a:r>
            <a:r>
              <a:rPr sz="1300" b="1">
                <a:solidFill>
                  <a:srgbClr val="373C43"/>
                </a:solidFill>
                <a:latin typeface="Noto Sans JP"/>
                <a:ea typeface="Noto Sans JP"/>
              </a:rPr>
              <a:t>  A 発注者＝“建てる側”で管理</a:t>
            </a:r>
            <a:r>
              <a:rPr sz="1200" b="0">
                <a:solidFill>
                  <a:srgbClr val="9AA1A9"/>
                </a:solidFill>
                <a:latin typeface="Noto Sans JP"/>
                <a:ea typeface="Noto Sans JP"/>
              </a:rPr>
              <a:t>   /   </a:t>
            </a: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669280"/>
            <a:ext cx="82296" cy="457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623560"/>
            <a:ext cx="1026871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川上から川下まで、全段が同時に増収増益。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0241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SO, LET'S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627632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次の主戦場は、</a:t>
            </a:r>
            <a:r>
              <a:rPr sz="44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57530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市場は建設の3倍広い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75304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88536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61688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41655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追い風は本物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1655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9784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02936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2578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武器は完成済み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5257800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144768"/>
            <a:ext cx="10543032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63093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5181C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