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23444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307592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E60012"/>
                </a:solidFill>
                <a:latin typeface="Consolas"/>
                <a:ea typeface="Consolas"/>
              </a:rPr>
              <a:t>ANDPAD 本部総会  ·  WHY MANUFACTURING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2057400"/>
            <a:ext cx="107899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建設SaaSの我々が、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なぜ、いま</a:t>
            </a:r>
            <a:r>
              <a:rPr sz="3900" b="1">
                <a:solidFill>
                  <a:srgbClr val="E60012"/>
                </a:solidFill>
                <a:latin typeface="Noto Sans JP"/>
                <a:ea typeface="Noto Sans JP"/>
              </a:rPr>
              <a:t>製造業</a:t>
            </a:r>
            <a:r>
              <a:rPr sz="3900" b="1">
                <a:solidFill>
                  <a:srgbClr val="1A1D21"/>
                </a:solidFill>
                <a:latin typeface="Noto Sans JP"/>
                <a:ea typeface="Noto Sans JP"/>
              </a:rPr>
              <a:t>なのか。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406908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AIが、日本の製造業を</a:t>
            </a:r>
            <a:r>
              <a:rPr sz="1900" b="1">
                <a:solidFill>
                  <a:srgbClr val="E60012"/>
                </a:solidFill>
                <a:latin typeface="Noto Sans JP"/>
                <a:ea typeface="Noto Sans JP"/>
              </a:rPr>
              <a:t>“歴史的な建設・据付ラッシュ”</a:t>
            </a:r>
            <a:r>
              <a:rPr sz="1900" b="0">
                <a:solidFill>
                  <a:srgbClr val="3C4148"/>
                </a:solidFill>
                <a:latin typeface="Noto Sans JP"/>
                <a:ea typeface="Noto Sans JP"/>
              </a:rPr>
              <a:t>に変えている。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5029200"/>
            <a:ext cx="3840480" cy="27432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5212080"/>
            <a:ext cx="104241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しかもお金の大半は、建物ではなく“電気・機械設備”＝製造業に流れる。据付・試運転・保守まで人が動き続ける。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3C4148"/>
                </a:solidFill>
                <a:latin typeface="Noto Sans JP"/>
                <a:ea typeface="Noto Sans JP"/>
              </a:rPr>
              <a:t>増える現場、足りない人手。その差を埋めるのが、我々ANDPADの現場管理だ。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6400800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8A9098"/>
                </a:solidFill>
                <a:latin typeface="Consolas"/>
                <a:ea typeface="Consolas"/>
              </a:rPr>
              <a:t>2026-07  /  出典：AIインフラ・バリューチェーン調査（国内外154社・決算/IR一次情報）＋公開データ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なぜ、いま製造業がアツいのか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AIブームは“クラウドの話”ではない。電気と鉄と現場の話だ。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81328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481328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1737360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きっかけ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AIは“電気と設備の塊”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DC（データセンター）1棟で数万世帯分の電力。膨大な発電・変圧器・冷却・半導体が要る。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78807" y="1984248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481328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80559" y="1481328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737360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連鎖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製造業が一斉に動き出す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重電・電線・空調・UPS・半導体——各社が工場を増設し、機器の製造・納入・据付が全国で立ち上がる。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82127" y="1984248"/>
            <a:ext cx="3291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60012"/>
                </a:solidFill>
                <a:latin typeface="Consolas"/>
                <a:ea typeface="Consolas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481328"/>
            <a:ext cx="34290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83879" y="1481328"/>
            <a:ext cx="3429000" cy="9144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39911" y="1737360"/>
            <a:ext cx="2916936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050" b="1" spc="100">
                <a:solidFill>
                  <a:srgbClr val="E60012"/>
                </a:solidFill>
                <a:latin typeface="Consolas"/>
                <a:ea typeface="Consolas"/>
              </a:rPr>
              <a:t>結果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1A1D21"/>
                </a:solidFill>
                <a:latin typeface="Noto Sans JP"/>
                <a:ea typeface="Noto Sans JP"/>
              </a:rPr>
              <a:t>“現場”が全国で急増する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0">
                <a:solidFill>
                  <a:srgbClr val="3C4148"/>
                </a:solidFill>
                <a:latin typeface="Noto Sans JP"/>
                <a:ea typeface="Noto Sans JP"/>
              </a:rPr>
              <a:t>工場を建てる現場も、機器を据え付け・試運転・保守する現場も、同時多発で増えていく。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611880"/>
            <a:ext cx="10634472" cy="1234440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822191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A1D21"/>
                </a:solidFill>
                <a:latin typeface="Noto Sans JP"/>
                <a:ea typeface="Noto Sans JP"/>
              </a:rPr>
              <a:t>いま製造業は、建設業のように</a:t>
            </a:r>
            <a:r>
              <a:rPr sz="1700" b="1">
                <a:solidFill>
                  <a:srgbClr val="E60012"/>
                </a:solidFill>
                <a:latin typeface="Noto Sans JP"/>
                <a:ea typeface="Noto Sans JP"/>
              </a:rPr>
              <a:t>“現場だらけ”</a:t>
            </a:r>
            <a:r>
              <a:rPr sz="1700" b="1">
                <a:solidFill>
                  <a:srgbClr val="1A1D21"/>
                </a:solidFill>
                <a:latin typeface="Noto Sans JP"/>
                <a:ea typeface="Noto Sans JP"/>
              </a:rPr>
              <a:t>になっている。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4370832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C4148"/>
                </a:solidFill>
                <a:latin typeface="Noto Sans JP"/>
                <a:ea typeface="Noto Sans JP"/>
              </a:rPr>
              <a:t>＝ 我々が建設業で磨いた「現場管理」が、そのまま効く土俵が、製造業に新しく生まれている。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074920"/>
            <a:ext cx="10634472" cy="1143000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270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5266944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A1D21"/>
                </a:solidFill>
                <a:latin typeface="Noto Sans JP"/>
                <a:ea typeface="Noto Sans JP"/>
              </a:rPr>
              <a:t>しかもこれは、一過性のブームではない。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742432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3C4148"/>
                </a:solidFill>
                <a:latin typeface="Noto Sans JP"/>
                <a:ea typeface="Noto Sans JP"/>
              </a:rPr>
              <a:t>各社の受注残・設備投資計画・売上ガイダンスに裏打ちされた、数年〜十数年続く</a:t>
            </a: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構造需要</a:t>
            </a:r>
            <a:r>
              <a:rPr sz="1250" b="0">
                <a:solidFill>
                  <a:srgbClr val="3C4148"/>
                </a:solidFill>
                <a:latin typeface="Noto Sans JP"/>
                <a:ea typeface="Noto Sans JP"/>
              </a:rPr>
              <a:t>だ。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規模より“勢い”——トレンドとして、どれだけ急か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AI投資は“大きい”だけじゃない。数年で“何倍”に跳ねている。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554480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AIチップの需要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8A9098"/>
                </a:solidFill>
                <a:latin typeface="Consolas"/>
                <a:ea typeface="Consolas"/>
              </a:rPr>
              <a:t>NVIDIA データセンター売上</a:t>
            </a:r>
          </a:p>
        </p:txBody>
      </p:sp>
      <p:sp>
        <p:nvSpPr>
          <p:cNvPr id="9" name="Rectangle 8"/>
          <p:cNvSpPr/>
          <p:nvPr/>
        </p:nvSpPr>
        <p:spPr>
          <a:xfrm>
            <a:off x="3749039" y="2221992"/>
            <a:ext cx="3566160" cy="12801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966209" y="2175805"/>
            <a:ext cx="457200" cy="46186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22677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FY23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49" y="2074195"/>
            <a:ext cx="457200" cy="147796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0579" y="22677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FY24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49290" y="1867895"/>
            <a:ext cx="457200" cy="354096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32120" y="22677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FY25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40829" y="1618488"/>
            <a:ext cx="457200" cy="603504"/>
          </a:xfrm>
          <a:prstGeom prst="roundRect">
            <a:avLst>
              <a:gd name="adj" fmla="val 12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3659" y="226771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FY26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37909" y="138074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60012"/>
                </a:solidFill>
                <a:latin typeface="Consolas"/>
                <a:ea typeface="Consolas"/>
              </a:rPr>
              <a:t>約2,000億ドル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1600200"/>
            <a:ext cx="2743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60012"/>
                </a:solidFill>
                <a:latin typeface="Noto Sans JP"/>
                <a:ea typeface="Noto Sans JP"/>
              </a:rPr>
              <a:t>約13倍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2606040"/>
            <a:ext cx="10634472" cy="1179576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2788920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AIインフラ投資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8A9098"/>
                </a:solidFill>
                <a:latin typeface="Consolas"/>
                <a:ea typeface="Consolas"/>
              </a:rPr>
              <a:t>Big Tech 4社の設備投資（年間）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49039" y="3456432"/>
            <a:ext cx="3566160" cy="12801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66209" y="3306596"/>
            <a:ext cx="457200" cy="149835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39" y="350215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’23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49" y="3264975"/>
            <a:ext cx="457200" cy="191456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0579" y="350215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’24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49290" y="3115140"/>
            <a:ext cx="457200" cy="341291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350215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’25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40829" y="2852928"/>
            <a:ext cx="457200" cy="603504"/>
          </a:xfrm>
          <a:prstGeom prst="roundRect">
            <a:avLst>
              <a:gd name="adj" fmla="val 12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3659" y="3502152"/>
            <a:ext cx="8915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’26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37909" y="261518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60012"/>
                </a:solidFill>
                <a:latin typeface="Consolas"/>
                <a:ea typeface="Consolas"/>
              </a:rPr>
              <a:t>7,250億ドル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2834640"/>
            <a:ext cx="2743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60012"/>
                </a:solidFill>
                <a:latin typeface="Noto Sans JP"/>
                <a:ea typeface="Noto Sans JP"/>
              </a:rPr>
              <a:t>約4倍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023360"/>
            <a:ext cx="2788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国内DC建設投資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8A9098"/>
                </a:solidFill>
                <a:latin typeface="Consolas"/>
                <a:ea typeface="Consolas"/>
              </a:rPr>
              <a:t>日本のデータセンター建設（年間）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9039" y="4690872"/>
            <a:ext cx="3566160" cy="12801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114800" y="4496423"/>
            <a:ext cx="457200" cy="194448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49039" y="473659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’23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03520" y="4389120"/>
            <a:ext cx="457200" cy="301752"/>
          </a:xfrm>
          <a:prstGeom prst="roundRect">
            <a:avLst>
              <a:gd name="adj" fmla="val 12000"/>
            </a:avLst>
          </a:prstGeom>
          <a:solidFill>
            <a:srgbClr val="F4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37759" y="473659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’24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92240" y="4087368"/>
            <a:ext cx="457200" cy="603504"/>
          </a:xfrm>
          <a:prstGeom prst="roundRect">
            <a:avLst>
              <a:gd name="adj" fmla="val 12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79" y="4736592"/>
            <a:ext cx="11887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8A9098"/>
                </a:solidFill>
                <a:latin typeface="Consolas"/>
                <a:ea typeface="Consolas"/>
              </a:rPr>
              <a:t>’28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89320" y="384962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60012"/>
                </a:solidFill>
                <a:latin typeface="Consolas"/>
                <a:ea typeface="Consolas"/>
              </a:rPr>
              <a:t>1兆円超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18120" y="4069080"/>
            <a:ext cx="27432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E60012"/>
                </a:solidFill>
                <a:latin typeface="Noto Sans JP"/>
                <a:ea typeface="Noto Sans JP"/>
              </a:rPr>
              <a:t>約3倍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138928"/>
            <a:ext cx="10634472" cy="749808"/>
          </a:xfrm>
          <a:prstGeom prst="roundRect">
            <a:avLst>
              <a:gd name="adj" fmla="val 5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138928"/>
            <a:ext cx="10241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FFFFFF"/>
                </a:solidFill>
                <a:latin typeface="Noto Sans JP"/>
                <a:ea typeface="Noto Sans JP"/>
              </a:rPr>
              <a:t>しかも投資のピークは2027〜2028年。</a:t>
            </a:r>
            <a:r>
              <a:rPr sz="1650" b="1">
                <a:solidFill>
                  <a:srgbClr val="FFD2D7"/>
                </a:solidFill>
                <a:latin typeface="Noto Sans JP"/>
                <a:ea typeface="Noto Sans JP"/>
              </a:rPr>
              <a:t>この波は、まだ“序盤”だ。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98932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8A9098"/>
                </a:solidFill>
                <a:latin typeface="Consolas"/>
                <a:ea typeface="Consolas"/>
              </a:rPr>
              <a:t>出典：NVIDIA IR（DC売上 FY23→FY26）／Big Tech各社IR・報道（'23→'26）／IDC Japan（国内DC建設投資 '23→'28）。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AI需要 → 連鎖して伸びる、日本のバリューチェーン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AIが伸びれば、この“川”がまるごと潤う。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1417320" cy="3383280"/>
          </a:xfrm>
          <a:prstGeom prst="roundRect">
            <a:avLst>
              <a:gd name="adj" fmla="val 6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1325880" cy="3383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00" b="1" spc="100">
                <a:solidFill>
                  <a:srgbClr val="FFC9CE"/>
                </a:solidFill>
                <a:latin typeface="Consolas"/>
                <a:ea typeface="Consolas"/>
              </a:rPr>
              <a:t>起点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FFFFFF"/>
                </a:solidFill>
                <a:latin typeface="Noto Sans JP"/>
                <a:ea typeface="Noto Sans JP"/>
              </a:rPr>
              <a:t>AI・DC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需要の拡大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600" b="0">
                <a:solidFill>
                  <a:srgbClr val="FFFFFF"/>
                </a:solidFill>
                <a:latin typeface="Noto Sans JP"/>
                <a:ea typeface="Noto Sans JP"/>
              </a:rPr>
              <a:t/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FFE2E5"/>
                </a:solidFill>
                <a:latin typeface="Noto Sans JP"/>
                <a:ea typeface="Noto Sans JP"/>
              </a:rPr>
              <a:t>この一手が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FFE2E5"/>
                </a:solidFill>
                <a:latin typeface="Noto Sans JP"/>
                <a:ea typeface="Noto Sans JP"/>
              </a:rPr>
              <a:t>川下まで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FFE2E5"/>
                </a:solidFill>
                <a:latin typeface="Noto Sans JP"/>
                <a:ea typeface="Noto Sans JP"/>
              </a:rPr>
              <a:t>波及する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834640"/>
            <a:ext cx="320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60012"/>
                </a:solidFill>
                <a:latin typeface="Consolas"/>
                <a:ea typeface="Consolas"/>
              </a:rPr>
              <a:t>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42032" y="1417320"/>
            <a:ext cx="1686153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42032" y="1417320"/>
            <a:ext cx="1686153" cy="45720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42032" y="1417320"/>
            <a:ext cx="16861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C9CE"/>
                </a:solidFill>
                <a:latin typeface="Consolas"/>
                <a:ea typeface="Consolas"/>
              </a:rPr>
              <a:t>01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60903" y="2020824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60903" y="2020824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三菱重工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660903" y="2532888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60903" y="2532888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川崎重工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60903" y="3044952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60903" y="3044952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IHI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660903" y="3557016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60903" y="3557016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デンヨー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7913" y="1417320"/>
            <a:ext cx="1686153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37913" y="1417320"/>
            <a:ext cx="1686153" cy="45720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37913" y="1417320"/>
            <a:ext cx="16861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C9CE"/>
                </a:solidFill>
                <a:latin typeface="Consolas"/>
                <a:ea typeface="Consolas"/>
              </a:rPr>
              <a:t>02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56785" y="2020824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56785" y="2020824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日立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56785" y="2532888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56785" y="2532888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三菱電機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56785" y="3044952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56785" y="3044952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ダイヘン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56785" y="3557016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56785" y="3557016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フジクラ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33795" y="1417320"/>
            <a:ext cx="1686153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133795" y="1417320"/>
            <a:ext cx="1686153" cy="45720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33795" y="1417320"/>
            <a:ext cx="16861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C9CE"/>
                </a:solidFill>
                <a:latin typeface="Consolas"/>
                <a:ea typeface="Consolas"/>
              </a:rPr>
              <a:t>03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DC建設・設備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52667" y="2020824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52667" y="2020824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鹿島建設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52667" y="2532888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2667" y="2532888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大林組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52667" y="3044952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52667" y="3044952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きんでん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52667" y="3557016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52667" y="3557016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高砂熱学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929676" y="1417320"/>
            <a:ext cx="1686153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929676" y="1417320"/>
            <a:ext cx="1686153" cy="45720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29676" y="1417320"/>
            <a:ext cx="16861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C9CE"/>
                </a:solidFill>
                <a:latin typeface="Consolas"/>
                <a:ea typeface="Consolas"/>
              </a:rPr>
              <a:t>04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048548" y="2020824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8548" y="2020824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ダイキン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048548" y="2532888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48548" y="2532888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GSユアサ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048548" y="3044952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48548" y="3044952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荏原製作所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725558" y="1417320"/>
            <a:ext cx="1686153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725558" y="1417320"/>
            <a:ext cx="1686153" cy="457200"/>
          </a:xfrm>
          <a:prstGeom prst="roundRect">
            <a:avLst>
              <a:gd name="adj" fmla="val 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725558" y="1417320"/>
            <a:ext cx="168615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FFC9CE"/>
                </a:solidFill>
                <a:latin typeface="Consolas"/>
                <a:ea typeface="Consolas"/>
              </a:rPr>
              <a:t>05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844430" y="2020824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44430" y="2020824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東京エレクトロン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844430" y="2532888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844430" y="2532888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ディスコ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844430" y="3044952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44430" y="3044952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キオクシア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44430" y="3557016"/>
            <a:ext cx="1448409" cy="420624"/>
          </a:xfrm>
          <a:prstGeom prst="roundRect">
            <a:avLst>
              <a:gd name="adj" fmla="val 1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844430" y="3557016"/>
            <a:ext cx="144840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1D21"/>
                </a:solidFill>
                <a:latin typeface="Noto Sans JP"/>
                <a:ea typeface="Noto Sans JP"/>
              </a:rPr>
              <a:t>信越化学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77240" y="5029200"/>
            <a:ext cx="10634472" cy="749808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05840" y="5029200"/>
            <a:ext cx="102412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A1D21"/>
                </a:solidFill>
                <a:latin typeface="Noto Sans JP"/>
                <a:ea typeface="Noto Sans JP"/>
              </a:rPr>
              <a:t>AIの“源流”が、川下の日本メーカーまで、まるごと潤す。</a:t>
            </a:r>
            <a:r>
              <a:rPr sz="1650" b="1">
                <a:solidFill>
                  <a:srgbClr val="E60012"/>
                </a:solidFill>
                <a:latin typeface="Noto Sans JP"/>
                <a:ea typeface="Noto Sans JP"/>
              </a:rPr>
              <a:t>　狙える現場は、この一社一社にある。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" y="587044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8A9098"/>
                </a:solidFill>
                <a:latin typeface="Consolas"/>
                <a:ea typeface="Consolas"/>
              </a:rPr>
              <a:t>※ 各段階の代表企業を抜粋（社名表記＝ロゴのイメージ、実ロゴへ差し替え可）。数値・詳細は次頁以降。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建設費の中身：どこにANDPADの市場があるか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お金の3/4は設備。効くのは機器代ではなく“工”＝据付・試運転・保守。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2658618" cy="822960"/>
          </a:xfrm>
          <a:prstGeom prst="rect">
            <a:avLst/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35858" y="1691640"/>
            <a:ext cx="5317236" cy="82296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53094" y="1691640"/>
            <a:ext cx="2658618" cy="822960"/>
          </a:xfrm>
          <a:prstGeom prst="rect">
            <a:avLst/>
          </a:prstGeom>
          <a:solidFill>
            <a:srgbClr val="F2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4885" y="1691640"/>
            <a:ext cx="21945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42121" y="1691640"/>
            <a:ext cx="21945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691640"/>
            <a:ext cx="265861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建築（躯体）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Noto Sans JP"/>
                <a:ea typeface="Noto Sans JP"/>
              </a:rPr>
              <a:t>約25%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35858" y="1691640"/>
            <a:ext cx="5317236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1">
                <a:solidFill>
                  <a:srgbClr val="FFFFFF"/>
                </a:solidFill>
                <a:latin typeface="Noto Sans JP"/>
                <a:ea typeface="Noto Sans JP"/>
              </a:rPr>
              <a:t>電気設備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1">
                <a:solidFill>
                  <a:srgbClr val="FFFFFF"/>
                </a:solidFill>
                <a:latin typeface="Noto Sans JP"/>
                <a:ea typeface="Noto Sans JP"/>
              </a:rPr>
              <a:t>約50%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53094" y="1691640"/>
            <a:ext cx="265861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1">
                <a:solidFill>
                  <a:srgbClr val="FFFFFF"/>
                </a:solidFill>
                <a:latin typeface="Noto Sans JP"/>
                <a:ea typeface="Noto Sans JP"/>
              </a:rPr>
              <a:t>空調・機械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700" b="1">
                <a:solidFill>
                  <a:srgbClr val="FFFFFF"/>
                </a:solidFill>
                <a:latin typeface="Noto Sans JP"/>
                <a:ea typeface="Noto Sans JP"/>
              </a:rPr>
              <a:t>約25%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1417320"/>
            <a:ext cx="2658618" cy="219456"/>
          </a:xfrm>
          <a:prstGeom prst="roundRect">
            <a:avLst>
              <a:gd name="adj" fmla="val 10000"/>
            </a:avLst>
          </a:prstGeom>
          <a:solidFill>
            <a:srgbClr val="ECEEF1"/>
          </a:solidFill>
          <a:ln w="1270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1417320"/>
            <a:ext cx="265861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454B54"/>
                </a:solidFill>
                <a:latin typeface="Consolas"/>
                <a:ea typeface="Consolas"/>
              </a:rPr>
              <a:t>建設（ゼネコン）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35858" y="1417320"/>
            <a:ext cx="7975854" cy="219456"/>
          </a:xfrm>
          <a:prstGeom prst="roundRect">
            <a:avLst>
              <a:gd name="adj" fmla="val 10000"/>
            </a:avLst>
          </a:prstGeom>
          <a:solidFill>
            <a:srgbClr val="FDECEE"/>
          </a:solidFill>
          <a:ln w="12700">
            <a:solidFill>
              <a:srgbClr val="E600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35858" y="1417320"/>
            <a:ext cx="797585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60012"/>
                </a:solidFill>
                <a:latin typeface="Consolas"/>
                <a:ea typeface="Consolas"/>
              </a:rPr>
              <a:t>設備＝製造業（電気・機械）  約75%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2697480"/>
            <a:ext cx="106344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↓ その「設備 約75%」を </a:t>
            </a:r>
            <a:r>
              <a:rPr sz="1050" b="1">
                <a:solidFill>
                  <a:srgbClr val="8A9098"/>
                </a:solidFill>
                <a:latin typeface="Noto Sans JP"/>
                <a:ea typeface="Noto Sans JP"/>
              </a:rPr>
              <a:t>材（機器・材料）</a:t>
            </a:r>
            <a:r>
              <a:rPr sz="1050" b="0">
                <a:solidFill>
                  <a:srgbClr val="3C4148"/>
                </a:solidFill>
                <a:latin typeface="Noto Sans JP"/>
                <a:ea typeface="Noto Sans JP"/>
              </a:rPr>
              <a:t> と </a:t>
            </a:r>
            <a:r>
              <a:rPr sz="1050" b="1">
                <a:solidFill>
                  <a:srgbClr val="E60012"/>
                </a:solidFill>
                <a:latin typeface="Noto Sans JP"/>
                <a:ea typeface="Noto Sans JP"/>
              </a:rPr>
              <a:t>工（据付・施工＝人が動く）</a:t>
            </a:r>
            <a:r>
              <a:rPr sz="1050" b="1">
                <a:solidFill>
                  <a:srgbClr val="3C4148"/>
                </a:solidFill>
                <a:latin typeface="Noto Sans JP"/>
                <a:ea typeface="Noto Sans JP"/>
              </a:rPr>
              <a:t> に分けると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999232"/>
            <a:ext cx="6380683" cy="749808"/>
          </a:xfrm>
          <a:prstGeom prst="rect">
            <a:avLst/>
          </a:prstGeom>
          <a:solidFill>
            <a:srgbClr val="8A90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57923" y="2999232"/>
            <a:ext cx="4253788" cy="74980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46950" y="2999232"/>
            <a:ext cx="21945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2999232"/>
            <a:ext cx="6380683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材：機器・材料（変圧器・冷凍機・UPS等）  約6割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7923" y="2999232"/>
            <a:ext cx="425378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工：据付・施工  約4割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7923" y="3767327"/>
            <a:ext cx="4253788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60012"/>
                </a:solidFill>
                <a:latin typeface="Consolas"/>
                <a:ea typeface="Consolas"/>
              </a:rPr>
              <a:t>↑ ここがANDPADの市場（工）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160520"/>
            <a:ext cx="3422904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60520"/>
            <a:ext cx="82296" cy="74980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" y="4270248"/>
            <a:ext cx="31120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据付・施工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　建設費の約3割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C4148"/>
                </a:solidFill>
                <a:latin typeface="Noto Sans JP"/>
                <a:ea typeface="Noto Sans JP"/>
              </a:rPr>
              <a:t>国内の設備工事＝中核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3024" y="4160520"/>
            <a:ext cx="3422904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3024" y="4160520"/>
            <a:ext cx="82296" cy="74980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84192" y="4270248"/>
            <a:ext cx="31120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試運転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　建設費の1〜3%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C4148"/>
                </a:solidFill>
                <a:latin typeface="Noto Sans JP"/>
                <a:ea typeface="Noto Sans JP"/>
              </a:rPr>
              <a:t>世界 $2.1B→$4.3B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88808" y="4160520"/>
            <a:ext cx="3422904" cy="74980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88808" y="4160520"/>
            <a:ext cx="82296" cy="74980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89976" y="4270248"/>
            <a:ext cx="31120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A1D21"/>
                </a:solidFill>
                <a:latin typeface="Noto Sans JP"/>
                <a:ea typeface="Noto Sans JP"/>
              </a:rPr>
              <a:t>保守・運用</a:t>
            </a:r>
            <a:r>
              <a:rPr sz="1000" b="1">
                <a:solidFill>
                  <a:srgbClr val="E60012"/>
                </a:solidFill>
                <a:latin typeface="Noto Sans JP"/>
                <a:ea typeface="Noto Sans JP"/>
              </a:rPr>
              <a:t>　毎年・運用費の約4割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C4148"/>
                </a:solidFill>
                <a:latin typeface="Noto Sans JP"/>
                <a:ea typeface="Noto Sans JP"/>
              </a:rPr>
              <a:t>世界 $15.8B→$45.6B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138928"/>
            <a:ext cx="10634472" cy="749808"/>
          </a:xfrm>
          <a:prstGeom prst="roundRect">
            <a:avLst>
              <a:gd name="adj" fmla="val 5000"/>
            </a:avLst>
          </a:prstGeom>
          <a:solidFill>
            <a:srgbClr val="FDECEE"/>
          </a:solidFill>
          <a:ln w="15240">
            <a:solidFill>
              <a:srgbClr val="F3C7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138928"/>
            <a:ext cx="1005840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A1D21"/>
                </a:solidFill>
                <a:latin typeface="Noto Sans JP"/>
                <a:ea typeface="Noto Sans JP"/>
              </a:rPr>
              <a:t>これまで建設業だけを見てきた。</a:t>
            </a:r>
            <a:r>
              <a:rPr sz="1500" b="1">
                <a:solidFill>
                  <a:srgbClr val="E60012"/>
                </a:solidFill>
                <a:latin typeface="Noto Sans JP"/>
                <a:ea typeface="Noto Sans JP"/>
              </a:rPr>
              <a:t>その周辺の“工”（据付・試運転・保守）に、広大な市場が広がっている。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594360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8A9098"/>
                </a:solidFill>
                <a:latin typeface="Consolas"/>
                <a:ea typeface="Consolas"/>
              </a:rPr>
              <a:t>出典：日経xTECH（設備工事≒建設費の75%）／材工比・試運転1〜3%は積算/業界目安／市場：DataIntelo・DataHorizon。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457200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onsolas"/>
                <a:ea typeface="Consolas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457200"/>
            <a:ext cx="10241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spc="150">
                <a:solidFill>
                  <a:srgbClr val="E60012"/>
                </a:solidFill>
                <a:latin typeface="Consolas"/>
                <a:ea typeface="Consolas"/>
              </a:rPr>
              <a:t>バリューチェーン別・国内主要プレーヤーと伸び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99032" y="676656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A1D21"/>
                </a:solidFill>
                <a:latin typeface="Noto Sans JP"/>
                <a:ea typeface="Noto Sans JP"/>
              </a:rPr>
              <a:t>国内のAI投資は、製造業のこの現場に着地している。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170432"/>
            <a:ext cx="10634472" cy="18288"/>
          </a:xfrm>
          <a:prstGeom prst="rect">
            <a:avLst/>
          </a:prstGeom>
          <a:solidFill>
            <a:srgbClr val="E2E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1417320"/>
            <a:ext cx="896112" cy="786384"/>
          </a:xfrm>
          <a:prstGeom prst="roundRect">
            <a:avLst>
              <a:gd name="adj" fmla="val 9000"/>
            </a:avLst>
          </a:prstGeom>
          <a:solidFill>
            <a:srgbClr val="454B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17320"/>
            <a:ext cx="896112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D7DBE0"/>
                </a:solidFill>
                <a:latin typeface="Consolas"/>
                <a:ea typeface="Consolas"/>
              </a:rPr>
              <a:t>起点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Noto Sans JP"/>
                <a:ea typeface="Noto Sans JP"/>
              </a:rPr>
              <a:t>AI需要</a:t>
            </a:r>
          </a:p>
        </p:txBody>
      </p:sp>
      <p:sp>
        <p:nvSpPr>
          <p:cNvPr id="10" name="Chevron 9"/>
          <p:cNvSpPr/>
          <p:nvPr/>
        </p:nvSpPr>
        <p:spPr>
          <a:xfrm>
            <a:off x="1764792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46504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発電・電源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7672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電気をつくる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947672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47672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受注残 5兆円超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47672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47672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三菱重工 ガスタービン</a:t>
            </a:r>
          </a:p>
        </p:txBody>
      </p:sp>
      <p:sp>
        <p:nvSpPr>
          <p:cNvPr id="18" name="Chevron 17"/>
          <p:cNvSpPr/>
          <p:nvPr/>
        </p:nvSpPr>
        <p:spPr>
          <a:xfrm>
            <a:off x="3690518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72230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送変電・電線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54526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73398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電気を送る・変える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73398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73398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生産能力2倍/予約数年先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73398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73398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変圧器各社・フジクラ</a:t>
            </a:r>
          </a:p>
        </p:txBody>
      </p:sp>
      <p:sp>
        <p:nvSpPr>
          <p:cNvPr id="26" name="Chevron 25"/>
          <p:cNvSpPr/>
          <p:nvPr/>
        </p:nvSpPr>
        <p:spPr>
          <a:xfrm>
            <a:off x="5616244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5597956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03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DC建設・設備工事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80252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99124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箱を建てる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99124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99124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空調工事 受注 +25.5%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99124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9124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ダイダン・高砂熱学ほか</a:t>
            </a:r>
          </a:p>
        </p:txBody>
      </p:sp>
      <p:sp>
        <p:nvSpPr>
          <p:cNvPr id="34" name="Chevron 33"/>
          <p:cNvSpPr/>
          <p:nvPr/>
        </p:nvSpPr>
        <p:spPr>
          <a:xfrm>
            <a:off x="7541971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523683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04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冷却・電源保護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05979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4851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冷やす・止めない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24851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24851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北米DC冷却 約13倍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24851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4851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ダイキン 230→3,000億円</a:t>
            </a:r>
          </a:p>
        </p:txBody>
      </p:sp>
      <p:sp>
        <p:nvSpPr>
          <p:cNvPr id="42" name="Chevron 41"/>
          <p:cNvSpPr/>
          <p:nvPr/>
        </p:nvSpPr>
        <p:spPr>
          <a:xfrm>
            <a:off x="9467697" y="1417320"/>
            <a:ext cx="2053742" cy="786384"/>
          </a:xfrm>
          <a:prstGeom prst="chevron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449409" y="1417320"/>
            <a:ext cx="198059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spc="100">
                <a:solidFill>
                  <a:srgbClr val="FFC9CE"/>
                </a:solidFill>
                <a:latin typeface="Consolas"/>
                <a:ea typeface="Consolas"/>
              </a:rPr>
              <a:t>05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半導体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31705" y="2304288"/>
            <a:ext cx="1834286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50577" y="2414016"/>
            <a:ext cx="159654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A1D21"/>
                </a:solidFill>
                <a:latin typeface="Noto Sans JP"/>
                <a:ea typeface="Noto Sans JP"/>
              </a:rPr>
              <a:t>計算する頭脳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50577" y="2816352"/>
            <a:ext cx="1596542" cy="9144"/>
          </a:xfrm>
          <a:prstGeom prst="rect">
            <a:avLst/>
          </a:prstGeom>
          <a:solidFill>
            <a:srgbClr val="F3C7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50577" y="2907792"/>
            <a:ext cx="159654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60012"/>
                </a:solidFill>
                <a:latin typeface="Noto Sans JP"/>
                <a:ea typeface="Noto Sans JP"/>
              </a:rPr>
              <a:t>設備投資 +66%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50577" y="3675887"/>
            <a:ext cx="159654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700" b="1">
                <a:solidFill>
                  <a:srgbClr val="8A9098"/>
                </a:solidFill>
                <a:latin typeface="Consolas"/>
                <a:ea typeface="Consolas"/>
              </a:rPr>
              <a:t>代表企業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0577" y="3858768"/>
            <a:ext cx="159654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1">
                <a:solidFill>
                  <a:srgbClr val="1A1D21"/>
                </a:solidFill>
                <a:latin typeface="Noto Sans JP"/>
                <a:ea typeface="Noto Sans JP"/>
              </a:rPr>
              <a:t>キオクシア・東京ｴﾚｸﾄﾛﾝ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77240" y="4572000"/>
            <a:ext cx="10634472" cy="566928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 w="12700">
            <a:solidFill>
              <a:srgbClr val="E2E4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" y="457200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8A9098"/>
                </a:solidFill>
                <a:latin typeface="Consolas"/>
                <a:ea typeface="Consolas"/>
              </a:rPr>
              <a:t>我々の入り方：</a:t>
            </a:r>
            <a:r>
              <a:rPr sz="1100" b="1">
                <a:solidFill>
                  <a:srgbClr val="454B54"/>
                </a:solidFill>
                <a:latin typeface="Noto Sans JP"/>
                <a:ea typeface="Noto Sans JP"/>
              </a:rPr>
              <a:t> A 発注者＝工場増設・自社DCを“建てる側”で管理</a:t>
            </a:r>
            <a:r>
              <a:rPr sz="1050" b="0">
                <a:solidFill>
                  <a:srgbClr val="8A9098"/>
                </a:solidFill>
                <a:latin typeface="Noto Sans JP"/>
                <a:ea typeface="Noto Sans JP"/>
              </a:rPr>
              <a:t>　／　</a:t>
            </a:r>
            <a:r>
              <a:rPr sz="1100" b="1">
                <a:solidFill>
                  <a:srgbClr val="E60012"/>
                </a:solidFill>
                <a:latin typeface="Noto Sans JP"/>
                <a:ea typeface="Noto Sans JP"/>
              </a:rPr>
              <a:t>B 請負＝据付・試運転・保守を“納める側”で管理（本命）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7240" y="5303520"/>
            <a:ext cx="10634472" cy="914400"/>
          </a:xfrm>
          <a:prstGeom prst="roundRect">
            <a:avLst>
              <a:gd name="adj" fmla="val 5000"/>
            </a:avLst>
          </a:prstGeom>
          <a:solidFill>
            <a:srgbClr val="ECEEF1"/>
          </a:solidFill>
          <a:ln w="15240">
            <a:solidFill>
              <a:srgbClr val="454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1560" y="5303520"/>
            <a:ext cx="10058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450" b="1">
                <a:solidFill>
                  <a:srgbClr val="1A1D21"/>
                </a:solidFill>
                <a:latin typeface="Noto Sans JP"/>
                <a:ea typeface="Noto Sans JP"/>
              </a:rPr>
              <a:t>川上（発電）から川下（半導体）まで全段が同時に増収増益。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>
                <a:solidFill>
                  <a:srgbClr val="E60012"/>
                </a:solidFill>
                <a:latin typeface="Noto Sans JP"/>
                <a:ea typeface="Noto Sans JP"/>
              </a:rPr>
              <a:t>＝ 攻めどころは1つではなく、チェーン全体にある。狙える現場が、日本中に生まれている。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D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822960"/>
            <a:ext cx="566928" cy="566928"/>
          </a:xfrm>
          <a:prstGeom prst="roundRect">
            <a:avLst>
              <a:gd name="adj" fmla="val 18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82296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onsolas"/>
                <a:ea typeface="Consolas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896112"/>
            <a:ext cx="9692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spc="200">
                <a:solidFill>
                  <a:srgbClr val="FF8A97"/>
                </a:solidFill>
                <a:latin typeface="Consolas"/>
                <a:ea typeface="Consolas"/>
              </a:rPr>
              <a:t>SO, LET'S GO  ·  次の主戦場は、製造業だ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" y="1783080"/>
            <a:ext cx="107899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いま製造業に行くことは、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6B7A"/>
                </a:solidFill>
                <a:latin typeface="Noto Sans JP"/>
                <a:ea typeface="Noto Sans JP"/>
              </a:rPr>
              <a:t>“次の主戦場”の一番槍</a:t>
            </a:r>
            <a:r>
              <a:rPr sz="3400" b="1">
                <a:solidFill>
                  <a:srgbClr val="FFFFFF"/>
                </a:solidFill>
                <a:latin typeface="Noto Sans JP"/>
                <a:ea typeface="Noto Sans JP"/>
              </a:rPr>
              <a:t>だ。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市場は建設の3倍広い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C7D0DC"/>
                </a:solidFill>
                <a:latin typeface="Noto Sans JP"/>
                <a:ea typeface="Noto Sans JP"/>
              </a:rPr>
              <a:t>DC建設費の約3/4は電気・機械設備＝製造業。据付・試運転・保守まで現場が続く。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3504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1248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追い風は本物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C7D0DC"/>
                </a:solidFill>
                <a:latin typeface="Noto Sans JP"/>
                <a:ea typeface="Noto Sans JP"/>
              </a:rPr>
              <a:t>AIチップ需要は3年で約13倍、投資ピークは2027-28。受注残に裏打ちされた構造需要。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9768" y="3611880"/>
            <a:ext cx="3361944" cy="1508760"/>
          </a:xfrm>
          <a:prstGeom prst="roundRect">
            <a:avLst>
              <a:gd name="adj" fmla="val 6000"/>
            </a:avLst>
          </a:prstGeom>
          <a:solidFill>
            <a:srgbClr val="24282E"/>
          </a:solidFill>
          <a:ln w="12700">
            <a:solidFill>
              <a:srgbClr val="3A4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9768" y="3611880"/>
            <a:ext cx="3361944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7512" y="3867912"/>
            <a:ext cx="2886456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450" b="1">
                <a:solidFill>
                  <a:srgbClr val="FFFFFF"/>
                </a:solidFill>
                <a:latin typeface="Noto Sans JP"/>
                <a:ea typeface="Noto Sans JP"/>
              </a:rPr>
              <a:t>武器は完成済み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C7D0DC"/>
                </a:solidFill>
                <a:latin typeface="Noto Sans JP"/>
                <a:ea typeface="Noto Sans JP"/>
              </a:rPr>
              <a:t>建設で磨いた現場管理は、製造業の据付・保守フィールドに“そのまま効く”。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468112"/>
            <a:ext cx="10634472" cy="786384"/>
          </a:xfrm>
          <a:prstGeom prst="roundRect">
            <a:avLst>
              <a:gd name="adj" fmla="val 6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468112"/>
            <a:ext cx="10634472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100" b="1">
                <a:solidFill>
                  <a:srgbClr val="FFFFFF"/>
                </a:solidFill>
                <a:latin typeface="Noto Sans JP"/>
                <a:ea typeface="Noto Sans JP"/>
              </a:rPr>
              <a:t>建設の“周辺”に広がる巨大市場を、100人でつかみにいこう。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