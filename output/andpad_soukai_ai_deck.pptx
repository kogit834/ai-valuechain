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463040"/>
            <a:ext cx="137160" cy="13716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0704" y="1389888"/>
            <a:ext cx="9601200" cy="274320"/>
          </a:xfrm>
          <a:prstGeom prst="rect">
            <a:avLst/>
          </a:prstGeom>
          <a:noFill/>
        </p:spPr>
        <p:txBody>
          <a:bodyPr wrap="square" anchor="t" lIns="0" rIns="0" tIns="0" bIns="0">
            <a:spAutoFit/>
          </a:bodyPr>
          <a:lstStyle/>
          <a:p>
            <a:pPr algn="l">
              <a:lnSpc>
                <a:spcPct val="110000"/>
              </a:lnSpc>
              <a:spcBef>
                <a:spcPts val="0"/>
              </a:spcBef>
              <a:spcAft>
                <a:spcPts val="400"/>
              </a:spcAft>
            </a:pPr>
            <a:r>
              <a:rPr sz="1300" b="1" spc="200">
                <a:solidFill>
                  <a:srgbClr val="E60012"/>
                </a:solidFill>
                <a:latin typeface="Consolas"/>
                <a:ea typeface="Consolas"/>
              </a:rPr>
              <a:t>ANDPAD 本部総会   ·   WHY MANUFACTURING NOW</a:t>
            </a:r>
          </a:p>
        </p:txBody>
      </p:sp>
      <p:sp>
        <p:nvSpPr>
          <p:cNvPr id="5" name="TextBox 4"/>
          <p:cNvSpPr txBox="1"/>
          <p:nvPr/>
        </p:nvSpPr>
        <p:spPr>
          <a:xfrm>
            <a:off x="786384" y="2240280"/>
            <a:ext cx="10789920" cy="2011680"/>
          </a:xfrm>
          <a:prstGeom prst="rect">
            <a:avLst/>
          </a:prstGeom>
          <a:noFill/>
        </p:spPr>
        <p:txBody>
          <a:bodyPr wrap="square" anchor="t" lIns="0" rIns="0" tIns="0" bIns="0">
            <a:spAutoFit/>
          </a:bodyPr>
          <a:lstStyle/>
          <a:p>
            <a:pPr algn="l">
              <a:lnSpc>
                <a:spcPct val="112000"/>
              </a:lnSpc>
              <a:spcBef>
                <a:spcPts val="0"/>
              </a:spcBef>
              <a:spcAft>
                <a:spcPts val="400"/>
              </a:spcAft>
            </a:pPr>
            <a:r>
              <a:rPr sz="4600" b="1">
                <a:solidFill>
                  <a:srgbClr val="15181C"/>
                </a:solidFill>
                <a:latin typeface="Noto Sans JP"/>
                <a:ea typeface="Noto Sans JP"/>
              </a:rPr>
              <a:t>建設SaaSの我々が、</a:t>
            </a:r>
          </a:p>
          <a:p>
            <a:pPr algn="l">
              <a:lnSpc>
                <a:spcPct val="112000"/>
              </a:lnSpc>
              <a:spcBef>
                <a:spcPts val="0"/>
              </a:spcBef>
              <a:spcAft>
                <a:spcPts val="400"/>
              </a:spcAft>
            </a:pPr>
            <a:r>
              <a:rPr sz="4600" b="1">
                <a:solidFill>
                  <a:srgbClr val="15181C"/>
                </a:solidFill>
                <a:latin typeface="Noto Sans JP"/>
                <a:ea typeface="Noto Sans JP"/>
              </a:rPr>
              <a:t>なぜ、いま</a:t>
            </a:r>
            <a:r>
              <a:rPr sz="4600" b="1">
                <a:solidFill>
                  <a:srgbClr val="E60012"/>
                </a:solidFill>
                <a:latin typeface="Noto Sans JP"/>
                <a:ea typeface="Noto Sans JP"/>
              </a:rPr>
              <a:t>製造業</a:t>
            </a:r>
            <a:r>
              <a:rPr sz="4600" b="1">
                <a:solidFill>
                  <a:srgbClr val="15181C"/>
                </a:solidFill>
                <a:latin typeface="Noto Sans JP"/>
                <a:ea typeface="Noto Sans JP"/>
              </a:rPr>
              <a:t>なのか。</a:t>
            </a:r>
          </a:p>
        </p:txBody>
      </p:sp>
      <p:sp>
        <p:nvSpPr>
          <p:cNvPr id="6" name="Rectangle 5"/>
          <p:cNvSpPr/>
          <p:nvPr/>
        </p:nvSpPr>
        <p:spPr>
          <a:xfrm>
            <a:off x="822960" y="4434840"/>
            <a:ext cx="2926080"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709160"/>
            <a:ext cx="10698480" cy="1005840"/>
          </a:xfrm>
          <a:prstGeom prst="rect">
            <a:avLst/>
          </a:prstGeom>
          <a:noFill/>
        </p:spPr>
        <p:txBody>
          <a:bodyPr wrap="square" anchor="t" lIns="0" rIns="0" tIns="0" bIns="0">
            <a:spAutoFit/>
          </a:bodyPr>
          <a:lstStyle/>
          <a:p>
            <a:pPr algn="l">
              <a:lnSpc>
                <a:spcPct val="150000"/>
              </a:lnSpc>
              <a:spcBef>
                <a:spcPts val="0"/>
              </a:spcBef>
              <a:spcAft>
                <a:spcPts val="400"/>
              </a:spcAft>
            </a:pPr>
            <a:r>
              <a:rPr sz="1700" b="0">
                <a:solidFill>
                  <a:srgbClr val="373C43"/>
                </a:solidFill>
                <a:latin typeface="Noto Sans JP"/>
                <a:ea typeface="Noto Sans JP"/>
              </a:rPr>
              <a:t>AIをはじめ世界のメガトレンドは、膨大な“設備”を必要とする。</a:t>
            </a:r>
          </a:p>
          <a:p>
            <a:pPr algn="l">
              <a:lnSpc>
                <a:spcPct val="150000"/>
              </a:lnSpc>
              <a:spcBef>
                <a:spcPts val="0"/>
              </a:spcBef>
              <a:spcAft>
                <a:spcPts val="400"/>
              </a:spcAft>
            </a:pPr>
            <a:r>
              <a:rPr sz="1700" b="0">
                <a:solidFill>
                  <a:srgbClr val="373C43"/>
                </a:solidFill>
                <a:latin typeface="Noto Sans JP"/>
                <a:ea typeface="Noto Sans JP"/>
              </a:rPr>
              <a:t>それを作り・建てるのは、建設業だけでなく製造業がコア——その市場が、いま圧倒的に広がっている。</a:t>
            </a:r>
          </a:p>
        </p:txBody>
      </p:sp>
      <p:sp>
        <p:nvSpPr>
          <p:cNvPr id="8" name="Rectangle 7"/>
          <p:cNvSpPr/>
          <p:nvPr/>
        </p:nvSpPr>
        <p:spPr>
          <a:xfrm>
            <a:off x="822960" y="6355080"/>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6455664"/>
            <a:ext cx="10698480" cy="274320"/>
          </a:xfrm>
          <a:prstGeom prst="rect">
            <a:avLst/>
          </a:prstGeom>
          <a:noFill/>
        </p:spPr>
        <p:txBody>
          <a:bodyPr wrap="square" anchor="t" lIns="0" rIns="0" tIns="0" bIns="0">
            <a:spAutoFit/>
          </a:bodyPr>
          <a:lstStyle/>
          <a:p>
            <a:pPr algn="l">
              <a:lnSpc>
                <a:spcPct val="110000"/>
              </a:lnSpc>
              <a:spcBef>
                <a:spcPts val="0"/>
              </a:spcBef>
              <a:spcAft>
                <a:spcPts val="400"/>
              </a:spcAft>
            </a:pPr>
            <a:r>
              <a:rPr sz="1050" b="0">
                <a:solidFill>
                  <a:srgbClr val="9AA1A9"/>
                </a:solidFill>
                <a:latin typeface="Consolas"/>
                <a:ea typeface="Consolas"/>
              </a:rPr>
              <a:t>2026-07   /   AIインフラ・バリューチェーン調査（国内外154社・決算/IR一次情報）＋公開データ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世界のメガトレンドと、その“共通の土台”</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01</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世界が動く先には、必ず「設備」がいる。その主役は、製造業だ。</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572768"/>
            <a:ext cx="10543032" cy="274320"/>
          </a:xfrm>
          <a:prstGeom prst="rect">
            <a:avLst/>
          </a:prstGeom>
          <a:noFill/>
        </p:spPr>
        <p:txBody>
          <a:bodyPr wrap="square" anchor="t" lIns="0" rIns="0" tIns="0" bIns="0">
            <a:spAutoFit/>
          </a:bodyPr>
          <a:lstStyle/>
          <a:p>
            <a:pPr algn="l">
              <a:lnSpc>
                <a:spcPct val="110000"/>
              </a:lnSpc>
              <a:spcBef>
                <a:spcPts val="0"/>
              </a:spcBef>
              <a:spcAft>
                <a:spcPts val="400"/>
              </a:spcAft>
            </a:pPr>
            <a:r>
              <a:rPr sz="1350" b="1">
                <a:solidFill>
                  <a:srgbClr val="6E767F"/>
                </a:solidFill>
                <a:latin typeface="Noto Sans JP"/>
                <a:ea typeface="Noto Sans JP"/>
              </a:rPr>
              <a:t>いま世界を動かす3つのメガトレンド。どれも、実現するには物理的な“設備”が要る。</a:t>
            </a:r>
          </a:p>
        </p:txBody>
      </p:sp>
      <p:sp>
        <p:nvSpPr>
          <p:cNvPr id="9" name="Rectangle 8"/>
          <p:cNvSpPr/>
          <p:nvPr/>
        </p:nvSpPr>
        <p:spPr>
          <a:xfrm>
            <a:off x="822960" y="2048256"/>
            <a:ext cx="3112008" cy="64008"/>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249424"/>
            <a:ext cx="3112008" cy="219456"/>
          </a:xfrm>
          <a:prstGeom prst="rect">
            <a:avLst/>
          </a:prstGeom>
          <a:noFill/>
        </p:spPr>
        <p:txBody>
          <a:bodyPr wrap="square" anchor="t" lIns="0" rIns="0" tIns="0" bIns="0">
            <a:spAutoFit/>
          </a:bodyPr>
          <a:lstStyle/>
          <a:p>
            <a:pPr algn="l">
              <a:lnSpc>
                <a:spcPct val="110000"/>
              </a:lnSpc>
              <a:spcBef>
                <a:spcPts val="0"/>
              </a:spcBef>
              <a:spcAft>
                <a:spcPts val="400"/>
              </a:spcAft>
            </a:pPr>
            <a:r>
              <a:rPr sz="1100" b="1" spc="100">
                <a:solidFill>
                  <a:srgbClr val="9AA1A9"/>
                </a:solidFill>
                <a:latin typeface="Consolas"/>
                <a:ea typeface="Consolas"/>
              </a:rPr>
              <a:t>01</a:t>
            </a:r>
          </a:p>
        </p:txBody>
      </p:sp>
      <p:sp>
        <p:nvSpPr>
          <p:cNvPr id="11" name="TextBox 10"/>
          <p:cNvSpPr txBox="1"/>
          <p:nvPr/>
        </p:nvSpPr>
        <p:spPr>
          <a:xfrm>
            <a:off x="822960" y="2231136"/>
            <a:ext cx="3112008" cy="219456"/>
          </a:xfrm>
          <a:prstGeom prst="rect">
            <a:avLst/>
          </a:prstGeom>
          <a:noFill/>
        </p:spPr>
        <p:txBody>
          <a:bodyPr wrap="square" anchor="t" lIns="0" rIns="0" tIns="0" bIns="0">
            <a:spAutoFit/>
          </a:bodyPr>
          <a:lstStyle/>
          <a:p>
            <a:pPr algn="r">
              <a:lnSpc>
                <a:spcPct val="110000"/>
              </a:lnSpc>
              <a:spcBef>
                <a:spcPts val="0"/>
              </a:spcBef>
              <a:spcAft>
                <a:spcPts val="400"/>
              </a:spcAft>
            </a:pPr>
            <a:r>
              <a:rPr sz="1000" b="1">
                <a:solidFill>
                  <a:srgbClr val="E60012"/>
                </a:solidFill>
                <a:latin typeface="Consolas"/>
                <a:ea typeface="Consolas"/>
              </a:rPr>
              <a:t>● 本日フォーカス</a:t>
            </a:r>
          </a:p>
        </p:txBody>
      </p:sp>
      <p:sp>
        <p:nvSpPr>
          <p:cNvPr id="12" name="TextBox 11"/>
          <p:cNvSpPr txBox="1"/>
          <p:nvPr/>
        </p:nvSpPr>
        <p:spPr>
          <a:xfrm>
            <a:off x="822960" y="2505456"/>
            <a:ext cx="3112008" cy="457200"/>
          </a:xfrm>
          <a:prstGeom prst="rect">
            <a:avLst/>
          </a:prstGeom>
          <a:noFill/>
        </p:spPr>
        <p:txBody>
          <a:bodyPr wrap="square" anchor="t" lIns="0" rIns="0" tIns="0" bIns="0">
            <a:spAutoFit/>
          </a:bodyPr>
          <a:lstStyle/>
          <a:p>
            <a:pPr algn="l">
              <a:lnSpc>
                <a:spcPct val="110000"/>
              </a:lnSpc>
              <a:spcBef>
                <a:spcPts val="0"/>
              </a:spcBef>
              <a:spcAft>
                <a:spcPts val="400"/>
              </a:spcAft>
            </a:pPr>
            <a:r>
              <a:rPr sz="2200" b="1">
                <a:solidFill>
                  <a:srgbClr val="E60012"/>
                </a:solidFill>
                <a:latin typeface="Noto Sans JP"/>
                <a:ea typeface="Noto Sans JP"/>
              </a:rPr>
              <a:t>AI</a:t>
            </a:r>
          </a:p>
        </p:txBody>
      </p:sp>
      <p:sp>
        <p:nvSpPr>
          <p:cNvPr id="13" name="TextBox 12"/>
          <p:cNvSpPr txBox="1"/>
          <p:nvPr/>
        </p:nvSpPr>
        <p:spPr>
          <a:xfrm>
            <a:off x="822960" y="3017520"/>
            <a:ext cx="3112008" cy="274320"/>
          </a:xfrm>
          <a:prstGeom prst="rect">
            <a:avLst/>
          </a:prstGeom>
          <a:noFill/>
        </p:spPr>
        <p:txBody>
          <a:bodyPr wrap="square" anchor="t" lIns="0" rIns="0" tIns="0" bIns="0">
            <a:spAutoFit/>
          </a:bodyPr>
          <a:lstStyle/>
          <a:p>
            <a:pPr algn="l">
              <a:lnSpc>
                <a:spcPct val="116000"/>
              </a:lnSpc>
              <a:spcBef>
                <a:spcPts val="0"/>
              </a:spcBef>
              <a:spcAft>
                <a:spcPts val="400"/>
              </a:spcAft>
            </a:pPr>
            <a:r>
              <a:rPr sz="1300" b="1">
                <a:solidFill>
                  <a:srgbClr val="6E767F"/>
                </a:solidFill>
                <a:latin typeface="Noto Sans JP"/>
                <a:ea typeface="Noto Sans JP"/>
              </a:rPr>
              <a:t>生成AI・データセンター・半導体</a:t>
            </a:r>
          </a:p>
        </p:txBody>
      </p:sp>
      <p:sp>
        <p:nvSpPr>
          <p:cNvPr id="14" name="TextBox 13"/>
          <p:cNvSpPr txBox="1"/>
          <p:nvPr/>
        </p:nvSpPr>
        <p:spPr>
          <a:xfrm>
            <a:off x="822960" y="3364992"/>
            <a:ext cx="3112008" cy="548640"/>
          </a:xfrm>
          <a:prstGeom prst="rect">
            <a:avLst/>
          </a:prstGeom>
          <a:noFill/>
        </p:spPr>
        <p:txBody>
          <a:bodyPr wrap="square" anchor="t" lIns="0" rIns="0" tIns="0" bIns="0">
            <a:spAutoFit/>
          </a:bodyPr>
          <a:lstStyle/>
          <a:p>
            <a:pPr algn="l">
              <a:lnSpc>
                <a:spcPct val="120000"/>
              </a:lnSpc>
              <a:spcBef>
                <a:spcPts val="0"/>
              </a:spcBef>
              <a:spcAft>
                <a:spcPts val="200"/>
              </a:spcAft>
            </a:pPr>
            <a:r>
              <a:rPr sz="950" b="1" spc="100">
                <a:solidFill>
                  <a:srgbClr val="9AA1A9"/>
                </a:solidFill>
                <a:latin typeface="Consolas"/>
                <a:ea typeface="Consolas"/>
              </a:rPr>
              <a:t>要る設備</a:t>
            </a:r>
          </a:p>
          <a:p>
            <a:pPr algn="l">
              <a:lnSpc>
                <a:spcPct val="120000"/>
              </a:lnSpc>
              <a:spcBef>
                <a:spcPts val="0"/>
              </a:spcBef>
              <a:spcAft>
                <a:spcPts val="200"/>
              </a:spcAft>
            </a:pPr>
            <a:r>
              <a:rPr sz="1350" b="1">
                <a:solidFill>
                  <a:srgbClr val="E60012"/>
                </a:solidFill>
                <a:latin typeface="Noto Sans JP"/>
                <a:ea typeface="Noto Sans JP"/>
              </a:rPr>
              <a:t>→ </a:t>
            </a:r>
            <a:r>
              <a:rPr sz="1350" b="1">
                <a:solidFill>
                  <a:srgbClr val="373C43"/>
                </a:solidFill>
                <a:latin typeface="Noto Sans JP"/>
                <a:ea typeface="Noto Sans JP"/>
              </a:rPr>
              <a:t>電源・冷却・建屋・チップ工場</a:t>
            </a:r>
          </a:p>
        </p:txBody>
      </p:sp>
      <p:sp>
        <p:nvSpPr>
          <p:cNvPr id="15" name="Rectangle 14"/>
          <p:cNvSpPr/>
          <p:nvPr/>
        </p:nvSpPr>
        <p:spPr>
          <a:xfrm>
            <a:off x="4117847" y="2066544"/>
            <a:ext cx="12700" cy="1810512"/>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37304" y="2048256"/>
            <a:ext cx="3112008" cy="64008"/>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37304" y="2249424"/>
            <a:ext cx="3112008" cy="219456"/>
          </a:xfrm>
          <a:prstGeom prst="rect">
            <a:avLst/>
          </a:prstGeom>
          <a:noFill/>
        </p:spPr>
        <p:txBody>
          <a:bodyPr wrap="square" anchor="t" lIns="0" rIns="0" tIns="0" bIns="0">
            <a:spAutoFit/>
          </a:bodyPr>
          <a:lstStyle/>
          <a:p>
            <a:pPr algn="l">
              <a:lnSpc>
                <a:spcPct val="110000"/>
              </a:lnSpc>
              <a:spcBef>
                <a:spcPts val="0"/>
              </a:spcBef>
              <a:spcAft>
                <a:spcPts val="400"/>
              </a:spcAft>
            </a:pPr>
            <a:r>
              <a:rPr sz="1100" b="1" spc="100">
                <a:solidFill>
                  <a:srgbClr val="9AA1A9"/>
                </a:solidFill>
                <a:latin typeface="Consolas"/>
                <a:ea typeface="Consolas"/>
              </a:rPr>
              <a:t>02</a:t>
            </a:r>
          </a:p>
        </p:txBody>
      </p:sp>
      <p:sp>
        <p:nvSpPr>
          <p:cNvPr id="18" name="TextBox 17"/>
          <p:cNvSpPr txBox="1"/>
          <p:nvPr/>
        </p:nvSpPr>
        <p:spPr>
          <a:xfrm>
            <a:off x="4337304" y="2505456"/>
            <a:ext cx="3112008" cy="457200"/>
          </a:xfrm>
          <a:prstGeom prst="rect">
            <a:avLst/>
          </a:prstGeom>
          <a:noFill/>
        </p:spPr>
        <p:txBody>
          <a:bodyPr wrap="square" anchor="t" lIns="0" rIns="0" tIns="0" bIns="0">
            <a:spAutoFit/>
          </a:bodyPr>
          <a:lstStyle/>
          <a:p>
            <a:pPr algn="l">
              <a:lnSpc>
                <a:spcPct val="110000"/>
              </a:lnSpc>
              <a:spcBef>
                <a:spcPts val="0"/>
              </a:spcBef>
              <a:spcAft>
                <a:spcPts val="400"/>
              </a:spcAft>
            </a:pPr>
            <a:r>
              <a:rPr sz="2200" b="1">
                <a:solidFill>
                  <a:srgbClr val="15181C"/>
                </a:solidFill>
                <a:latin typeface="Noto Sans JP"/>
                <a:ea typeface="Noto Sans JP"/>
              </a:rPr>
              <a:t>脱炭素（GX）</a:t>
            </a:r>
          </a:p>
        </p:txBody>
      </p:sp>
      <p:sp>
        <p:nvSpPr>
          <p:cNvPr id="19" name="TextBox 18"/>
          <p:cNvSpPr txBox="1"/>
          <p:nvPr/>
        </p:nvSpPr>
        <p:spPr>
          <a:xfrm>
            <a:off x="4337304" y="3017520"/>
            <a:ext cx="3112008" cy="274320"/>
          </a:xfrm>
          <a:prstGeom prst="rect">
            <a:avLst/>
          </a:prstGeom>
          <a:noFill/>
        </p:spPr>
        <p:txBody>
          <a:bodyPr wrap="square" anchor="t" lIns="0" rIns="0" tIns="0" bIns="0">
            <a:spAutoFit/>
          </a:bodyPr>
          <a:lstStyle/>
          <a:p>
            <a:pPr algn="l">
              <a:lnSpc>
                <a:spcPct val="116000"/>
              </a:lnSpc>
              <a:spcBef>
                <a:spcPts val="0"/>
              </a:spcBef>
              <a:spcAft>
                <a:spcPts val="400"/>
              </a:spcAft>
            </a:pPr>
            <a:r>
              <a:rPr sz="1300" b="1">
                <a:solidFill>
                  <a:srgbClr val="6E767F"/>
                </a:solidFill>
                <a:latin typeface="Noto Sans JP"/>
                <a:ea typeface="Noto Sans JP"/>
              </a:rPr>
              <a:t>再エネ・送電網・電化・蓄電池</a:t>
            </a:r>
          </a:p>
        </p:txBody>
      </p:sp>
      <p:sp>
        <p:nvSpPr>
          <p:cNvPr id="20" name="TextBox 19"/>
          <p:cNvSpPr txBox="1"/>
          <p:nvPr/>
        </p:nvSpPr>
        <p:spPr>
          <a:xfrm>
            <a:off x="4337304" y="3364992"/>
            <a:ext cx="3112008" cy="548640"/>
          </a:xfrm>
          <a:prstGeom prst="rect">
            <a:avLst/>
          </a:prstGeom>
          <a:noFill/>
        </p:spPr>
        <p:txBody>
          <a:bodyPr wrap="square" anchor="t" lIns="0" rIns="0" tIns="0" bIns="0">
            <a:spAutoFit/>
          </a:bodyPr>
          <a:lstStyle/>
          <a:p>
            <a:pPr algn="l">
              <a:lnSpc>
                <a:spcPct val="120000"/>
              </a:lnSpc>
              <a:spcBef>
                <a:spcPts val="0"/>
              </a:spcBef>
              <a:spcAft>
                <a:spcPts val="200"/>
              </a:spcAft>
            </a:pPr>
            <a:r>
              <a:rPr sz="950" b="1" spc="100">
                <a:solidFill>
                  <a:srgbClr val="9AA1A9"/>
                </a:solidFill>
                <a:latin typeface="Consolas"/>
                <a:ea typeface="Consolas"/>
              </a:rPr>
              <a:t>要る設備</a:t>
            </a:r>
          </a:p>
          <a:p>
            <a:pPr algn="l">
              <a:lnSpc>
                <a:spcPct val="120000"/>
              </a:lnSpc>
              <a:spcBef>
                <a:spcPts val="0"/>
              </a:spcBef>
              <a:spcAft>
                <a:spcPts val="200"/>
              </a:spcAft>
            </a:pPr>
            <a:r>
              <a:rPr sz="1350" b="1">
                <a:solidFill>
                  <a:srgbClr val="E60012"/>
                </a:solidFill>
                <a:latin typeface="Noto Sans JP"/>
                <a:ea typeface="Noto Sans JP"/>
              </a:rPr>
              <a:t>→ </a:t>
            </a:r>
            <a:r>
              <a:rPr sz="1350" b="1">
                <a:solidFill>
                  <a:srgbClr val="373C43"/>
                </a:solidFill>
                <a:latin typeface="Noto Sans JP"/>
                <a:ea typeface="Noto Sans JP"/>
              </a:rPr>
              <a:t>発電・変電・ケーブル・電池／EV工場</a:t>
            </a:r>
          </a:p>
        </p:txBody>
      </p:sp>
      <p:sp>
        <p:nvSpPr>
          <p:cNvPr id="21" name="Rectangle 20"/>
          <p:cNvSpPr/>
          <p:nvPr/>
        </p:nvSpPr>
        <p:spPr>
          <a:xfrm>
            <a:off x="7632191" y="2066544"/>
            <a:ext cx="12700" cy="1810512"/>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51647" y="2048256"/>
            <a:ext cx="3112008" cy="64008"/>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51647" y="2249424"/>
            <a:ext cx="3112008" cy="219456"/>
          </a:xfrm>
          <a:prstGeom prst="rect">
            <a:avLst/>
          </a:prstGeom>
          <a:noFill/>
        </p:spPr>
        <p:txBody>
          <a:bodyPr wrap="square" anchor="t" lIns="0" rIns="0" tIns="0" bIns="0">
            <a:spAutoFit/>
          </a:bodyPr>
          <a:lstStyle/>
          <a:p>
            <a:pPr algn="l">
              <a:lnSpc>
                <a:spcPct val="110000"/>
              </a:lnSpc>
              <a:spcBef>
                <a:spcPts val="0"/>
              </a:spcBef>
              <a:spcAft>
                <a:spcPts val="400"/>
              </a:spcAft>
            </a:pPr>
            <a:r>
              <a:rPr sz="1100" b="1" spc="100">
                <a:solidFill>
                  <a:srgbClr val="9AA1A9"/>
                </a:solidFill>
                <a:latin typeface="Consolas"/>
                <a:ea typeface="Consolas"/>
              </a:rPr>
              <a:t>03</a:t>
            </a:r>
          </a:p>
        </p:txBody>
      </p:sp>
      <p:sp>
        <p:nvSpPr>
          <p:cNvPr id="24" name="TextBox 23"/>
          <p:cNvSpPr txBox="1"/>
          <p:nvPr/>
        </p:nvSpPr>
        <p:spPr>
          <a:xfrm>
            <a:off x="7851647" y="2505456"/>
            <a:ext cx="3112008" cy="457200"/>
          </a:xfrm>
          <a:prstGeom prst="rect">
            <a:avLst/>
          </a:prstGeom>
          <a:noFill/>
        </p:spPr>
        <p:txBody>
          <a:bodyPr wrap="square" anchor="t" lIns="0" rIns="0" tIns="0" bIns="0">
            <a:spAutoFit/>
          </a:bodyPr>
          <a:lstStyle/>
          <a:p>
            <a:pPr algn="l">
              <a:lnSpc>
                <a:spcPct val="110000"/>
              </a:lnSpc>
              <a:spcBef>
                <a:spcPts val="0"/>
              </a:spcBef>
              <a:spcAft>
                <a:spcPts val="400"/>
              </a:spcAft>
            </a:pPr>
            <a:r>
              <a:rPr sz="2200" b="1">
                <a:solidFill>
                  <a:srgbClr val="15181C"/>
                </a:solidFill>
                <a:latin typeface="Noto Sans JP"/>
                <a:ea typeface="Noto Sans JP"/>
              </a:rPr>
              <a:t>経済安保・国内回帰</a:t>
            </a:r>
          </a:p>
        </p:txBody>
      </p:sp>
      <p:sp>
        <p:nvSpPr>
          <p:cNvPr id="25" name="TextBox 24"/>
          <p:cNvSpPr txBox="1"/>
          <p:nvPr/>
        </p:nvSpPr>
        <p:spPr>
          <a:xfrm>
            <a:off x="7851647" y="3017520"/>
            <a:ext cx="3112008" cy="274320"/>
          </a:xfrm>
          <a:prstGeom prst="rect">
            <a:avLst/>
          </a:prstGeom>
          <a:noFill/>
        </p:spPr>
        <p:txBody>
          <a:bodyPr wrap="square" anchor="t" lIns="0" rIns="0" tIns="0" bIns="0">
            <a:spAutoFit/>
          </a:bodyPr>
          <a:lstStyle/>
          <a:p>
            <a:pPr algn="l">
              <a:lnSpc>
                <a:spcPct val="116000"/>
              </a:lnSpc>
              <a:spcBef>
                <a:spcPts val="0"/>
              </a:spcBef>
              <a:spcAft>
                <a:spcPts val="400"/>
              </a:spcAft>
            </a:pPr>
            <a:r>
              <a:rPr sz="1300" b="1">
                <a:solidFill>
                  <a:srgbClr val="6E767F"/>
                </a:solidFill>
                <a:latin typeface="Noto Sans JP"/>
                <a:ea typeface="Noto Sans JP"/>
              </a:rPr>
              <a:t>半導体・重要物資の国産化</a:t>
            </a:r>
          </a:p>
        </p:txBody>
      </p:sp>
      <p:sp>
        <p:nvSpPr>
          <p:cNvPr id="26" name="TextBox 25"/>
          <p:cNvSpPr txBox="1"/>
          <p:nvPr/>
        </p:nvSpPr>
        <p:spPr>
          <a:xfrm>
            <a:off x="7851647" y="3364992"/>
            <a:ext cx="3112008" cy="548640"/>
          </a:xfrm>
          <a:prstGeom prst="rect">
            <a:avLst/>
          </a:prstGeom>
          <a:noFill/>
        </p:spPr>
        <p:txBody>
          <a:bodyPr wrap="square" anchor="t" lIns="0" rIns="0" tIns="0" bIns="0">
            <a:spAutoFit/>
          </a:bodyPr>
          <a:lstStyle/>
          <a:p>
            <a:pPr algn="l">
              <a:lnSpc>
                <a:spcPct val="120000"/>
              </a:lnSpc>
              <a:spcBef>
                <a:spcPts val="0"/>
              </a:spcBef>
              <a:spcAft>
                <a:spcPts val="200"/>
              </a:spcAft>
            </a:pPr>
            <a:r>
              <a:rPr sz="950" b="1" spc="100">
                <a:solidFill>
                  <a:srgbClr val="9AA1A9"/>
                </a:solidFill>
                <a:latin typeface="Consolas"/>
                <a:ea typeface="Consolas"/>
              </a:rPr>
              <a:t>要る設備</a:t>
            </a:r>
          </a:p>
          <a:p>
            <a:pPr algn="l">
              <a:lnSpc>
                <a:spcPct val="120000"/>
              </a:lnSpc>
              <a:spcBef>
                <a:spcPts val="0"/>
              </a:spcBef>
              <a:spcAft>
                <a:spcPts val="200"/>
              </a:spcAft>
            </a:pPr>
            <a:r>
              <a:rPr sz="1350" b="1">
                <a:solidFill>
                  <a:srgbClr val="E60012"/>
                </a:solidFill>
                <a:latin typeface="Noto Sans JP"/>
                <a:ea typeface="Noto Sans JP"/>
              </a:rPr>
              <a:t>→ </a:t>
            </a:r>
            <a:r>
              <a:rPr sz="1350" b="1">
                <a:solidFill>
                  <a:srgbClr val="373C43"/>
                </a:solidFill>
                <a:latin typeface="Noto Sans JP"/>
                <a:ea typeface="Noto Sans JP"/>
              </a:rPr>
              <a:t>国内に工場を新設・供給網を再構築</a:t>
            </a:r>
          </a:p>
        </p:txBody>
      </p:sp>
      <p:sp>
        <p:nvSpPr>
          <p:cNvPr id="27" name="TextBox 26"/>
          <p:cNvSpPr txBox="1"/>
          <p:nvPr/>
        </p:nvSpPr>
        <p:spPr>
          <a:xfrm>
            <a:off x="822960" y="3968496"/>
            <a:ext cx="3112008" cy="274320"/>
          </a:xfrm>
          <a:prstGeom prst="rect">
            <a:avLst/>
          </a:prstGeom>
          <a:noFill/>
        </p:spPr>
        <p:txBody>
          <a:bodyPr wrap="square" anchor="t" lIns="0" rIns="0" tIns="0" bIns="0">
            <a:spAutoFit/>
          </a:bodyPr>
          <a:lstStyle/>
          <a:p>
            <a:pPr algn="ctr">
              <a:lnSpc>
                <a:spcPct val="110000"/>
              </a:lnSpc>
              <a:spcBef>
                <a:spcPts val="0"/>
              </a:spcBef>
              <a:spcAft>
                <a:spcPts val="400"/>
              </a:spcAft>
            </a:pPr>
            <a:r>
              <a:rPr sz="1300" b="1">
                <a:solidFill>
                  <a:srgbClr val="E60012"/>
                </a:solidFill>
                <a:latin typeface="Noto Sans JP"/>
                <a:ea typeface="Noto Sans JP"/>
              </a:rPr>
              <a:t>▼</a:t>
            </a:r>
          </a:p>
        </p:txBody>
      </p:sp>
      <p:sp>
        <p:nvSpPr>
          <p:cNvPr id="28" name="TextBox 27"/>
          <p:cNvSpPr txBox="1"/>
          <p:nvPr/>
        </p:nvSpPr>
        <p:spPr>
          <a:xfrm>
            <a:off x="4337304" y="3968496"/>
            <a:ext cx="3112008" cy="274320"/>
          </a:xfrm>
          <a:prstGeom prst="rect">
            <a:avLst/>
          </a:prstGeom>
          <a:noFill/>
        </p:spPr>
        <p:txBody>
          <a:bodyPr wrap="square" anchor="t" lIns="0" rIns="0" tIns="0" bIns="0">
            <a:spAutoFit/>
          </a:bodyPr>
          <a:lstStyle/>
          <a:p>
            <a:pPr algn="ctr">
              <a:lnSpc>
                <a:spcPct val="110000"/>
              </a:lnSpc>
              <a:spcBef>
                <a:spcPts val="0"/>
              </a:spcBef>
              <a:spcAft>
                <a:spcPts val="400"/>
              </a:spcAft>
            </a:pPr>
            <a:r>
              <a:rPr sz="1300" b="1">
                <a:solidFill>
                  <a:srgbClr val="E60012"/>
                </a:solidFill>
                <a:latin typeface="Noto Sans JP"/>
                <a:ea typeface="Noto Sans JP"/>
              </a:rPr>
              <a:t>▼</a:t>
            </a:r>
          </a:p>
        </p:txBody>
      </p:sp>
      <p:sp>
        <p:nvSpPr>
          <p:cNvPr id="29" name="TextBox 28"/>
          <p:cNvSpPr txBox="1"/>
          <p:nvPr/>
        </p:nvSpPr>
        <p:spPr>
          <a:xfrm>
            <a:off x="7851647" y="3968496"/>
            <a:ext cx="3112008" cy="274320"/>
          </a:xfrm>
          <a:prstGeom prst="rect">
            <a:avLst/>
          </a:prstGeom>
          <a:noFill/>
        </p:spPr>
        <p:txBody>
          <a:bodyPr wrap="square" anchor="t" lIns="0" rIns="0" tIns="0" bIns="0">
            <a:spAutoFit/>
          </a:bodyPr>
          <a:lstStyle/>
          <a:p>
            <a:pPr algn="ctr">
              <a:lnSpc>
                <a:spcPct val="110000"/>
              </a:lnSpc>
              <a:spcBef>
                <a:spcPts val="0"/>
              </a:spcBef>
              <a:spcAft>
                <a:spcPts val="400"/>
              </a:spcAft>
            </a:pPr>
            <a:r>
              <a:rPr sz="1300" b="1">
                <a:solidFill>
                  <a:srgbClr val="E60012"/>
                </a:solidFill>
                <a:latin typeface="Noto Sans JP"/>
                <a:ea typeface="Noto Sans JP"/>
              </a:rPr>
              <a:t>▼</a:t>
            </a:r>
          </a:p>
        </p:txBody>
      </p:sp>
      <p:sp>
        <p:nvSpPr>
          <p:cNvPr id="30" name="Rectangle 29"/>
          <p:cNvSpPr/>
          <p:nvPr/>
        </p:nvSpPr>
        <p:spPr>
          <a:xfrm>
            <a:off x="822960" y="4261104"/>
            <a:ext cx="10543032" cy="1024128"/>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3610" y="4425696"/>
            <a:ext cx="18288"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4261104"/>
            <a:ext cx="4301154" cy="1024128"/>
          </a:xfrm>
          <a:prstGeom prst="rect">
            <a:avLst/>
          </a:prstGeom>
          <a:noFill/>
        </p:spPr>
        <p:txBody>
          <a:bodyPr wrap="square" anchor="ctr" lIns="0" rIns="0" tIns="0" bIns="0">
            <a:spAutoFit/>
          </a:bodyPr>
          <a:lstStyle/>
          <a:p>
            <a:pPr algn="l">
              <a:lnSpc>
                <a:spcPct val="110000"/>
              </a:lnSpc>
              <a:spcBef>
                <a:spcPts val="0"/>
              </a:spcBef>
              <a:spcAft>
                <a:spcPts val="300"/>
              </a:spcAft>
            </a:pPr>
            <a:r>
              <a:rPr sz="1050" b="1" spc="100">
                <a:solidFill>
                  <a:srgbClr val="FFCFD3"/>
                </a:solidFill>
                <a:latin typeface="Consolas"/>
                <a:ea typeface="Consolas"/>
              </a:rPr>
              <a:t>3つに共通する“土台”</a:t>
            </a:r>
          </a:p>
          <a:p>
            <a:pPr algn="l">
              <a:lnSpc>
                <a:spcPct val="110000"/>
              </a:lnSpc>
              <a:spcBef>
                <a:spcPts val="0"/>
              </a:spcBef>
              <a:spcAft>
                <a:spcPts val="300"/>
              </a:spcAft>
            </a:pPr>
            <a:r>
              <a:rPr sz="2300" b="1">
                <a:solidFill>
                  <a:srgbClr val="FFFFFF"/>
                </a:solidFill>
                <a:latin typeface="Noto Sans JP"/>
                <a:ea typeface="Noto Sans JP"/>
              </a:rPr>
              <a:t>膨大な“設備”がいる。</a:t>
            </a:r>
          </a:p>
        </p:txBody>
      </p:sp>
      <p:sp>
        <p:nvSpPr>
          <p:cNvPr id="33" name="TextBox 32"/>
          <p:cNvSpPr txBox="1"/>
          <p:nvPr/>
        </p:nvSpPr>
        <p:spPr>
          <a:xfrm>
            <a:off x="6129954" y="4261104"/>
            <a:ext cx="4870277" cy="1024128"/>
          </a:xfrm>
          <a:prstGeom prst="rect">
            <a:avLst/>
          </a:prstGeom>
          <a:noFill/>
        </p:spPr>
        <p:txBody>
          <a:bodyPr wrap="square" anchor="ctr" lIns="0" rIns="0" tIns="0" bIns="0">
            <a:spAutoFit/>
          </a:bodyPr>
          <a:lstStyle/>
          <a:p>
            <a:pPr algn="l">
              <a:lnSpc>
                <a:spcPct val="114000"/>
              </a:lnSpc>
              <a:spcBef>
                <a:spcPts val="0"/>
              </a:spcBef>
              <a:spcAft>
                <a:spcPts val="300"/>
              </a:spcAft>
            </a:pPr>
            <a:r>
              <a:rPr sz="1050" b="1" spc="100">
                <a:solidFill>
                  <a:srgbClr val="FFCFD3"/>
                </a:solidFill>
                <a:latin typeface="Consolas"/>
                <a:ea typeface="Consolas"/>
              </a:rPr>
              <a:t>作る・建てる主役は</a:t>
            </a:r>
          </a:p>
          <a:p>
            <a:pPr algn="l">
              <a:lnSpc>
                <a:spcPct val="114000"/>
              </a:lnSpc>
              <a:spcBef>
                <a:spcPts val="0"/>
              </a:spcBef>
              <a:spcAft>
                <a:spcPts val="300"/>
              </a:spcAft>
            </a:pPr>
            <a:r>
              <a:rPr sz="1800" b="1">
                <a:solidFill>
                  <a:srgbClr val="FFFFFF"/>
                </a:solidFill>
                <a:latin typeface="Noto Sans JP"/>
                <a:ea typeface="Noto Sans JP"/>
              </a:rPr>
              <a:t>重電・機械・電機など、“製造業”がコア。</a:t>
            </a:r>
          </a:p>
        </p:txBody>
      </p:sp>
      <p:sp>
        <p:nvSpPr>
          <p:cNvPr id="34" name="Rectangle 33"/>
          <p:cNvSpPr/>
          <p:nvPr/>
        </p:nvSpPr>
        <p:spPr>
          <a:xfrm>
            <a:off x="822960" y="5696712"/>
            <a:ext cx="82296" cy="475488"/>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78992" y="5650992"/>
            <a:ext cx="10268711" cy="566928"/>
          </a:xfrm>
          <a:prstGeom prst="rect">
            <a:avLst/>
          </a:prstGeom>
          <a:noFill/>
        </p:spPr>
        <p:txBody>
          <a:bodyPr wrap="square" anchor="ctr" lIns="0" rIns="0" tIns="0" bIns="0">
            <a:spAutoFit/>
          </a:bodyPr>
          <a:lstStyle/>
          <a:p>
            <a:pPr algn="l">
              <a:lnSpc>
                <a:spcPct val="116000"/>
              </a:lnSpc>
              <a:spcBef>
                <a:spcPts val="0"/>
              </a:spcBef>
              <a:spcAft>
                <a:spcPts val="400"/>
              </a:spcAft>
            </a:pPr>
            <a:r>
              <a:rPr sz="1900" b="1">
                <a:solidFill>
                  <a:srgbClr val="15181C"/>
                </a:solidFill>
                <a:latin typeface="Noto Sans JP"/>
                <a:ea typeface="Noto Sans JP"/>
              </a:rPr>
              <a:t>→ 今日はその中で、最も勢いのある「</a:t>
            </a:r>
            <a:r>
              <a:rPr sz="1900" b="1">
                <a:solidFill>
                  <a:srgbClr val="E60012"/>
                </a:solidFill>
                <a:latin typeface="Noto Sans JP"/>
                <a:ea typeface="Noto Sans JP"/>
              </a:rPr>
              <a:t>AI</a:t>
            </a:r>
            <a:r>
              <a:rPr sz="1900" b="1">
                <a:solidFill>
                  <a:srgbClr val="15181C"/>
                </a:solidFill>
                <a:latin typeface="Noto Sans JP"/>
                <a:ea typeface="Noto Sans JP"/>
              </a:rPr>
              <a:t>」に絞って話す。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規模より“勢い”——トレンドとして、どれだけ急か</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02</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AI投資は“大きい”だけじゃない。数年で“何倍”に跳ねている。</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2834640" cy="777240"/>
          </a:xfrm>
          <a:prstGeom prst="rect">
            <a:avLst/>
          </a:prstGeom>
          <a:noFill/>
        </p:spPr>
        <p:txBody>
          <a:bodyPr wrap="square" anchor="t" lIns="0" rIns="0" tIns="0" bIns="0">
            <a:spAutoFit/>
          </a:bodyPr>
          <a:lstStyle/>
          <a:p>
            <a:pPr algn="l">
              <a:lnSpc>
                <a:spcPct val="116000"/>
              </a:lnSpc>
              <a:spcBef>
                <a:spcPts val="0"/>
              </a:spcBef>
              <a:spcAft>
                <a:spcPts val="400"/>
              </a:spcAft>
            </a:pPr>
            <a:r>
              <a:rPr sz="1700" b="1">
                <a:solidFill>
                  <a:srgbClr val="15181C"/>
                </a:solidFill>
                <a:latin typeface="Noto Sans JP"/>
                <a:ea typeface="Noto Sans JP"/>
              </a:rPr>
              <a:t>AIチップの需要</a:t>
            </a:r>
          </a:p>
          <a:p>
            <a:pPr algn="l">
              <a:lnSpc>
                <a:spcPct val="116000"/>
              </a:lnSpc>
              <a:spcBef>
                <a:spcPts val="0"/>
              </a:spcBef>
              <a:spcAft>
                <a:spcPts val="400"/>
              </a:spcAft>
            </a:pPr>
            <a:r>
              <a:rPr sz="1050" b="1">
                <a:solidFill>
                  <a:srgbClr val="6E767F"/>
                </a:solidFill>
                <a:latin typeface="Consolas"/>
                <a:ea typeface="Consolas"/>
              </a:rPr>
              <a:t>NVIDIA データセンター売上</a:t>
            </a:r>
          </a:p>
        </p:txBody>
      </p:sp>
      <p:sp>
        <p:nvSpPr>
          <p:cNvPr id="9" name="Rectangle 8"/>
          <p:cNvSpPr/>
          <p:nvPr/>
        </p:nvSpPr>
        <p:spPr>
          <a:xfrm>
            <a:off x="3794760" y="2432304"/>
            <a:ext cx="3566160"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011930" y="2386117"/>
            <a:ext cx="457200" cy="46186"/>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4760" y="249631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FY23</a:t>
            </a:r>
          </a:p>
        </p:txBody>
      </p:sp>
      <p:sp>
        <p:nvSpPr>
          <p:cNvPr id="12" name="Rectangle 11"/>
          <p:cNvSpPr/>
          <p:nvPr/>
        </p:nvSpPr>
        <p:spPr>
          <a:xfrm>
            <a:off x="4903470" y="2284507"/>
            <a:ext cx="457200" cy="147796"/>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6300" y="249631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FY24</a:t>
            </a:r>
          </a:p>
        </p:txBody>
      </p:sp>
      <p:sp>
        <p:nvSpPr>
          <p:cNvPr id="14" name="Rectangle 13"/>
          <p:cNvSpPr/>
          <p:nvPr/>
        </p:nvSpPr>
        <p:spPr>
          <a:xfrm>
            <a:off x="5795010" y="2078207"/>
            <a:ext cx="457200" cy="354096"/>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0" y="249631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FY25</a:t>
            </a:r>
          </a:p>
        </p:txBody>
      </p:sp>
      <p:sp>
        <p:nvSpPr>
          <p:cNvPr id="16" name="Rectangle 15"/>
          <p:cNvSpPr/>
          <p:nvPr/>
        </p:nvSpPr>
        <p:spPr>
          <a:xfrm>
            <a:off x="6686550" y="1828800"/>
            <a:ext cx="457200" cy="60350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9380" y="249631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FY26</a:t>
            </a:r>
          </a:p>
        </p:txBody>
      </p:sp>
      <p:sp>
        <p:nvSpPr>
          <p:cNvPr id="18" name="TextBox 17"/>
          <p:cNvSpPr txBox="1"/>
          <p:nvPr/>
        </p:nvSpPr>
        <p:spPr>
          <a:xfrm>
            <a:off x="6137910" y="1591056"/>
            <a:ext cx="1554480" cy="219456"/>
          </a:xfrm>
          <a:prstGeom prst="rect">
            <a:avLst/>
          </a:prstGeom>
          <a:noFill/>
        </p:spPr>
        <p:txBody>
          <a:bodyPr wrap="square" anchor="t" lIns="0" rIns="0" tIns="0" bIns="0">
            <a:spAutoFit/>
          </a:bodyPr>
          <a:lstStyle/>
          <a:p>
            <a:pPr algn="ctr">
              <a:lnSpc>
                <a:spcPct val="110000"/>
              </a:lnSpc>
              <a:spcBef>
                <a:spcPts val="0"/>
              </a:spcBef>
              <a:spcAft>
                <a:spcPts val="400"/>
              </a:spcAft>
            </a:pPr>
            <a:r>
              <a:rPr sz="1000" b="1">
                <a:solidFill>
                  <a:srgbClr val="6E767F"/>
                </a:solidFill>
                <a:latin typeface="Consolas"/>
                <a:ea typeface="Consolas"/>
              </a:rPr>
              <a:t>約2,000億ドル</a:t>
            </a:r>
          </a:p>
        </p:txBody>
      </p:sp>
      <p:sp>
        <p:nvSpPr>
          <p:cNvPr id="19" name="TextBox 18"/>
          <p:cNvSpPr txBox="1"/>
          <p:nvPr/>
        </p:nvSpPr>
        <p:spPr>
          <a:xfrm>
            <a:off x="7909560" y="1810512"/>
            <a:ext cx="1600200" cy="777240"/>
          </a:xfrm>
          <a:prstGeom prst="rect">
            <a:avLst/>
          </a:prstGeom>
          <a:noFill/>
        </p:spPr>
        <p:txBody>
          <a:bodyPr wrap="square" anchor="ctr" lIns="0" rIns="0" tIns="0" bIns="0">
            <a:spAutoFit/>
          </a:bodyPr>
          <a:lstStyle/>
          <a:p>
            <a:pPr algn="l">
              <a:lnSpc>
                <a:spcPct val="110000"/>
              </a:lnSpc>
              <a:spcBef>
                <a:spcPts val="0"/>
              </a:spcBef>
              <a:spcAft>
                <a:spcPts val="400"/>
              </a:spcAft>
            </a:pPr>
            <a:r>
              <a:rPr sz="3800" b="1">
                <a:solidFill>
                  <a:srgbClr val="E60012"/>
                </a:solidFill>
                <a:latin typeface="Noto Sans JP"/>
                <a:ea typeface="Noto Sans JP"/>
              </a:rPr>
              <a:t>約13倍</a:t>
            </a:r>
          </a:p>
        </p:txBody>
      </p:sp>
      <p:sp>
        <p:nvSpPr>
          <p:cNvPr id="20" name="TextBox 19"/>
          <p:cNvSpPr txBox="1"/>
          <p:nvPr/>
        </p:nvSpPr>
        <p:spPr>
          <a:xfrm>
            <a:off x="9555480" y="1810512"/>
            <a:ext cx="1828800" cy="777240"/>
          </a:xfrm>
          <a:prstGeom prst="rect">
            <a:avLst/>
          </a:prstGeom>
          <a:noFill/>
        </p:spPr>
        <p:txBody>
          <a:bodyPr wrap="square" anchor="ctr" lIns="0" rIns="0" tIns="0" bIns="0">
            <a:spAutoFit/>
          </a:bodyPr>
          <a:lstStyle/>
          <a:p>
            <a:pPr algn="l">
              <a:lnSpc>
                <a:spcPct val="110000"/>
              </a:lnSpc>
              <a:spcBef>
                <a:spcPts val="0"/>
              </a:spcBef>
              <a:spcAft>
                <a:spcPts val="400"/>
              </a:spcAft>
            </a:pPr>
            <a:r>
              <a:rPr sz="1300" b="1">
                <a:solidFill>
                  <a:srgbClr val="6E767F"/>
                </a:solidFill>
                <a:latin typeface="Noto Sans JP"/>
                <a:ea typeface="Noto Sans JP"/>
              </a:rPr>
              <a:t>に伸びた</a:t>
            </a:r>
          </a:p>
        </p:txBody>
      </p:sp>
      <p:sp>
        <p:nvSpPr>
          <p:cNvPr id="21" name="Rectangle 20"/>
          <p:cNvSpPr/>
          <p:nvPr/>
        </p:nvSpPr>
        <p:spPr>
          <a:xfrm>
            <a:off x="822960" y="2788920"/>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072384"/>
            <a:ext cx="2834640" cy="777240"/>
          </a:xfrm>
          <a:prstGeom prst="rect">
            <a:avLst/>
          </a:prstGeom>
          <a:noFill/>
        </p:spPr>
        <p:txBody>
          <a:bodyPr wrap="square" anchor="t" lIns="0" rIns="0" tIns="0" bIns="0">
            <a:spAutoFit/>
          </a:bodyPr>
          <a:lstStyle/>
          <a:p>
            <a:pPr algn="l">
              <a:lnSpc>
                <a:spcPct val="116000"/>
              </a:lnSpc>
              <a:spcBef>
                <a:spcPts val="0"/>
              </a:spcBef>
              <a:spcAft>
                <a:spcPts val="400"/>
              </a:spcAft>
            </a:pPr>
            <a:r>
              <a:rPr sz="1700" b="1">
                <a:solidFill>
                  <a:srgbClr val="15181C"/>
                </a:solidFill>
                <a:latin typeface="Noto Sans JP"/>
                <a:ea typeface="Noto Sans JP"/>
              </a:rPr>
              <a:t>AIインフラ投資</a:t>
            </a:r>
          </a:p>
          <a:p>
            <a:pPr algn="l">
              <a:lnSpc>
                <a:spcPct val="116000"/>
              </a:lnSpc>
              <a:spcBef>
                <a:spcPts val="0"/>
              </a:spcBef>
              <a:spcAft>
                <a:spcPts val="400"/>
              </a:spcAft>
            </a:pPr>
            <a:r>
              <a:rPr sz="1050" b="1">
                <a:solidFill>
                  <a:srgbClr val="6E767F"/>
                </a:solidFill>
                <a:latin typeface="Consolas"/>
                <a:ea typeface="Consolas"/>
              </a:rPr>
              <a:t>Big Tech 4社の設備投資（年間）</a:t>
            </a:r>
          </a:p>
        </p:txBody>
      </p:sp>
      <p:sp>
        <p:nvSpPr>
          <p:cNvPr id="23" name="Rectangle 22"/>
          <p:cNvSpPr/>
          <p:nvPr/>
        </p:nvSpPr>
        <p:spPr>
          <a:xfrm>
            <a:off x="3794760" y="3621024"/>
            <a:ext cx="3566160"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011930" y="3471188"/>
            <a:ext cx="457200" cy="149835"/>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94760" y="368503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’23</a:t>
            </a:r>
          </a:p>
        </p:txBody>
      </p:sp>
      <p:sp>
        <p:nvSpPr>
          <p:cNvPr id="26" name="Rectangle 25"/>
          <p:cNvSpPr/>
          <p:nvPr/>
        </p:nvSpPr>
        <p:spPr>
          <a:xfrm>
            <a:off x="4903470" y="3429567"/>
            <a:ext cx="457200" cy="191456"/>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6300" y="368503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’24</a:t>
            </a:r>
          </a:p>
        </p:txBody>
      </p:sp>
      <p:sp>
        <p:nvSpPr>
          <p:cNvPr id="28" name="Rectangle 27"/>
          <p:cNvSpPr/>
          <p:nvPr/>
        </p:nvSpPr>
        <p:spPr>
          <a:xfrm>
            <a:off x="5795010" y="3279732"/>
            <a:ext cx="457200" cy="341291"/>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77840" y="368503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’25</a:t>
            </a:r>
          </a:p>
        </p:txBody>
      </p:sp>
      <p:sp>
        <p:nvSpPr>
          <p:cNvPr id="30" name="Rectangle 29"/>
          <p:cNvSpPr/>
          <p:nvPr/>
        </p:nvSpPr>
        <p:spPr>
          <a:xfrm>
            <a:off x="6686550" y="3017520"/>
            <a:ext cx="457200" cy="60350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69380" y="368503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’26</a:t>
            </a:r>
          </a:p>
        </p:txBody>
      </p:sp>
      <p:sp>
        <p:nvSpPr>
          <p:cNvPr id="32" name="TextBox 31"/>
          <p:cNvSpPr txBox="1"/>
          <p:nvPr/>
        </p:nvSpPr>
        <p:spPr>
          <a:xfrm>
            <a:off x="6137910" y="2779776"/>
            <a:ext cx="1554480" cy="219456"/>
          </a:xfrm>
          <a:prstGeom prst="rect">
            <a:avLst/>
          </a:prstGeom>
          <a:noFill/>
        </p:spPr>
        <p:txBody>
          <a:bodyPr wrap="square" anchor="t" lIns="0" rIns="0" tIns="0" bIns="0">
            <a:spAutoFit/>
          </a:bodyPr>
          <a:lstStyle/>
          <a:p>
            <a:pPr algn="ctr">
              <a:lnSpc>
                <a:spcPct val="110000"/>
              </a:lnSpc>
              <a:spcBef>
                <a:spcPts val="0"/>
              </a:spcBef>
              <a:spcAft>
                <a:spcPts val="400"/>
              </a:spcAft>
            </a:pPr>
            <a:r>
              <a:rPr sz="1000" b="1">
                <a:solidFill>
                  <a:srgbClr val="6E767F"/>
                </a:solidFill>
                <a:latin typeface="Consolas"/>
                <a:ea typeface="Consolas"/>
              </a:rPr>
              <a:t>7,250億ドル</a:t>
            </a:r>
          </a:p>
        </p:txBody>
      </p:sp>
      <p:sp>
        <p:nvSpPr>
          <p:cNvPr id="33" name="TextBox 32"/>
          <p:cNvSpPr txBox="1"/>
          <p:nvPr/>
        </p:nvSpPr>
        <p:spPr>
          <a:xfrm>
            <a:off x="7909560" y="2999232"/>
            <a:ext cx="1600200" cy="777240"/>
          </a:xfrm>
          <a:prstGeom prst="rect">
            <a:avLst/>
          </a:prstGeom>
          <a:noFill/>
        </p:spPr>
        <p:txBody>
          <a:bodyPr wrap="square" anchor="ctr" lIns="0" rIns="0" tIns="0" bIns="0">
            <a:spAutoFit/>
          </a:bodyPr>
          <a:lstStyle/>
          <a:p>
            <a:pPr algn="l">
              <a:lnSpc>
                <a:spcPct val="110000"/>
              </a:lnSpc>
              <a:spcBef>
                <a:spcPts val="0"/>
              </a:spcBef>
              <a:spcAft>
                <a:spcPts val="400"/>
              </a:spcAft>
            </a:pPr>
            <a:r>
              <a:rPr sz="3800" b="1">
                <a:solidFill>
                  <a:srgbClr val="E60012"/>
                </a:solidFill>
                <a:latin typeface="Noto Sans JP"/>
                <a:ea typeface="Noto Sans JP"/>
              </a:rPr>
              <a:t>約4倍</a:t>
            </a:r>
          </a:p>
        </p:txBody>
      </p:sp>
      <p:sp>
        <p:nvSpPr>
          <p:cNvPr id="34" name="TextBox 33"/>
          <p:cNvSpPr txBox="1"/>
          <p:nvPr/>
        </p:nvSpPr>
        <p:spPr>
          <a:xfrm>
            <a:off x="9555480" y="2999232"/>
            <a:ext cx="1828800" cy="777240"/>
          </a:xfrm>
          <a:prstGeom prst="rect">
            <a:avLst/>
          </a:prstGeom>
          <a:noFill/>
        </p:spPr>
        <p:txBody>
          <a:bodyPr wrap="square" anchor="ctr" lIns="0" rIns="0" tIns="0" bIns="0">
            <a:spAutoFit/>
          </a:bodyPr>
          <a:lstStyle/>
          <a:p>
            <a:pPr algn="l">
              <a:lnSpc>
                <a:spcPct val="110000"/>
              </a:lnSpc>
              <a:spcBef>
                <a:spcPts val="0"/>
              </a:spcBef>
              <a:spcAft>
                <a:spcPts val="400"/>
              </a:spcAft>
            </a:pPr>
            <a:r>
              <a:rPr sz="1300" b="1">
                <a:solidFill>
                  <a:srgbClr val="6E767F"/>
                </a:solidFill>
                <a:latin typeface="Noto Sans JP"/>
                <a:ea typeface="Noto Sans JP"/>
              </a:rPr>
              <a:t>に伸びた</a:t>
            </a:r>
          </a:p>
        </p:txBody>
      </p:sp>
      <p:sp>
        <p:nvSpPr>
          <p:cNvPr id="35" name="Rectangle 34"/>
          <p:cNvSpPr/>
          <p:nvPr/>
        </p:nvSpPr>
        <p:spPr>
          <a:xfrm>
            <a:off x="822960" y="3977639"/>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4261104"/>
            <a:ext cx="2834640" cy="777240"/>
          </a:xfrm>
          <a:prstGeom prst="rect">
            <a:avLst/>
          </a:prstGeom>
          <a:noFill/>
        </p:spPr>
        <p:txBody>
          <a:bodyPr wrap="square" anchor="t" lIns="0" rIns="0" tIns="0" bIns="0">
            <a:spAutoFit/>
          </a:bodyPr>
          <a:lstStyle/>
          <a:p>
            <a:pPr algn="l">
              <a:lnSpc>
                <a:spcPct val="116000"/>
              </a:lnSpc>
              <a:spcBef>
                <a:spcPts val="0"/>
              </a:spcBef>
              <a:spcAft>
                <a:spcPts val="400"/>
              </a:spcAft>
            </a:pPr>
            <a:r>
              <a:rPr sz="1700" b="1">
                <a:solidFill>
                  <a:srgbClr val="15181C"/>
                </a:solidFill>
                <a:latin typeface="Noto Sans JP"/>
                <a:ea typeface="Noto Sans JP"/>
              </a:rPr>
              <a:t>国内DC建設投資</a:t>
            </a:r>
          </a:p>
          <a:p>
            <a:pPr algn="l">
              <a:lnSpc>
                <a:spcPct val="116000"/>
              </a:lnSpc>
              <a:spcBef>
                <a:spcPts val="0"/>
              </a:spcBef>
              <a:spcAft>
                <a:spcPts val="400"/>
              </a:spcAft>
            </a:pPr>
            <a:r>
              <a:rPr sz="1050" b="1">
                <a:solidFill>
                  <a:srgbClr val="6E767F"/>
                </a:solidFill>
                <a:latin typeface="Consolas"/>
                <a:ea typeface="Consolas"/>
              </a:rPr>
              <a:t>日本のデータセンター建設（年間）</a:t>
            </a:r>
          </a:p>
        </p:txBody>
      </p:sp>
      <p:sp>
        <p:nvSpPr>
          <p:cNvPr id="37" name="Rectangle 36"/>
          <p:cNvSpPr/>
          <p:nvPr/>
        </p:nvSpPr>
        <p:spPr>
          <a:xfrm>
            <a:off x="3794760" y="4809744"/>
            <a:ext cx="3566160"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60520" y="4615295"/>
            <a:ext cx="457200" cy="194448"/>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94760" y="4873752"/>
            <a:ext cx="118872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’23</a:t>
            </a:r>
          </a:p>
        </p:txBody>
      </p:sp>
      <p:sp>
        <p:nvSpPr>
          <p:cNvPr id="40" name="Rectangle 39"/>
          <p:cNvSpPr/>
          <p:nvPr/>
        </p:nvSpPr>
        <p:spPr>
          <a:xfrm>
            <a:off x="5349240" y="4507992"/>
            <a:ext cx="457200" cy="301752"/>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83480" y="4873752"/>
            <a:ext cx="118872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’24</a:t>
            </a:r>
          </a:p>
        </p:txBody>
      </p:sp>
      <p:sp>
        <p:nvSpPr>
          <p:cNvPr id="42" name="Rectangle 41"/>
          <p:cNvSpPr/>
          <p:nvPr/>
        </p:nvSpPr>
        <p:spPr>
          <a:xfrm>
            <a:off x="6537960" y="4206240"/>
            <a:ext cx="457200" cy="60350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72200" y="4873752"/>
            <a:ext cx="118872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’28</a:t>
            </a:r>
          </a:p>
        </p:txBody>
      </p:sp>
      <p:sp>
        <p:nvSpPr>
          <p:cNvPr id="44" name="TextBox 43"/>
          <p:cNvSpPr txBox="1"/>
          <p:nvPr/>
        </p:nvSpPr>
        <p:spPr>
          <a:xfrm>
            <a:off x="5989320" y="3968496"/>
            <a:ext cx="1554480" cy="219456"/>
          </a:xfrm>
          <a:prstGeom prst="rect">
            <a:avLst/>
          </a:prstGeom>
          <a:noFill/>
        </p:spPr>
        <p:txBody>
          <a:bodyPr wrap="square" anchor="t" lIns="0" rIns="0" tIns="0" bIns="0">
            <a:spAutoFit/>
          </a:bodyPr>
          <a:lstStyle/>
          <a:p>
            <a:pPr algn="ctr">
              <a:lnSpc>
                <a:spcPct val="110000"/>
              </a:lnSpc>
              <a:spcBef>
                <a:spcPts val="0"/>
              </a:spcBef>
              <a:spcAft>
                <a:spcPts val="400"/>
              </a:spcAft>
            </a:pPr>
            <a:r>
              <a:rPr sz="1000" b="1">
                <a:solidFill>
                  <a:srgbClr val="6E767F"/>
                </a:solidFill>
                <a:latin typeface="Consolas"/>
                <a:ea typeface="Consolas"/>
              </a:rPr>
              <a:t>1兆円超</a:t>
            </a:r>
          </a:p>
        </p:txBody>
      </p:sp>
      <p:sp>
        <p:nvSpPr>
          <p:cNvPr id="45" name="TextBox 44"/>
          <p:cNvSpPr txBox="1"/>
          <p:nvPr/>
        </p:nvSpPr>
        <p:spPr>
          <a:xfrm>
            <a:off x="7909560" y="4187952"/>
            <a:ext cx="1600200" cy="777240"/>
          </a:xfrm>
          <a:prstGeom prst="rect">
            <a:avLst/>
          </a:prstGeom>
          <a:noFill/>
        </p:spPr>
        <p:txBody>
          <a:bodyPr wrap="square" anchor="ctr" lIns="0" rIns="0" tIns="0" bIns="0">
            <a:spAutoFit/>
          </a:bodyPr>
          <a:lstStyle/>
          <a:p>
            <a:pPr algn="l">
              <a:lnSpc>
                <a:spcPct val="110000"/>
              </a:lnSpc>
              <a:spcBef>
                <a:spcPts val="0"/>
              </a:spcBef>
              <a:spcAft>
                <a:spcPts val="400"/>
              </a:spcAft>
            </a:pPr>
            <a:r>
              <a:rPr sz="3800" b="1">
                <a:solidFill>
                  <a:srgbClr val="E60012"/>
                </a:solidFill>
                <a:latin typeface="Noto Sans JP"/>
                <a:ea typeface="Noto Sans JP"/>
              </a:rPr>
              <a:t>約3倍</a:t>
            </a:r>
          </a:p>
        </p:txBody>
      </p:sp>
      <p:sp>
        <p:nvSpPr>
          <p:cNvPr id="46" name="TextBox 45"/>
          <p:cNvSpPr txBox="1"/>
          <p:nvPr/>
        </p:nvSpPr>
        <p:spPr>
          <a:xfrm>
            <a:off x="9555480" y="4187952"/>
            <a:ext cx="1828800" cy="777240"/>
          </a:xfrm>
          <a:prstGeom prst="rect">
            <a:avLst/>
          </a:prstGeom>
          <a:noFill/>
        </p:spPr>
        <p:txBody>
          <a:bodyPr wrap="square" anchor="ctr" lIns="0" rIns="0" tIns="0" bIns="0">
            <a:spAutoFit/>
          </a:bodyPr>
          <a:lstStyle/>
          <a:p>
            <a:pPr algn="l">
              <a:lnSpc>
                <a:spcPct val="110000"/>
              </a:lnSpc>
              <a:spcBef>
                <a:spcPts val="0"/>
              </a:spcBef>
              <a:spcAft>
                <a:spcPts val="400"/>
              </a:spcAft>
            </a:pPr>
            <a:r>
              <a:rPr sz="1300" b="1">
                <a:solidFill>
                  <a:srgbClr val="6E767F"/>
                </a:solidFill>
                <a:latin typeface="Noto Sans JP"/>
                <a:ea typeface="Noto Sans JP"/>
              </a:rPr>
              <a:t>に伸びた</a:t>
            </a:r>
          </a:p>
        </p:txBody>
      </p:sp>
      <p:sp>
        <p:nvSpPr>
          <p:cNvPr id="47" name="Rectangle 46"/>
          <p:cNvSpPr/>
          <p:nvPr/>
        </p:nvSpPr>
        <p:spPr>
          <a:xfrm>
            <a:off x="822960" y="5486400"/>
            <a:ext cx="82296" cy="475488"/>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78992" y="5440680"/>
            <a:ext cx="10268711" cy="566928"/>
          </a:xfrm>
          <a:prstGeom prst="rect">
            <a:avLst/>
          </a:prstGeom>
          <a:noFill/>
        </p:spPr>
        <p:txBody>
          <a:bodyPr wrap="square" anchor="ctr" lIns="0" rIns="0" tIns="0" bIns="0">
            <a:spAutoFit/>
          </a:bodyPr>
          <a:lstStyle/>
          <a:p>
            <a:pPr algn="l">
              <a:lnSpc>
                <a:spcPct val="116000"/>
              </a:lnSpc>
              <a:spcBef>
                <a:spcPts val="0"/>
              </a:spcBef>
              <a:spcAft>
                <a:spcPts val="400"/>
              </a:spcAft>
            </a:pPr>
            <a:r>
              <a:rPr sz="1900" b="1">
                <a:solidFill>
                  <a:srgbClr val="15181C"/>
                </a:solidFill>
                <a:latin typeface="Noto Sans JP"/>
                <a:ea typeface="Noto Sans JP"/>
              </a:rPr>
              <a:t>投資のピークは2027〜2028年。この波は、まだ“</a:t>
            </a:r>
            <a:r>
              <a:rPr sz="1900" b="1">
                <a:solidFill>
                  <a:srgbClr val="E60012"/>
                </a:solidFill>
                <a:latin typeface="Noto Sans JP"/>
                <a:ea typeface="Noto Sans JP"/>
              </a:rPr>
              <a:t>序盤</a:t>
            </a:r>
            <a:r>
              <a:rPr sz="1900" b="1">
                <a:solidFill>
                  <a:srgbClr val="15181C"/>
                </a:solidFill>
                <a:latin typeface="Noto Sans JP"/>
                <a:ea typeface="Noto Sans JP"/>
              </a:rPr>
              <a:t>”だ。</a:t>
            </a:r>
          </a:p>
        </p:txBody>
      </p:sp>
      <p:sp>
        <p:nvSpPr>
          <p:cNvPr id="49" name="TextBox 48"/>
          <p:cNvSpPr txBox="1"/>
          <p:nvPr/>
        </p:nvSpPr>
        <p:spPr>
          <a:xfrm>
            <a:off x="822960" y="6236208"/>
            <a:ext cx="10607040" cy="256032"/>
          </a:xfrm>
          <a:prstGeom prst="rect">
            <a:avLst/>
          </a:prstGeom>
          <a:noFill/>
        </p:spPr>
        <p:txBody>
          <a:bodyPr wrap="square" anchor="t" lIns="0" rIns="0" tIns="0" bIns="0">
            <a:spAutoFit/>
          </a:bodyPr>
          <a:lstStyle/>
          <a:p>
            <a:pPr algn="l">
              <a:lnSpc>
                <a:spcPct val="110000"/>
              </a:lnSpc>
              <a:spcBef>
                <a:spcPts val="0"/>
              </a:spcBef>
              <a:spcAft>
                <a:spcPts val="400"/>
              </a:spcAft>
            </a:pPr>
            <a:r>
              <a:rPr sz="900" b="0">
                <a:solidFill>
                  <a:srgbClr val="9AA1A9"/>
                </a:solidFill>
                <a:latin typeface="Consolas"/>
                <a:ea typeface="Consolas"/>
              </a:rPr>
              <a:t>出典：NVIDIA IR／Big Tech各社IR・報道／IDC Japan（国内DC建設投資）。</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AI需要 → 連鎖して伸びる、日本のバリューチェーン</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03</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AIが伸びれば、この“川”がまるごと潤う。</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64208"/>
            <a:ext cx="7772400" cy="310896"/>
          </a:xfrm>
          <a:prstGeom prst="rect">
            <a:avLst/>
          </a:prstGeom>
          <a:noFill/>
        </p:spPr>
        <p:txBody>
          <a:bodyPr wrap="square" anchor="t" lIns="0" rIns="0" tIns="0" bIns="0">
            <a:spAutoFit/>
          </a:bodyPr>
          <a:lstStyle/>
          <a:p>
            <a:pPr algn="l">
              <a:lnSpc>
                <a:spcPct val="110000"/>
              </a:lnSpc>
              <a:spcBef>
                <a:spcPts val="0"/>
              </a:spcBef>
              <a:spcAft>
                <a:spcPts val="400"/>
              </a:spcAft>
            </a:pPr>
            <a:r>
              <a:rPr sz="1500" b="1">
                <a:solidFill>
                  <a:srgbClr val="E60012"/>
                </a:solidFill>
                <a:latin typeface="Noto Sans JP"/>
                <a:ea typeface="Noto Sans JP"/>
              </a:rPr>
              <a:t>AI・DC需要の拡大</a:t>
            </a:r>
            <a:r>
              <a:rPr sz="1100" b="1">
                <a:solidFill>
                  <a:srgbClr val="6E767F"/>
                </a:solidFill>
                <a:latin typeface="Noto Sans JP"/>
                <a:ea typeface="Noto Sans JP"/>
              </a:rPr>
              <a:t>　この一手が、川上から川下までまるごと波及する</a:t>
            </a:r>
          </a:p>
        </p:txBody>
      </p:sp>
      <p:sp>
        <p:nvSpPr>
          <p:cNvPr id="9" name="TextBox 8"/>
          <p:cNvSpPr txBox="1"/>
          <p:nvPr/>
        </p:nvSpPr>
        <p:spPr>
          <a:xfrm>
            <a:off x="822960" y="2103120"/>
            <a:ext cx="3657600" cy="201168"/>
          </a:xfrm>
          <a:prstGeom prst="rect">
            <a:avLst/>
          </a:prstGeom>
          <a:noFill/>
        </p:spPr>
        <p:txBody>
          <a:bodyPr wrap="square" anchor="t" lIns="0" rIns="0" tIns="0" bIns="0">
            <a:spAutoFit/>
          </a:bodyPr>
          <a:lstStyle/>
          <a:p>
            <a:pPr algn="l">
              <a:lnSpc>
                <a:spcPct val="110000"/>
              </a:lnSpc>
              <a:spcBef>
                <a:spcPts val="0"/>
              </a:spcBef>
              <a:spcAft>
                <a:spcPts val="400"/>
              </a:spcAft>
            </a:pPr>
            <a:r>
              <a:rPr sz="950" b="1" spc="100">
                <a:solidFill>
                  <a:srgbClr val="9AA1A9"/>
                </a:solidFill>
                <a:latin typeface="Consolas"/>
                <a:ea typeface="Consolas"/>
              </a:rPr>
              <a:t>川上（源流）</a:t>
            </a:r>
          </a:p>
        </p:txBody>
      </p:sp>
      <p:sp>
        <p:nvSpPr>
          <p:cNvPr id="10" name="TextBox 9"/>
          <p:cNvSpPr txBox="1"/>
          <p:nvPr/>
        </p:nvSpPr>
        <p:spPr>
          <a:xfrm>
            <a:off x="7708392" y="2103120"/>
            <a:ext cx="3657600" cy="201168"/>
          </a:xfrm>
          <a:prstGeom prst="rect">
            <a:avLst/>
          </a:prstGeom>
          <a:noFill/>
        </p:spPr>
        <p:txBody>
          <a:bodyPr wrap="square" anchor="t" lIns="0" rIns="0" tIns="0" bIns="0">
            <a:spAutoFit/>
          </a:bodyPr>
          <a:lstStyle/>
          <a:p>
            <a:pPr algn="r">
              <a:lnSpc>
                <a:spcPct val="110000"/>
              </a:lnSpc>
              <a:spcBef>
                <a:spcPts val="0"/>
              </a:spcBef>
              <a:spcAft>
                <a:spcPts val="400"/>
              </a:spcAft>
            </a:pPr>
            <a:r>
              <a:rPr sz="950" b="1" spc="100">
                <a:solidFill>
                  <a:srgbClr val="9AA1A9"/>
                </a:solidFill>
                <a:latin typeface="Consolas"/>
                <a:ea typeface="Consolas"/>
              </a:rPr>
              <a:t>川下（据付・保守の現場）</a:t>
            </a:r>
          </a:p>
        </p:txBody>
      </p:sp>
      <p:sp>
        <p:nvSpPr>
          <p:cNvPr id="11" name="Rectangle 10"/>
          <p:cNvSpPr/>
          <p:nvPr/>
        </p:nvSpPr>
        <p:spPr>
          <a:xfrm>
            <a:off x="822960" y="2340864"/>
            <a:ext cx="10232136"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36808" y="2240280"/>
            <a:ext cx="365760" cy="237744"/>
          </a:xfrm>
          <a:prstGeom prst="rect">
            <a:avLst/>
          </a:prstGeom>
          <a:noFill/>
        </p:spPr>
        <p:txBody>
          <a:bodyPr wrap="square" anchor="t" lIns="0" rIns="0" tIns="0" bIns="0">
            <a:spAutoFit/>
          </a:bodyPr>
          <a:lstStyle/>
          <a:p>
            <a:pPr algn="l">
              <a:lnSpc>
                <a:spcPct val="110000"/>
              </a:lnSpc>
              <a:spcBef>
                <a:spcPts val="0"/>
              </a:spcBef>
              <a:spcAft>
                <a:spcPts val="400"/>
              </a:spcAft>
            </a:pPr>
            <a:r>
              <a:rPr sz="1400" b="1">
                <a:solidFill>
                  <a:srgbClr val="E60012"/>
                </a:solidFill>
                <a:latin typeface="Noto Sans JP"/>
                <a:ea typeface="Noto Sans JP"/>
              </a:rPr>
              <a:t>▶</a:t>
            </a:r>
          </a:p>
        </p:txBody>
      </p:sp>
      <p:sp>
        <p:nvSpPr>
          <p:cNvPr id="13" name="Rectangle 12"/>
          <p:cNvSpPr/>
          <p:nvPr/>
        </p:nvSpPr>
        <p:spPr>
          <a:xfrm>
            <a:off x="822960"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01</a:t>
            </a:r>
          </a:p>
        </p:txBody>
      </p:sp>
      <p:sp>
        <p:nvSpPr>
          <p:cNvPr id="15" name="TextBox 14"/>
          <p:cNvSpPr txBox="1"/>
          <p:nvPr/>
        </p:nvSpPr>
        <p:spPr>
          <a:xfrm>
            <a:off x="822960"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発電・電源</a:t>
            </a:r>
          </a:p>
        </p:txBody>
      </p:sp>
      <p:sp>
        <p:nvSpPr>
          <p:cNvPr id="16" name="TextBox 15"/>
          <p:cNvSpPr txBox="1"/>
          <p:nvPr/>
        </p:nvSpPr>
        <p:spPr>
          <a:xfrm>
            <a:off x="822960"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電気をつくる</a:t>
            </a:r>
          </a:p>
        </p:txBody>
      </p:sp>
      <p:sp>
        <p:nvSpPr>
          <p:cNvPr id="17" name="TextBox 16"/>
          <p:cNvSpPr txBox="1"/>
          <p:nvPr/>
        </p:nvSpPr>
        <p:spPr>
          <a:xfrm>
            <a:off x="822960"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三菱重工</a:t>
            </a:r>
          </a:p>
        </p:txBody>
      </p:sp>
      <p:sp>
        <p:nvSpPr>
          <p:cNvPr id="18" name="TextBox 17"/>
          <p:cNvSpPr txBox="1"/>
          <p:nvPr/>
        </p:nvSpPr>
        <p:spPr>
          <a:xfrm>
            <a:off x="822960"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川崎重工</a:t>
            </a:r>
          </a:p>
        </p:txBody>
      </p:sp>
      <p:sp>
        <p:nvSpPr>
          <p:cNvPr id="19" name="TextBox 18"/>
          <p:cNvSpPr txBox="1"/>
          <p:nvPr/>
        </p:nvSpPr>
        <p:spPr>
          <a:xfrm>
            <a:off x="822960"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IHI</a:t>
            </a:r>
          </a:p>
        </p:txBody>
      </p:sp>
      <p:sp>
        <p:nvSpPr>
          <p:cNvPr id="20" name="TextBox 19"/>
          <p:cNvSpPr txBox="1"/>
          <p:nvPr/>
        </p:nvSpPr>
        <p:spPr>
          <a:xfrm>
            <a:off x="822960" y="491947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デンヨー</a:t>
            </a:r>
          </a:p>
        </p:txBody>
      </p:sp>
      <p:sp>
        <p:nvSpPr>
          <p:cNvPr id="21" name="Rectangle 20"/>
          <p:cNvSpPr/>
          <p:nvPr/>
        </p:nvSpPr>
        <p:spPr>
          <a:xfrm>
            <a:off x="2821838" y="2670048"/>
            <a:ext cx="12700" cy="23774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31566"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31566"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02</a:t>
            </a:r>
          </a:p>
        </p:txBody>
      </p:sp>
      <p:sp>
        <p:nvSpPr>
          <p:cNvPr id="24" name="TextBox 23"/>
          <p:cNvSpPr txBox="1"/>
          <p:nvPr/>
        </p:nvSpPr>
        <p:spPr>
          <a:xfrm>
            <a:off x="2931566"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送変電・電線</a:t>
            </a:r>
          </a:p>
        </p:txBody>
      </p:sp>
      <p:sp>
        <p:nvSpPr>
          <p:cNvPr id="25" name="TextBox 24"/>
          <p:cNvSpPr txBox="1"/>
          <p:nvPr/>
        </p:nvSpPr>
        <p:spPr>
          <a:xfrm>
            <a:off x="2931566"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送る・変える</a:t>
            </a:r>
          </a:p>
        </p:txBody>
      </p:sp>
      <p:sp>
        <p:nvSpPr>
          <p:cNvPr id="26" name="TextBox 25"/>
          <p:cNvSpPr txBox="1"/>
          <p:nvPr/>
        </p:nvSpPr>
        <p:spPr>
          <a:xfrm>
            <a:off x="2931566"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日立</a:t>
            </a:r>
          </a:p>
        </p:txBody>
      </p:sp>
      <p:sp>
        <p:nvSpPr>
          <p:cNvPr id="27" name="TextBox 26"/>
          <p:cNvSpPr txBox="1"/>
          <p:nvPr/>
        </p:nvSpPr>
        <p:spPr>
          <a:xfrm>
            <a:off x="2931566"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三菱電機</a:t>
            </a:r>
          </a:p>
        </p:txBody>
      </p:sp>
      <p:sp>
        <p:nvSpPr>
          <p:cNvPr id="28" name="TextBox 27"/>
          <p:cNvSpPr txBox="1"/>
          <p:nvPr/>
        </p:nvSpPr>
        <p:spPr>
          <a:xfrm>
            <a:off x="2931566"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ダイヘン</a:t>
            </a:r>
          </a:p>
        </p:txBody>
      </p:sp>
      <p:sp>
        <p:nvSpPr>
          <p:cNvPr id="29" name="TextBox 28"/>
          <p:cNvSpPr txBox="1"/>
          <p:nvPr/>
        </p:nvSpPr>
        <p:spPr>
          <a:xfrm>
            <a:off x="2931566" y="491947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フジクラ</a:t>
            </a:r>
          </a:p>
        </p:txBody>
      </p:sp>
      <p:sp>
        <p:nvSpPr>
          <p:cNvPr id="30" name="Rectangle 29"/>
          <p:cNvSpPr/>
          <p:nvPr/>
        </p:nvSpPr>
        <p:spPr>
          <a:xfrm>
            <a:off x="4930444" y="2670048"/>
            <a:ext cx="12700" cy="23774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40172"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0172"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03</a:t>
            </a:r>
          </a:p>
        </p:txBody>
      </p:sp>
      <p:sp>
        <p:nvSpPr>
          <p:cNvPr id="33" name="TextBox 32"/>
          <p:cNvSpPr txBox="1"/>
          <p:nvPr/>
        </p:nvSpPr>
        <p:spPr>
          <a:xfrm>
            <a:off x="5040172"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DC建設・設備</a:t>
            </a:r>
          </a:p>
        </p:txBody>
      </p:sp>
      <p:sp>
        <p:nvSpPr>
          <p:cNvPr id="34" name="TextBox 33"/>
          <p:cNvSpPr txBox="1"/>
          <p:nvPr/>
        </p:nvSpPr>
        <p:spPr>
          <a:xfrm>
            <a:off x="5040172"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箱を建てる</a:t>
            </a:r>
          </a:p>
        </p:txBody>
      </p:sp>
      <p:sp>
        <p:nvSpPr>
          <p:cNvPr id="35" name="TextBox 34"/>
          <p:cNvSpPr txBox="1"/>
          <p:nvPr/>
        </p:nvSpPr>
        <p:spPr>
          <a:xfrm>
            <a:off x="5040172"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鹿島建設</a:t>
            </a:r>
          </a:p>
        </p:txBody>
      </p:sp>
      <p:sp>
        <p:nvSpPr>
          <p:cNvPr id="36" name="TextBox 35"/>
          <p:cNvSpPr txBox="1"/>
          <p:nvPr/>
        </p:nvSpPr>
        <p:spPr>
          <a:xfrm>
            <a:off x="5040172"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大林組</a:t>
            </a:r>
          </a:p>
        </p:txBody>
      </p:sp>
      <p:sp>
        <p:nvSpPr>
          <p:cNvPr id="37" name="TextBox 36"/>
          <p:cNvSpPr txBox="1"/>
          <p:nvPr/>
        </p:nvSpPr>
        <p:spPr>
          <a:xfrm>
            <a:off x="5040172"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きんでん</a:t>
            </a:r>
          </a:p>
        </p:txBody>
      </p:sp>
      <p:sp>
        <p:nvSpPr>
          <p:cNvPr id="38" name="TextBox 37"/>
          <p:cNvSpPr txBox="1"/>
          <p:nvPr/>
        </p:nvSpPr>
        <p:spPr>
          <a:xfrm>
            <a:off x="5040172" y="491947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高砂熱学</a:t>
            </a:r>
          </a:p>
        </p:txBody>
      </p:sp>
      <p:sp>
        <p:nvSpPr>
          <p:cNvPr id="39" name="Rectangle 38"/>
          <p:cNvSpPr/>
          <p:nvPr/>
        </p:nvSpPr>
        <p:spPr>
          <a:xfrm>
            <a:off x="7039051" y="2670048"/>
            <a:ext cx="12700" cy="23774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148779"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48779"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04</a:t>
            </a:r>
          </a:p>
        </p:txBody>
      </p:sp>
      <p:sp>
        <p:nvSpPr>
          <p:cNvPr id="42" name="TextBox 41"/>
          <p:cNvSpPr txBox="1"/>
          <p:nvPr/>
        </p:nvSpPr>
        <p:spPr>
          <a:xfrm>
            <a:off x="7148779"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冷却・電源保護</a:t>
            </a:r>
          </a:p>
        </p:txBody>
      </p:sp>
      <p:sp>
        <p:nvSpPr>
          <p:cNvPr id="43" name="TextBox 42"/>
          <p:cNvSpPr txBox="1"/>
          <p:nvPr/>
        </p:nvSpPr>
        <p:spPr>
          <a:xfrm>
            <a:off x="7148779"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冷やす・止めない</a:t>
            </a:r>
          </a:p>
        </p:txBody>
      </p:sp>
      <p:sp>
        <p:nvSpPr>
          <p:cNvPr id="44" name="TextBox 43"/>
          <p:cNvSpPr txBox="1"/>
          <p:nvPr/>
        </p:nvSpPr>
        <p:spPr>
          <a:xfrm>
            <a:off x="7148779"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ダイキン</a:t>
            </a:r>
          </a:p>
        </p:txBody>
      </p:sp>
      <p:sp>
        <p:nvSpPr>
          <p:cNvPr id="45" name="TextBox 44"/>
          <p:cNvSpPr txBox="1"/>
          <p:nvPr/>
        </p:nvSpPr>
        <p:spPr>
          <a:xfrm>
            <a:off x="7148779"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GSユアサ</a:t>
            </a:r>
          </a:p>
        </p:txBody>
      </p:sp>
      <p:sp>
        <p:nvSpPr>
          <p:cNvPr id="46" name="TextBox 45"/>
          <p:cNvSpPr txBox="1"/>
          <p:nvPr/>
        </p:nvSpPr>
        <p:spPr>
          <a:xfrm>
            <a:off x="7148779"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荏原製作所</a:t>
            </a:r>
          </a:p>
        </p:txBody>
      </p:sp>
      <p:sp>
        <p:nvSpPr>
          <p:cNvPr id="47" name="Rectangle 46"/>
          <p:cNvSpPr/>
          <p:nvPr/>
        </p:nvSpPr>
        <p:spPr>
          <a:xfrm>
            <a:off x="9147657" y="2670048"/>
            <a:ext cx="12700" cy="23774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257385"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257385"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05</a:t>
            </a:r>
          </a:p>
        </p:txBody>
      </p:sp>
      <p:sp>
        <p:nvSpPr>
          <p:cNvPr id="50" name="TextBox 49"/>
          <p:cNvSpPr txBox="1"/>
          <p:nvPr/>
        </p:nvSpPr>
        <p:spPr>
          <a:xfrm>
            <a:off x="9257385"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半導体</a:t>
            </a:r>
          </a:p>
        </p:txBody>
      </p:sp>
      <p:sp>
        <p:nvSpPr>
          <p:cNvPr id="51" name="TextBox 50"/>
          <p:cNvSpPr txBox="1"/>
          <p:nvPr/>
        </p:nvSpPr>
        <p:spPr>
          <a:xfrm>
            <a:off x="9257385"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計算する頭脳</a:t>
            </a:r>
          </a:p>
        </p:txBody>
      </p:sp>
      <p:sp>
        <p:nvSpPr>
          <p:cNvPr id="52" name="TextBox 51"/>
          <p:cNvSpPr txBox="1"/>
          <p:nvPr/>
        </p:nvSpPr>
        <p:spPr>
          <a:xfrm>
            <a:off x="9257385"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東京エレクトロン</a:t>
            </a:r>
          </a:p>
        </p:txBody>
      </p:sp>
      <p:sp>
        <p:nvSpPr>
          <p:cNvPr id="53" name="TextBox 52"/>
          <p:cNvSpPr txBox="1"/>
          <p:nvPr/>
        </p:nvSpPr>
        <p:spPr>
          <a:xfrm>
            <a:off x="9257385"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ディスコ</a:t>
            </a:r>
          </a:p>
        </p:txBody>
      </p:sp>
      <p:sp>
        <p:nvSpPr>
          <p:cNvPr id="54" name="TextBox 53"/>
          <p:cNvSpPr txBox="1"/>
          <p:nvPr/>
        </p:nvSpPr>
        <p:spPr>
          <a:xfrm>
            <a:off x="9257385"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キオクシア</a:t>
            </a:r>
          </a:p>
        </p:txBody>
      </p:sp>
      <p:sp>
        <p:nvSpPr>
          <p:cNvPr id="55" name="TextBox 54"/>
          <p:cNvSpPr txBox="1"/>
          <p:nvPr/>
        </p:nvSpPr>
        <p:spPr>
          <a:xfrm>
            <a:off x="9257385" y="491947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信越化学</a:t>
            </a:r>
          </a:p>
        </p:txBody>
      </p:sp>
      <p:sp>
        <p:nvSpPr>
          <p:cNvPr id="56" name="Rectangle 55"/>
          <p:cNvSpPr/>
          <p:nvPr/>
        </p:nvSpPr>
        <p:spPr>
          <a:xfrm>
            <a:off x="822960" y="5294376"/>
            <a:ext cx="82296" cy="42062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8992" y="5248656"/>
            <a:ext cx="10268711" cy="512064"/>
          </a:xfrm>
          <a:prstGeom prst="rect">
            <a:avLst/>
          </a:prstGeom>
          <a:noFill/>
        </p:spPr>
        <p:txBody>
          <a:bodyPr wrap="square" anchor="ctr" lIns="0" rIns="0" tIns="0" bIns="0">
            <a:spAutoFit/>
          </a:bodyPr>
          <a:lstStyle/>
          <a:p>
            <a:pPr algn="l">
              <a:lnSpc>
                <a:spcPct val="116000"/>
              </a:lnSpc>
              <a:spcBef>
                <a:spcPts val="0"/>
              </a:spcBef>
              <a:spcAft>
                <a:spcPts val="400"/>
              </a:spcAft>
            </a:pPr>
            <a:r>
              <a:rPr sz="1900" b="1">
                <a:solidFill>
                  <a:srgbClr val="15181C"/>
                </a:solidFill>
                <a:latin typeface="Noto Sans JP"/>
                <a:ea typeface="Noto Sans JP"/>
              </a:rPr>
              <a:t>AIの“源流”が、川下の日本メーカーまで、</a:t>
            </a:r>
            <a:r>
              <a:rPr sz="1900" b="1">
                <a:solidFill>
                  <a:srgbClr val="E60012"/>
                </a:solidFill>
                <a:latin typeface="Noto Sans JP"/>
                <a:ea typeface="Noto Sans JP"/>
              </a:rPr>
              <a:t>まるごと潤す。</a:t>
            </a:r>
          </a:p>
        </p:txBody>
      </p:sp>
      <p:sp>
        <p:nvSpPr>
          <p:cNvPr id="58" name="TextBox 57"/>
          <p:cNvSpPr txBox="1"/>
          <p:nvPr/>
        </p:nvSpPr>
        <p:spPr>
          <a:xfrm>
            <a:off x="1078992" y="5852160"/>
            <a:ext cx="10332720" cy="310896"/>
          </a:xfrm>
          <a:prstGeom prst="rect">
            <a:avLst/>
          </a:prstGeom>
          <a:noFill/>
        </p:spPr>
        <p:txBody>
          <a:bodyPr wrap="square" anchor="t" lIns="0" rIns="0" tIns="0" bIns="0">
            <a:spAutoFit/>
          </a:bodyPr>
          <a:lstStyle/>
          <a:p>
            <a:pPr algn="l">
              <a:lnSpc>
                <a:spcPct val="110000"/>
              </a:lnSpc>
              <a:spcBef>
                <a:spcPts val="0"/>
              </a:spcBef>
              <a:spcAft>
                <a:spcPts val="400"/>
              </a:spcAft>
            </a:pPr>
            <a:r>
              <a:rPr sz="1400" b="1">
                <a:solidFill>
                  <a:srgbClr val="373C43"/>
                </a:solidFill>
                <a:latin typeface="Noto Sans JP"/>
                <a:ea typeface="Noto Sans JP"/>
              </a:rPr>
              <a:t>発電から半導体まで全段が同時に増収増益——狙える現場は、この一社一社にある。</a:t>
            </a:r>
          </a:p>
        </p:txBody>
      </p:sp>
      <p:sp>
        <p:nvSpPr>
          <p:cNvPr id="59" name="TextBox 58"/>
          <p:cNvSpPr txBox="1"/>
          <p:nvPr/>
        </p:nvSpPr>
        <p:spPr>
          <a:xfrm>
            <a:off x="822960" y="6345936"/>
            <a:ext cx="10607040" cy="256032"/>
          </a:xfrm>
          <a:prstGeom prst="rect">
            <a:avLst/>
          </a:prstGeom>
          <a:noFill/>
        </p:spPr>
        <p:txBody>
          <a:bodyPr wrap="square" anchor="t" lIns="0" rIns="0" tIns="0" bIns="0">
            <a:spAutoFit/>
          </a:bodyPr>
          <a:lstStyle/>
          <a:p>
            <a:pPr algn="l">
              <a:lnSpc>
                <a:spcPct val="110000"/>
              </a:lnSpc>
              <a:spcBef>
                <a:spcPts val="0"/>
              </a:spcBef>
              <a:spcAft>
                <a:spcPts val="400"/>
              </a:spcAft>
            </a:pPr>
            <a:r>
              <a:rPr sz="900" b="0">
                <a:solidFill>
                  <a:srgbClr val="9AA1A9"/>
                </a:solidFill>
                <a:latin typeface="Consolas"/>
                <a:ea typeface="Consolas"/>
              </a:rPr>
              <a:t>※ 各段階の代表企業を抜粋（社名表記＝ロゴのイメージ、実ロゴへ差し替え可）。数値・詳細は次頁以降。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建設費の中身：どこにANDPADの市場があるか</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04</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お金の3/4は設備。効くのは機器代ではなく“工”＝据付・試運転・保守。</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2635758" cy="89611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58718" y="2011680"/>
            <a:ext cx="5271516" cy="89611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730234" y="2011680"/>
            <a:ext cx="2635758" cy="896112"/>
          </a:xfrm>
          <a:prstGeom prst="rect">
            <a:avLst/>
          </a:prstGeom>
          <a:solidFill>
            <a:srgbClr val="F0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47745" y="2011680"/>
            <a:ext cx="21945" cy="8961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719261" y="2011680"/>
            <a:ext cx="21945" cy="8961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011680"/>
            <a:ext cx="2635758" cy="896112"/>
          </a:xfrm>
          <a:prstGeom prst="rect">
            <a:avLst/>
          </a:prstGeom>
          <a:noFill/>
        </p:spPr>
        <p:txBody>
          <a:bodyPr wrap="square" anchor="ctr" lIns="0" rIns="0" tIns="0" bIns="0">
            <a:spAutoFit/>
          </a:bodyPr>
          <a:lstStyle/>
          <a:p>
            <a:pPr algn="ctr">
              <a:lnSpc>
                <a:spcPct val="100000"/>
              </a:lnSpc>
              <a:spcBef>
                <a:spcPts val="0"/>
              </a:spcBef>
              <a:spcAft>
                <a:spcPts val="100"/>
              </a:spcAft>
            </a:pPr>
            <a:r>
              <a:rPr sz="1100" b="1">
                <a:solidFill>
                  <a:srgbClr val="FFFFFF"/>
                </a:solidFill>
                <a:latin typeface="Noto Sans JP"/>
                <a:ea typeface="Noto Sans JP"/>
              </a:rPr>
              <a:t>建築（躯体）</a:t>
            </a:r>
          </a:p>
          <a:p>
            <a:pPr algn="ctr">
              <a:lnSpc>
                <a:spcPct val="100000"/>
              </a:lnSpc>
              <a:spcBef>
                <a:spcPts val="0"/>
              </a:spcBef>
              <a:spcAft>
                <a:spcPts val="100"/>
              </a:spcAft>
            </a:pPr>
            <a:r>
              <a:rPr sz="1900" b="1">
                <a:solidFill>
                  <a:srgbClr val="FFFFFF"/>
                </a:solidFill>
                <a:latin typeface="Noto Sans JP"/>
                <a:ea typeface="Noto Sans JP"/>
              </a:rPr>
              <a:t>約25%</a:t>
            </a:r>
          </a:p>
        </p:txBody>
      </p:sp>
      <p:sp>
        <p:nvSpPr>
          <p:cNvPr id="14" name="TextBox 13"/>
          <p:cNvSpPr txBox="1"/>
          <p:nvPr/>
        </p:nvSpPr>
        <p:spPr>
          <a:xfrm>
            <a:off x="3458718" y="2011680"/>
            <a:ext cx="5271516" cy="896112"/>
          </a:xfrm>
          <a:prstGeom prst="rect">
            <a:avLst/>
          </a:prstGeom>
          <a:noFill/>
        </p:spPr>
        <p:txBody>
          <a:bodyPr wrap="square" anchor="ctr" lIns="0" rIns="0" tIns="0" bIns="0">
            <a:spAutoFit/>
          </a:bodyPr>
          <a:lstStyle/>
          <a:p>
            <a:pPr algn="ctr">
              <a:lnSpc>
                <a:spcPct val="100000"/>
              </a:lnSpc>
              <a:spcBef>
                <a:spcPts val="0"/>
              </a:spcBef>
              <a:spcAft>
                <a:spcPts val="100"/>
              </a:spcAft>
            </a:pPr>
            <a:r>
              <a:rPr sz="1200" b="1">
                <a:solidFill>
                  <a:srgbClr val="FFFFFF"/>
                </a:solidFill>
                <a:latin typeface="Noto Sans JP"/>
                <a:ea typeface="Noto Sans JP"/>
              </a:rPr>
              <a:t>電気設備</a:t>
            </a:r>
          </a:p>
          <a:p>
            <a:pPr algn="ctr">
              <a:lnSpc>
                <a:spcPct val="100000"/>
              </a:lnSpc>
              <a:spcBef>
                <a:spcPts val="0"/>
              </a:spcBef>
              <a:spcAft>
                <a:spcPts val="100"/>
              </a:spcAft>
            </a:pPr>
            <a:r>
              <a:rPr sz="2200" b="1">
                <a:solidFill>
                  <a:srgbClr val="FFFFFF"/>
                </a:solidFill>
                <a:latin typeface="Noto Sans JP"/>
                <a:ea typeface="Noto Sans JP"/>
              </a:rPr>
              <a:t>約50%</a:t>
            </a:r>
          </a:p>
        </p:txBody>
      </p:sp>
      <p:sp>
        <p:nvSpPr>
          <p:cNvPr id="15" name="TextBox 14"/>
          <p:cNvSpPr txBox="1"/>
          <p:nvPr/>
        </p:nvSpPr>
        <p:spPr>
          <a:xfrm>
            <a:off x="8730234" y="2011680"/>
            <a:ext cx="2635758" cy="896112"/>
          </a:xfrm>
          <a:prstGeom prst="rect">
            <a:avLst/>
          </a:prstGeom>
          <a:noFill/>
        </p:spPr>
        <p:txBody>
          <a:bodyPr wrap="square" anchor="ctr" lIns="0" rIns="0" tIns="0" bIns="0">
            <a:spAutoFit/>
          </a:bodyPr>
          <a:lstStyle/>
          <a:p>
            <a:pPr algn="ctr">
              <a:lnSpc>
                <a:spcPct val="100000"/>
              </a:lnSpc>
              <a:spcBef>
                <a:spcPts val="0"/>
              </a:spcBef>
              <a:spcAft>
                <a:spcPts val="100"/>
              </a:spcAft>
            </a:pPr>
            <a:r>
              <a:rPr sz="1100" b="1">
                <a:solidFill>
                  <a:srgbClr val="FFFFFF"/>
                </a:solidFill>
                <a:latin typeface="Noto Sans JP"/>
                <a:ea typeface="Noto Sans JP"/>
              </a:rPr>
              <a:t>空調・機械</a:t>
            </a:r>
          </a:p>
          <a:p>
            <a:pPr algn="ctr">
              <a:lnSpc>
                <a:spcPct val="100000"/>
              </a:lnSpc>
              <a:spcBef>
                <a:spcPts val="0"/>
              </a:spcBef>
              <a:spcAft>
                <a:spcPts val="100"/>
              </a:spcAft>
            </a:pPr>
            <a:r>
              <a:rPr sz="1900" b="1">
                <a:solidFill>
                  <a:srgbClr val="FFFFFF"/>
                </a:solidFill>
                <a:latin typeface="Noto Sans JP"/>
                <a:ea typeface="Noto Sans JP"/>
              </a:rPr>
              <a:t>約25%</a:t>
            </a:r>
          </a:p>
        </p:txBody>
      </p:sp>
      <p:sp>
        <p:nvSpPr>
          <p:cNvPr id="16" name="TextBox 15"/>
          <p:cNvSpPr txBox="1"/>
          <p:nvPr/>
        </p:nvSpPr>
        <p:spPr>
          <a:xfrm>
            <a:off x="822960" y="1719072"/>
            <a:ext cx="2635758"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Consolas"/>
                <a:ea typeface="Consolas"/>
              </a:rPr>
              <a:t>建設（ゼネコン）</a:t>
            </a:r>
          </a:p>
        </p:txBody>
      </p:sp>
      <p:sp>
        <p:nvSpPr>
          <p:cNvPr id="17" name="TextBox 16"/>
          <p:cNvSpPr txBox="1"/>
          <p:nvPr/>
        </p:nvSpPr>
        <p:spPr>
          <a:xfrm>
            <a:off x="3458718" y="1719072"/>
            <a:ext cx="7907273" cy="237744"/>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Consolas"/>
                <a:ea typeface="Consolas"/>
              </a:rPr>
              <a:t>設備＝製造業（電気・機械）  約75%</a:t>
            </a:r>
          </a:p>
        </p:txBody>
      </p:sp>
      <p:sp>
        <p:nvSpPr>
          <p:cNvPr id="18" name="TextBox 17"/>
          <p:cNvSpPr txBox="1"/>
          <p:nvPr/>
        </p:nvSpPr>
        <p:spPr>
          <a:xfrm>
            <a:off x="822960" y="3154680"/>
            <a:ext cx="10543032" cy="256032"/>
          </a:xfrm>
          <a:prstGeom prst="rect">
            <a:avLst/>
          </a:prstGeom>
          <a:noFill/>
        </p:spPr>
        <p:txBody>
          <a:bodyPr wrap="square" anchor="t" lIns="0" rIns="0" tIns="0" bIns="0">
            <a:spAutoFit/>
          </a:bodyPr>
          <a:lstStyle/>
          <a:p>
            <a:pPr algn="l">
              <a:lnSpc>
                <a:spcPct val="110000"/>
              </a:lnSpc>
              <a:spcBef>
                <a:spcPts val="0"/>
              </a:spcBef>
              <a:spcAft>
                <a:spcPts val="400"/>
              </a:spcAft>
            </a:pPr>
            <a:r>
              <a:rPr sz="1250" b="1">
                <a:solidFill>
                  <a:srgbClr val="373C43"/>
                </a:solidFill>
                <a:latin typeface="Noto Sans JP"/>
                <a:ea typeface="Noto Sans JP"/>
              </a:rPr>
              <a:t>その「設備 約75%」を  </a:t>
            </a:r>
            <a:r>
              <a:rPr sz="1250" b="1">
                <a:solidFill>
                  <a:srgbClr val="6E767F"/>
                </a:solidFill>
                <a:latin typeface="Noto Sans JP"/>
                <a:ea typeface="Noto Sans JP"/>
              </a:rPr>
              <a:t>材（機器・材料）</a:t>
            </a:r>
            <a:r>
              <a:rPr sz="1250" b="0">
                <a:solidFill>
                  <a:srgbClr val="373C43"/>
                </a:solidFill>
                <a:latin typeface="Noto Sans JP"/>
                <a:ea typeface="Noto Sans JP"/>
              </a:rPr>
              <a:t>  と  </a:t>
            </a:r>
            <a:r>
              <a:rPr sz="1250" b="1">
                <a:solidFill>
                  <a:srgbClr val="E60012"/>
                </a:solidFill>
                <a:latin typeface="Noto Sans JP"/>
                <a:ea typeface="Noto Sans JP"/>
              </a:rPr>
              <a:t>工（据付・施工＝人が動く）</a:t>
            </a:r>
            <a:r>
              <a:rPr sz="1250" b="1">
                <a:solidFill>
                  <a:srgbClr val="373C43"/>
                </a:solidFill>
                <a:latin typeface="Noto Sans JP"/>
                <a:ea typeface="Noto Sans JP"/>
              </a:rPr>
              <a:t>  に分けると</a:t>
            </a:r>
          </a:p>
        </p:txBody>
      </p:sp>
      <p:sp>
        <p:nvSpPr>
          <p:cNvPr id="19" name="Rectangle 18"/>
          <p:cNvSpPr/>
          <p:nvPr/>
        </p:nvSpPr>
        <p:spPr>
          <a:xfrm>
            <a:off x="822960" y="3493008"/>
            <a:ext cx="6325819" cy="804672"/>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48779" y="3493008"/>
            <a:ext cx="4217212" cy="80467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7806" y="3493008"/>
            <a:ext cx="21945" cy="8046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493008"/>
            <a:ext cx="6325819" cy="804672"/>
          </a:xfrm>
          <a:prstGeom prst="rect">
            <a:avLst/>
          </a:prstGeom>
          <a:noFill/>
        </p:spPr>
        <p:txBody>
          <a:bodyPr wrap="square" anchor="ctr" lIns="0" rIns="0" tIns="0" bIns="0">
            <a:spAutoFit/>
          </a:bodyPr>
          <a:lstStyle/>
          <a:p>
            <a:pPr algn="ctr">
              <a:lnSpc>
                <a:spcPct val="110000"/>
              </a:lnSpc>
              <a:spcBef>
                <a:spcPts val="0"/>
              </a:spcBef>
              <a:spcAft>
                <a:spcPts val="400"/>
              </a:spcAft>
            </a:pPr>
            <a:r>
              <a:rPr sz="1250" b="1">
                <a:solidFill>
                  <a:srgbClr val="15181C"/>
                </a:solidFill>
                <a:latin typeface="Noto Sans JP"/>
                <a:ea typeface="Noto Sans JP"/>
              </a:rPr>
              <a:t>材：機器・材料（変圧器・冷凍機・UPS 等）  約6割</a:t>
            </a:r>
          </a:p>
        </p:txBody>
      </p:sp>
      <p:sp>
        <p:nvSpPr>
          <p:cNvPr id="23" name="TextBox 22"/>
          <p:cNvSpPr txBox="1"/>
          <p:nvPr/>
        </p:nvSpPr>
        <p:spPr>
          <a:xfrm>
            <a:off x="7148779" y="3493008"/>
            <a:ext cx="4217212" cy="804672"/>
          </a:xfrm>
          <a:prstGeom prst="rect">
            <a:avLst/>
          </a:prstGeom>
          <a:noFill/>
        </p:spPr>
        <p:txBody>
          <a:bodyPr wrap="square" anchor="ctr" lIns="0" rIns="0" tIns="0" bIns="0">
            <a:spAutoFit/>
          </a:bodyPr>
          <a:lstStyle/>
          <a:p>
            <a:pPr algn="ctr">
              <a:lnSpc>
                <a:spcPct val="110000"/>
              </a:lnSpc>
              <a:spcBef>
                <a:spcPts val="0"/>
              </a:spcBef>
              <a:spcAft>
                <a:spcPts val="400"/>
              </a:spcAft>
            </a:pPr>
            <a:r>
              <a:rPr sz="1250" b="1">
                <a:solidFill>
                  <a:srgbClr val="FFFFFF"/>
                </a:solidFill>
                <a:latin typeface="Noto Sans JP"/>
                <a:ea typeface="Noto Sans JP"/>
              </a:rPr>
              <a:t>工：据付・施工  約4割</a:t>
            </a:r>
          </a:p>
        </p:txBody>
      </p:sp>
      <p:sp>
        <p:nvSpPr>
          <p:cNvPr id="24" name="TextBox 23"/>
          <p:cNvSpPr txBox="1"/>
          <p:nvPr/>
        </p:nvSpPr>
        <p:spPr>
          <a:xfrm>
            <a:off x="7148779" y="4352544"/>
            <a:ext cx="4217212" cy="219456"/>
          </a:xfrm>
          <a:prstGeom prst="rect">
            <a:avLst/>
          </a:prstGeom>
          <a:noFill/>
        </p:spPr>
        <p:txBody>
          <a:bodyPr wrap="square" anchor="t" lIns="0" rIns="0" tIns="0" bIns="0">
            <a:spAutoFit/>
          </a:bodyPr>
          <a:lstStyle/>
          <a:p>
            <a:pPr algn="ctr">
              <a:lnSpc>
                <a:spcPct val="110000"/>
              </a:lnSpc>
              <a:spcBef>
                <a:spcPts val="0"/>
              </a:spcBef>
              <a:spcAft>
                <a:spcPts val="400"/>
              </a:spcAft>
            </a:pPr>
            <a:r>
              <a:rPr sz="1000" b="1">
                <a:solidFill>
                  <a:srgbClr val="E60012"/>
                </a:solidFill>
                <a:latin typeface="Consolas"/>
                <a:ea typeface="Consolas"/>
              </a:rPr>
              <a:t>↑ ここがANDPADの市場（工）</a:t>
            </a:r>
          </a:p>
        </p:txBody>
      </p:sp>
      <p:sp>
        <p:nvSpPr>
          <p:cNvPr id="25" name="TextBox 24"/>
          <p:cNvSpPr txBox="1"/>
          <p:nvPr/>
        </p:nvSpPr>
        <p:spPr>
          <a:xfrm>
            <a:off x="822960" y="4828032"/>
            <a:ext cx="3148584" cy="274320"/>
          </a:xfrm>
          <a:prstGeom prst="rect">
            <a:avLst/>
          </a:prstGeom>
          <a:noFill/>
        </p:spPr>
        <p:txBody>
          <a:bodyPr wrap="square" anchor="t" lIns="0" rIns="0" tIns="0" bIns="0">
            <a:spAutoFit/>
          </a:bodyPr>
          <a:lstStyle/>
          <a:p>
            <a:pPr algn="l">
              <a:lnSpc>
                <a:spcPct val="110000"/>
              </a:lnSpc>
              <a:spcBef>
                <a:spcPts val="0"/>
              </a:spcBef>
              <a:spcAft>
                <a:spcPts val="400"/>
              </a:spcAft>
            </a:pPr>
            <a:r>
              <a:rPr sz="1350" b="1">
                <a:solidFill>
                  <a:srgbClr val="15181C"/>
                </a:solidFill>
                <a:latin typeface="Noto Sans JP"/>
                <a:ea typeface="Noto Sans JP"/>
              </a:rPr>
              <a:t>据付・施工</a:t>
            </a:r>
            <a:r>
              <a:rPr sz="1200" b="1">
                <a:solidFill>
                  <a:srgbClr val="E60012"/>
                </a:solidFill>
                <a:latin typeface="Noto Sans JP"/>
                <a:ea typeface="Noto Sans JP"/>
              </a:rPr>
              <a:t>  建設費の約3割</a:t>
            </a:r>
          </a:p>
        </p:txBody>
      </p:sp>
      <p:sp>
        <p:nvSpPr>
          <p:cNvPr id="26" name="TextBox 25"/>
          <p:cNvSpPr txBox="1"/>
          <p:nvPr/>
        </p:nvSpPr>
        <p:spPr>
          <a:xfrm>
            <a:off x="822960" y="5157216"/>
            <a:ext cx="3148584" cy="292608"/>
          </a:xfrm>
          <a:prstGeom prst="rect">
            <a:avLst/>
          </a:prstGeom>
          <a:noFill/>
        </p:spPr>
        <p:txBody>
          <a:bodyPr wrap="square" anchor="t" lIns="0" rIns="0" tIns="0" bIns="0">
            <a:spAutoFit/>
          </a:bodyPr>
          <a:lstStyle/>
          <a:p>
            <a:pPr algn="l">
              <a:lnSpc>
                <a:spcPct val="114000"/>
              </a:lnSpc>
              <a:spcBef>
                <a:spcPts val="0"/>
              </a:spcBef>
              <a:spcAft>
                <a:spcPts val="400"/>
              </a:spcAft>
            </a:pPr>
            <a:r>
              <a:rPr sz="1050" b="1">
                <a:solidFill>
                  <a:srgbClr val="6E767F"/>
                </a:solidFill>
                <a:latin typeface="Noto Sans JP"/>
                <a:ea typeface="Noto Sans JP"/>
              </a:rPr>
              <a:t>国内の設備工事そのもの＝中核市場</a:t>
            </a:r>
          </a:p>
        </p:txBody>
      </p:sp>
      <p:sp>
        <p:nvSpPr>
          <p:cNvPr id="27" name="Rectangle 26"/>
          <p:cNvSpPr/>
          <p:nvPr/>
        </p:nvSpPr>
        <p:spPr>
          <a:xfrm>
            <a:off x="4154423" y="4828032"/>
            <a:ext cx="15240" cy="6400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37304" y="4828032"/>
            <a:ext cx="3148584" cy="274320"/>
          </a:xfrm>
          <a:prstGeom prst="rect">
            <a:avLst/>
          </a:prstGeom>
          <a:noFill/>
        </p:spPr>
        <p:txBody>
          <a:bodyPr wrap="square" anchor="t" lIns="0" rIns="0" tIns="0" bIns="0">
            <a:spAutoFit/>
          </a:bodyPr>
          <a:lstStyle/>
          <a:p>
            <a:pPr algn="l">
              <a:lnSpc>
                <a:spcPct val="110000"/>
              </a:lnSpc>
              <a:spcBef>
                <a:spcPts val="0"/>
              </a:spcBef>
              <a:spcAft>
                <a:spcPts val="400"/>
              </a:spcAft>
            </a:pPr>
            <a:r>
              <a:rPr sz="1350" b="1">
                <a:solidFill>
                  <a:srgbClr val="15181C"/>
                </a:solidFill>
                <a:latin typeface="Noto Sans JP"/>
                <a:ea typeface="Noto Sans JP"/>
              </a:rPr>
              <a:t>試運転</a:t>
            </a:r>
            <a:r>
              <a:rPr sz="1200" b="1">
                <a:solidFill>
                  <a:srgbClr val="E60012"/>
                </a:solidFill>
                <a:latin typeface="Noto Sans JP"/>
                <a:ea typeface="Noto Sans JP"/>
              </a:rPr>
              <a:t>  建設費の1〜3%</a:t>
            </a:r>
          </a:p>
        </p:txBody>
      </p:sp>
      <p:sp>
        <p:nvSpPr>
          <p:cNvPr id="29" name="TextBox 28"/>
          <p:cNvSpPr txBox="1"/>
          <p:nvPr/>
        </p:nvSpPr>
        <p:spPr>
          <a:xfrm>
            <a:off x="4337304" y="5157216"/>
            <a:ext cx="3148584" cy="292608"/>
          </a:xfrm>
          <a:prstGeom prst="rect">
            <a:avLst/>
          </a:prstGeom>
          <a:noFill/>
        </p:spPr>
        <p:txBody>
          <a:bodyPr wrap="square" anchor="t" lIns="0" rIns="0" tIns="0" bIns="0">
            <a:spAutoFit/>
          </a:bodyPr>
          <a:lstStyle/>
          <a:p>
            <a:pPr algn="l">
              <a:lnSpc>
                <a:spcPct val="114000"/>
              </a:lnSpc>
              <a:spcBef>
                <a:spcPts val="0"/>
              </a:spcBef>
              <a:spcAft>
                <a:spcPts val="400"/>
              </a:spcAft>
            </a:pPr>
            <a:r>
              <a:rPr sz="1050" b="1">
                <a:solidFill>
                  <a:srgbClr val="6E767F"/>
                </a:solidFill>
                <a:latin typeface="Noto Sans JP"/>
                <a:ea typeface="Noto Sans JP"/>
              </a:rPr>
              <a:t>世界の試運転市場 $2.1B → $4.3B</a:t>
            </a:r>
          </a:p>
        </p:txBody>
      </p:sp>
      <p:sp>
        <p:nvSpPr>
          <p:cNvPr id="30" name="Rectangle 29"/>
          <p:cNvSpPr/>
          <p:nvPr/>
        </p:nvSpPr>
        <p:spPr>
          <a:xfrm>
            <a:off x="7668768" y="4828032"/>
            <a:ext cx="15240" cy="6400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51647" y="4828032"/>
            <a:ext cx="3148584" cy="274320"/>
          </a:xfrm>
          <a:prstGeom prst="rect">
            <a:avLst/>
          </a:prstGeom>
          <a:noFill/>
        </p:spPr>
        <p:txBody>
          <a:bodyPr wrap="square" anchor="t" lIns="0" rIns="0" tIns="0" bIns="0">
            <a:spAutoFit/>
          </a:bodyPr>
          <a:lstStyle/>
          <a:p>
            <a:pPr algn="l">
              <a:lnSpc>
                <a:spcPct val="110000"/>
              </a:lnSpc>
              <a:spcBef>
                <a:spcPts val="0"/>
              </a:spcBef>
              <a:spcAft>
                <a:spcPts val="400"/>
              </a:spcAft>
            </a:pPr>
            <a:r>
              <a:rPr sz="1350" b="1">
                <a:solidFill>
                  <a:srgbClr val="15181C"/>
                </a:solidFill>
                <a:latin typeface="Noto Sans JP"/>
                <a:ea typeface="Noto Sans JP"/>
              </a:rPr>
              <a:t>保守・運用</a:t>
            </a:r>
            <a:r>
              <a:rPr sz="1200" b="1">
                <a:solidFill>
                  <a:srgbClr val="E60012"/>
                </a:solidFill>
                <a:latin typeface="Noto Sans JP"/>
                <a:ea typeface="Noto Sans JP"/>
              </a:rPr>
              <a:t>  毎年・運用費の約4割</a:t>
            </a:r>
          </a:p>
        </p:txBody>
      </p:sp>
      <p:sp>
        <p:nvSpPr>
          <p:cNvPr id="32" name="TextBox 31"/>
          <p:cNvSpPr txBox="1"/>
          <p:nvPr/>
        </p:nvSpPr>
        <p:spPr>
          <a:xfrm>
            <a:off x="7851647" y="5157216"/>
            <a:ext cx="3148584" cy="292608"/>
          </a:xfrm>
          <a:prstGeom prst="rect">
            <a:avLst/>
          </a:prstGeom>
          <a:noFill/>
        </p:spPr>
        <p:txBody>
          <a:bodyPr wrap="square" anchor="t" lIns="0" rIns="0" tIns="0" bIns="0">
            <a:spAutoFit/>
          </a:bodyPr>
          <a:lstStyle/>
          <a:p>
            <a:pPr algn="l">
              <a:lnSpc>
                <a:spcPct val="114000"/>
              </a:lnSpc>
              <a:spcBef>
                <a:spcPts val="0"/>
              </a:spcBef>
              <a:spcAft>
                <a:spcPts val="400"/>
              </a:spcAft>
            </a:pPr>
            <a:r>
              <a:rPr sz="1050" b="1">
                <a:solidFill>
                  <a:srgbClr val="6E767F"/>
                </a:solidFill>
                <a:latin typeface="Noto Sans JP"/>
                <a:ea typeface="Noto Sans JP"/>
              </a:rPr>
              <a:t>世界のDC運用保守 $15.8B → $45.6B</a:t>
            </a:r>
          </a:p>
        </p:txBody>
      </p:sp>
      <p:sp>
        <p:nvSpPr>
          <p:cNvPr id="33" name="Rectangle 32"/>
          <p:cNvSpPr/>
          <p:nvPr/>
        </p:nvSpPr>
        <p:spPr>
          <a:xfrm>
            <a:off x="822960" y="5824728"/>
            <a:ext cx="82296" cy="42062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5779008"/>
            <a:ext cx="10268711" cy="512064"/>
          </a:xfrm>
          <a:prstGeom prst="rect">
            <a:avLst/>
          </a:prstGeom>
          <a:noFill/>
        </p:spPr>
        <p:txBody>
          <a:bodyPr wrap="square" anchor="ctr" lIns="0" rIns="0" tIns="0" bIns="0">
            <a:spAutoFit/>
          </a:bodyPr>
          <a:lstStyle/>
          <a:p>
            <a:pPr algn="l">
              <a:lnSpc>
                <a:spcPct val="116000"/>
              </a:lnSpc>
              <a:spcBef>
                <a:spcPts val="0"/>
              </a:spcBef>
              <a:spcAft>
                <a:spcPts val="400"/>
              </a:spcAft>
            </a:pPr>
            <a:r>
              <a:rPr sz="1600" b="1">
                <a:solidFill>
                  <a:srgbClr val="15181C"/>
                </a:solidFill>
                <a:latin typeface="Noto Sans JP"/>
                <a:ea typeface="Noto Sans JP"/>
              </a:rPr>
              <a:t>建設業だけを見てきた。その周辺の“工”（据付・試運転・保守）に、</a:t>
            </a:r>
            <a:r>
              <a:rPr sz="1600" b="1">
                <a:solidFill>
                  <a:srgbClr val="E60012"/>
                </a:solidFill>
                <a:latin typeface="Noto Sans JP"/>
                <a:ea typeface="Noto Sans JP"/>
              </a:rPr>
              <a:t>広大な市場</a:t>
            </a:r>
            <a:r>
              <a:rPr sz="1600" b="1">
                <a:solidFill>
                  <a:srgbClr val="15181C"/>
                </a:solidFill>
                <a:latin typeface="Noto Sans JP"/>
                <a:ea typeface="Noto Sans JP"/>
              </a:rPr>
              <a:t>がある。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バリューチェーン別・国内主要プレーヤーと伸び</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05</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国内のAI投資は、製造業のこの現場に着地している。</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01</a:t>
            </a:r>
          </a:p>
        </p:txBody>
      </p:sp>
      <p:sp>
        <p:nvSpPr>
          <p:cNvPr id="9" name="TextBox 8"/>
          <p:cNvSpPr txBox="1"/>
          <p:nvPr/>
        </p:nvSpPr>
        <p:spPr>
          <a:xfrm>
            <a:off x="822960"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発電・電源</a:t>
            </a:r>
          </a:p>
        </p:txBody>
      </p:sp>
      <p:sp>
        <p:nvSpPr>
          <p:cNvPr id="10" name="TextBox 9"/>
          <p:cNvSpPr txBox="1"/>
          <p:nvPr/>
        </p:nvSpPr>
        <p:spPr>
          <a:xfrm>
            <a:off x="822960"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電気をつくる</a:t>
            </a:r>
          </a:p>
        </p:txBody>
      </p:sp>
      <p:sp>
        <p:nvSpPr>
          <p:cNvPr id="11" name="TextBox 10"/>
          <p:cNvSpPr txBox="1"/>
          <p:nvPr/>
        </p:nvSpPr>
        <p:spPr>
          <a:xfrm>
            <a:off x="822960"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受注残 5兆円超</a:t>
            </a:r>
          </a:p>
        </p:txBody>
      </p:sp>
      <p:sp>
        <p:nvSpPr>
          <p:cNvPr id="12" name="TextBox 11"/>
          <p:cNvSpPr txBox="1"/>
          <p:nvPr/>
        </p:nvSpPr>
        <p:spPr>
          <a:xfrm>
            <a:off x="822960"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三菱重工</a:t>
            </a:r>
          </a:p>
        </p:txBody>
      </p:sp>
      <p:sp>
        <p:nvSpPr>
          <p:cNvPr id="13" name="Rectangle 12"/>
          <p:cNvSpPr/>
          <p:nvPr/>
        </p:nvSpPr>
        <p:spPr>
          <a:xfrm>
            <a:off x="2821838" y="1828800"/>
            <a:ext cx="15240" cy="27432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1566"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02</a:t>
            </a:r>
          </a:p>
        </p:txBody>
      </p:sp>
      <p:sp>
        <p:nvSpPr>
          <p:cNvPr id="15" name="TextBox 14"/>
          <p:cNvSpPr txBox="1"/>
          <p:nvPr/>
        </p:nvSpPr>
        <p:spPr>
          <a:xfrm>
            <a:off x="2931566"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送変電・電線</a:t>
            </a:r>
          </a:p>
        </p:txBody>
      </p:sp>
      <p:sp>
        <p:nvSpPr>
          <p:cNvPr id="16" name="TextBox 15"/>
          <p:cNvSpPr txBox="1"/>
          <p:nvPr/>
        </p:nvSpPr>
        <p:spPr>
          <a:xfrm>
            <a:off x="2931566"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電気を送る・変える</a:t>
            </a:r>
          </a:p>
        </p:txBody>
      </p:sp>
      <p:sp>
        <p:nvSpPr>
          <p:cNvPr id="17" name="TextBox 16"/>
          <p:cNvSpPr txBox="1"/>
          <p:nvPr/>
        </p:nvSpPr>
        <p:spPr>
          <a:xfrm>
            <a:off x="2931566"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変圧器 生産能力2倍</a:t>
            </a:r>
          </a:p>
        </p:txBody>
      </p:sp>
      <p:sp>
        <p:nvSpPr>
          <p:cNvPr id="18" name="TextBox 17"/>
          <p:cNvSpPr txBox="1"/>
          <p:nvPr/>
        </p:nvSpPr>
        <p:spPr>
          <a:xfrm>
            <a:off x="2931566"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日立・ダイヘン・フジクラ</a:t>
            </a:r>
          </a:p>
        </p:txBody>
      </p:sp>
      <p:sp>
        <p:nvSpPr>
          <p:cNvPr id="19" name="Rectangle 18"/>
          <p:cNvSpPr/>
          <p:nvPr/>
        </p:nvSpPr>
        <p:spPr>
          <a:xfrm>
            <a:off x="4930444" y="1828800"/>
            <a:ext cx="15240" cy="27432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0172"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03</a:t>
            </a:r>
          </a:p>
        </p:txBody>
      </p:sp>
      <p:sp>
        <p:nvSpPr>
          <p:cNvPr id="21" name="TextBox 20"/>
          <p:cNvSpPr txBox="1"/>
          <p:nvPr/>
        </p:nvSpPr>
        <p:spPr>
          <a:xfrm>
            <a:off x="5040172"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DC建設・設備工事</a:t>
            </a:r>
          </a:p>
        </p:txBody>
      </p:sp>
      <p:sp>
        <p:nvSpPr>
          <p:cNvPr id="22" name="TextBox 21"/>
          <p:cNvSpPr txBox="1"/>
          <p:nvPr/>
        </p:nvSpPr>
        <p:spPr>
          <a:xfrm>
            <a:off x="5040172"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箱を建てる</a:t>
            </a:r>
          </a:p>
        </p:txBody>
      </p:sp>
      <p:sp>
        <p:nvSpPr>
          <p:cNvPr id="23" name="TextBox 22"/>
          <p:cNvSpPr txBox="1"/>
          <p:nvPr/>
        </p:nvSpPr>
        <p:spPr>
          <a:xfrm>
            <a:off x="5040172"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空調工事 受注 +25.5%</a:t>
            </a:r>
          </a:p>
        </p:txBody>
      </p:sp>
      <p:sp>
        <p:nvSpPr>
          <p:cNvPr id="24" name="TextBox 23"/>
          <p:cNvSpPr txBox="1"/>
          <p:nvPr/>
        </p:nvSpPr>
        <p:spPr>
          <a:xfrm>
            <a:off x="5040172"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ダイダン・高砂熱学</a:t>
            </a:r>
          </a:p>
        </p:txBody>
      </p:sp>
      <p:sp>
        <p:nvSpPr>
          <p:cNvPr id="25" name="Rectangle 24"/>
          <p:cNvSpPr/>
          <p:nvPr/>
        </p:nvSpPr>
        <p:spPr>
          <a:xfrm>
            <a:off x="7039051" y="1828800"/>
            <a:ext cx="15240" cy="27432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48779"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04</a:t>
            </a:r>
          </a:p>
        </p:txBody>
      </p:sp>
      <p:sp>
        <p:nvSpPr>
          <p:cNvPr id="27" name="TextBox 26"/>
          <p:cNvSpPr txBox="1"/>
          <p:nvPr/>
        </p:nvSpPr>
        <p:spPr>
          <a:xfrm>
            <a:off x="7148779"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冷却・電源保護</a:t>
            </a:r>
          </a:p>
        </p:txBody>
      </p:sp>
      <p:sp>
        <p:nvSpPr>
          <p:cNvPr id="28" name="TextBox 27"/>
          <p:cNvSpPr txBox="1"/>
          <p:nvPr/>
        </p:nvSpPr>
        <p:spPr>
          <a:xfrm>
            <a:off x="7148779"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冷やす・止めない</a:t>
            </a:r>
          </a:p>
        </p:txBody>
      </p:sp>
      <p:sp>
        <p:nvSpPr>
          <p:cNvPr id="29" name="TextBox 28"/>
          <p:cNvSpPr txBox="1"/>
          <p:nvPr/>
        </p:nvSpPr>
        <p:spPr>
          <a:xfrm>
            <a:off x="7148779"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北米DC冷却 約13倍</a:t>
            </a:r>
          </a:p>
        </p:txBody>
      </p:sp>
      <p:sp>
        <p:nvSpPr>
          <p:cNvPr id="30" name="TextBox 29"/>
          <p:cNvSpPr txBox="1"/>
          <p:nvPr/>
        </p:nvSpPr>
        <p:spPr>
          <a:xfrm>
            <a:off x="7148779"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ダイキン・GSユアサ</a:t>
            </a:r>
          </a:p>
        </p:txBody>
      </p:sp>
      <p:sp>
        <p:nvSpPr>
          <p:cNvPr id="31" name="Rectangle 30"/>
          <p:cNvSpPr/>
          <p:nvPr/>
        </p:nvSpPr>
        <p:spPr>
          <a:xfrm>
            <a:off x="9147657" y="1828800"/>
            <a:ext cx="15240" cy="27432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7385"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05</a:t>
            </a:r>
          </a:p>
        </p:txBody>
      </p:sp>
      <p:sp>
        <p:nvSpPr>
          <p:cNvPr id="33" name="TextBox 32"/>
          <p:cNvSpPr txBox="1"/>
          <p:nvPr/>
        </p:nvSpPr>
        <p:spPr>
          <a:xfrm>
            <a:off x="9257385"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半導体</a:t>
            </a:r>
          </a:p>
        </p:txBody>
      </p:sp>
      <p:sp>
        <p:nvSpPr>
          <p:cNvPr id="34" name="TextBox 33"/>
          <p:cNvSpPr txBox="1"/>
          <p:nvPr/>
        </p:nvSpPr>
        <p:spPr>
          <a:xfrm>
            <a:off x="9257385"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計算する頭脳</a:t>
            </a:r>
          </a:p>
        </p:txBody>
      </p:sp>
      <p:sp>
        <p:nvSpPr>
          <p:cNvPr id="35" name="TextBox 34"/>
          <p:cNvSpPr txBox="1"/>
          <p:nvPr/>
        </p:nvSpPr>
        <p:spPr>
          <a:xfrm>
            <a:off x="9257385"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設備投資 +66%</a:t>
            </a:r>
          </a:p>
        </p:txBody>
      </p:sp>
      <p:sp>
        <p:nvSpPr>
          <p:cNvPr id="36" name="TextBox 35"/>
          <p:cNvSpPr txBox="1"/>
          <p:nvPr/>
        </p:nvSpPr>
        <p:spPr>
          <a:xfrm>
            <a:off x="9257385"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キオクシア・東京ｴﾚｸﾄﾛﾝ</a:t>
            </a:r>
          </a:p>
        </p:txBody>
      </p:sp>
      <p:sp>
        <p:nvSpPr>
          <p:cNvPr id="37" name="Rectangle 36"/>
          <p:cNvSpPr/>
          <p:nvPr/>
        </p:nvSpPr>
        <p:spPr>
          <a:xfrm>
            <a:off x="822960" y="4754880"/>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956048"/>
            <a:ext cx="10607040" cy="457200"/>
          </a:xfrm>
          <a:prstGeom prst="rect">
            <a:avLst/>
          </a:prstGeom>
          <a:noFill/>
        </p:spPr>
        <p:txBody>
          <a:bodyPr wrap="square" anchor="t" lIns="0" rIns="0" tIns="0" bIns="0">
            <a:spAutoFit/>
          </a:bodyPr>
          <a:lstStyle/>
          <a:p>
            <a:pPr algn="l">
              <a:lnSpc>
                <a:spcPct val="110000"/>
              </a:lnSpc>
              <a:spcBef>
                <a:spcPts val="0"/>
              </a:spcBef>
              <a:spcAft>
                <a:spcPts val="400"/>
              </a:spcAft>
            </a:pPr>
            <a:r>
              <a:rPr sz="1200" b="1">
                <a:solidFill>
                  <a:srgbClr val="6E767F"/>
                </a:solidFill>
                <a:latin typeface="Consolas"/>
                <a:ea typeface="Consolas"/>
              </a:rPr>
              <a:t>我々の入り方：</a:t>
            </a:r>
            <a:r>
              <a:rPr sz="1300" b="1">
                <a:solidFill>
                  <a:srgbClr val="373C43"/>
                </a:solidFill>
                <a:latin typeface="Noto Sans JP"/>
                <a:ea typeface="Noto Sans JP"/>
              </a:rPr>
              <a:t>  A 発注者＝“建てる側”で管理</a:t>
            </a:r>
            <a:r>
              <a:rPr sz="1200" b="0">
                <a:solidFill>
                  <a:srgbClr val="9AA1A9"/>
                </a:solidFill>
                <a:latin typeface="Noto Sans JP"/>
                <a:ea typeface="Noto Sans JP"/>
              </a:rPr>
              <a:t>   /   </a:t>
            </a:r>
            <a:r>
              <a:rPr sz="1300" b="1">
                <a:solidFill>
                  <a:srgbClr val="E60012"/>
                </a:solidFill>
                <a:latin typeface="Noto Sans JP"/>
                <a:ea typeface="Noto Sans JP"/>
              </a:rPr>
              <a:t>B 請負＝据付・試運転・保守を“納める側”で管理（本命）</a:t>
            </a:r>
          </a:p>
        </p:txBody>
      </p:sp>
      <p:sp>
        <p:nvSpPr>
          <p:cNvPr id="39" name="Rectangle 38"/>
          <p:cNvSpPr/>
          <p:nvPr/>
        </p:nvSpPr>
        <p:spPr>
          <a:xfrm>
            <a:off x="822960" y="5669280"/>
            <a:ext cx="82296" cy="4572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78992" y="5623560"/>
            <a:ext cx="10268711" cy="548640"/>
          </a:xfrm>
          <a:prstGeom prst="rect">
            <a:avLst/>
          </a:prstGeom>
          <a:noFill/>
        </p:spPr>
        <p:txBody>
          <a:bodyPr wrap="square" anchor="ctr" lIns="0" rIns="0" tIns="0" bIns="0">
            <a:spAutoFit/>
          </a:bodyPr>
          <a:lstStyle/>
          <a:p>
            <a:pPr algn="l">
              <a:lnSpc>
                <a:spcPct val="116000"/>
              </a:lnSpc>
              <a:spcBef>
                <a:spcPts val="0"/>
              </a:spcBef>
              <a:spcAft>
                <a:spcPts val="400"/>
              </a:spcAft>
            </a:pPr>
            <a:r>
              <a:rPr sz="1700" b="1">
                <a:solidFill>
                  <a:srgbClr val="15181C"/>
                </a:solidFill>
                <a:latin typeface="Noto Sans JP"/>
                <a:ea typeface="Noto Sans JP"/>
              </a:rPr>
              <a:t>川上から川下まで、全段が同時に増収増益。</a:t>
            </a:r>
            <a:r>
              <a:rPr sz="1700" b="1">
                <a:solidFill>
                  <a:srgbClr val="E60012"/>
                </a:solidFill>
                <a:latin typeface="Noto Sans JP"/>
                <a:ea typeface="Noto Sans JP"/>
              </a:rPr>
              <a:t>狙える現場が、日本中に生まれている。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097280"/>
            <a:ext cx="137160" cy="13716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0704" y="1024128"/>
            <a:ext cx="9601200" cy="274320"/>
          </a:xfrm>
          <a:prstGeom prst="rect">
            <a:avLst/>
          </a:prstGeom>
          <a:noFill/>
        </p:spPr>
        <p:txBody>
          <a:bodyPr wrap="square" anchor="t" lIns="0" rIns="0" tIns="0" bIns="0">
            <a:spAutoFit/>
          </a:bodyPr>
          <a:lstStyle/>
          <a:p>
            <a:pPr algn="l">
              <a:lnSpc>
                <a:spcPct val="110000"/>
              </a:lnSpc>
              <a:spcBef>
                <a:spcPts val="0"/>
              </a:spcBef>
              <a:spcAft>
                <a:spcPts val="400"/>
              </a:spcAft>
            </a:pPr>
            <a:r>
              <a:rPr sz="1300" b="1" spc="200">
                <a:solidFill>
                  <a:srgbClr val="E60012"/>
                </a:solidFill>
                <a:latin typeface="Consolas"/>
                <a:ea typeface="Consolas"/>
              </a:rPr>
              <a:t>SO, LET'S GO</a:t>
            </a:r>
          </a:p>
        </p:txBody>
      </p:sp>
      <p:sp>
        <p:nvSpPr>
          <p:cNvPr id="5" name="TextBox 4"/>
          <p:cNvSpPr txBox="1"/>
          <p:nvPr/>
        </p:nvSpPr>
        <p:spPr>
          <a:xfrm>
            <a:off x="786384" y="1627632"/>
            <a:ext cx="10789920" cy="1097280"/>
          </a:xfrm>
          <a:prstGeom prst="rect">
            <a:avLst/>
          </a:prstGeom>
          <a:noFill/>
        </p:spPr>
        <p:txBody>
          <a:bodyPr wrap="square" anchor="t" lIns="0" rIns="0" tIns="0" bIns="0">
            <a:spAutoFit/>
          </a:bodyPr>
          <a:lstStyle/>
          <a:p>
            <a:pPr algn="l">
              <a:lnSpc>
                <a:spcPct val="110000"/>
              </a:lnSpc>
              <a:spcBef>
                <a:spcPts val="0"/>
              </a:spcBef>
              <a:spcAft>
                <a:spcPts val="400"/>
              </a:spcAft>
            </a:pPr>
            <a:r>
              <a:rPr sz="4400" b="1">
                <a:solidFill>
                  <a:srgbClr val="15181C"/>
                </a:solidFill>
                <a:latin typeface="Noto Sans JP"/>
                <a:ea typeface="Noto Sans JP"/>
              </a:rPr>
              <a:t>次の主戦場は、</a:t>
            </a:r>
            <a:r>
              <a:rPr sz="4400" b="1">
                <a:solidFill>
                  <a:srgbClr val="E60012"/>
                </a:solidFill>
                <a:latin typeface="Noto Sans JP"/>
                <a:ea typeface="Noto Sans JP"/>
              </a:rPr>
              <a:t>製造業</a:t>
            </a:r>
            <a:r>
              <a:rPr sz="4400" b="1">
                <a:solidFill>
                  <a:srgbClr val="15181C"/>
                </a:solidFill>
                <a:latin typeface="Noto Sans JP"/>
                <a:ea typeface="Noto Sans JP"/>
              </a:rPr>
              <a:t>だ。</a:t>
            </a:r>
          </a:p>
        </p:txBody>
      </p:sp>
      <p:sp>
        <p:nvSpPr>
          <p:cNvPr id="6" name="Rectangle 5"/>
          <p:cNvSpPr/>
          <p:nvPr/>
        </p:nvSpPr>
        <p:spPr>
          <a:xfrm>
            <a:off x="822960" y="3063240"/>
            <a:ext cx="2926080"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520440"/>
            <a:ext cx="548640" cy="59436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E60012"/>
                </a:solidFill>
                <a:latin typeface="Consolas"/>
                <a:ea typeface="Consolas"/>
              </a:rPr>
              <a:t>01</a:t>
            </a:r>
          </a:p>
        </p:txBody>
      </p:sp>
      <p:sp>
        <p:nvSpPr>
          <p:cNvPr id="8" name="TextBox 7"/>
          <p:cNvSpPr txBox="1"/>
          <p:nvPr/>
        </p:nvSpPr>
        <p:spPr>
          <a:xfrm>
            <a:off x="1508760" y="3575304"/>
            <a:ext cx="4114800" cy="54864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15181C"/>
                </a:solidFill>
                <a:latin typeface="Noto Sans JP"/>
                <a:ea typeface="Noto Sans JP"/>
              </a:rPr>
              <a:t>市場は建設の3倍広い</a:t>
            </a:r>
          </a:p>
        </p:txBody>
      </p:sp>
      <p:sp>
        <p:nvSpPr>
          <p:cNvPr id="9" name="TextBox 8"/>
          <p:cNvSpPr txBox="1"/>
          <p:nvPr/>
        </p:nvSpPr>
        <p:spPr>
          <a:xfrm>
            <a:off x="5760720" y="3575304"/>
            <a:ext cx="5669280" cy="566928"/>
          </a:xfrm>
          <a:prstGeom prst="rect">
            <a:avLst/>
          </a:prstGeom>
          <a:noFill/>
        </p:spPr>
        <p:txBody>
          <a:bodyPr wrap="square" anchor="ctr" lIns="0" rIns="0" tIns="0" bIns="0">
            <a:spAutoFit/>
          </a:bodyPr>
          <a:lstStyle/>
          <a:p>
            <a:pPr algn="l">
              <a:lnSpc>
                <a:spcPct val="116000"/>
              </a:lnSpc>
              <a:spcBef>
                <a:spcPts val="0"/>
              </a:spcBef>
              <a:spcAft>
                <a:spcPts val="400"/>
              </a:spcAft>
            </a:pPr>
            <a:r>
              <a:rPr sz="1150" b="0">
                <a:solidFill>
                  <a:srgbClr val="373C43"/>
                </a:solidFill>
                <a:latin typeface="Noto Sans JP"/>
                <a:ea typeface="Noto Sans JP"/>
              </a:rPr>
              <a:t>DC建設費の約3/4は電気・機械設備＝製造業。据付・試運転・保守まで現場が続く。</a:t>
            </a:r>
          </a:p>
        </p:txBody>
      </p:sp>
      <p:sp>
        <p:nvSpPr>
          <p:cNvPr id="10" name="Rectangle 9"/>
          <p:cNvSpPr/>
          <p:nvPr/>
        </p:nvSpPr>
        <p:spPr>
          <a:xfrm>
            <a:off x="822960" y="4288536"/>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361688"/>
            <a:ext cx="548640" cy="59436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E60012"/>
                </a:solidFill>
                <a:latin typeface="Consolas"/>
                <a:ea typeface="Consolas"/>
              </a:rPr>
              <a:t>02</a:t>
            </a:r>
          </a:p>
        </p:txBody>
      </p:sp>
      <p:sp>
        <p:nvSpPr>
          <p:cNvPr id="12" name="TextBox 11"/>
          <p:cNvSpPr txBox="1"/>
          <p:nvPr/>
        </p:nvSpPr>
        <p:spPr>
          <a:xfrm>
            <a:off x="1508760" y="4416552"/>
            <a:ext cx="4114800" cy="54864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15181C"/>
                </a:solidFill>
                <a:latin typeface="Noto Sans JP"/>
                <a:ea typeface="Noto Sans JP"/>
              </a:rPr>
              <a:t>追い風は本物</a:t>
            </a:r>
          </a:p>
        </p:txBody>
      </p:sp>
      <p:sp>
        <p:nvSpPr>
          <p:cNvPr id="13" name="TextBox 12"/>
          <p:cNvSpPr txBox="1"/>
          <p:nvPr/>
        </p:nvSpPr>
        <p:spPr>
          <a:xfrm>
            <a:off x="5760720" y="4416552"/>
            <a:ext cx="5669280" cy="566928"/>
          </a:xfrm>
          <a:prstGeom prst="rect">
            <a:avLst/>
          </a:prstGeom>
          <a:noFill/>
        </p:spPr>
        <p:txBody>
          <a:bodyPr wrap="square" anchor="ctr" lIns="0" rIns="0" tIns="0" bIns="0">
            <a:spAutoFit/>
          </a:bodyPr>
          <a:lstStyle/>
          <a:p>
            <a:pPr algn="l">
              <a:lnSpc>
                <a:spcPct val="116000"/>
              </a:lnSpc>
              <a:spcBef>
                <a:spcPts val="0"/>
              </a:spcBef>
              <a:spcAft>
                <a:spcPts val="400"/>
              </a:spcAft>
            </a:pPr>
            <a:r>
              <a:rPr sz="1150" b="0">
                <a:solidFill>
                  <a:srgbClr val="373C43"/>
                </a:solidFill>
                <a:latin typeface="Noto Sans JP"/>
                <a:ea typeface="Noto Sans JP"/>
              </a:rPr>
              <a:t>AIチップ需要は3年で約13倍、投資ピークは2027-28。受注残に裏打ちされた構造需要。</a:t>
            </a:r>
          </a:p>
        </p:txBody>
      </p:sp>
      <p:sp>
        <p:nvSpPr>
          <p:cNvPr id="14" name="Rectangle 13"/>
          <p:cNvSpPr/>
          <p:nvPr/>
        </p:nvSpPr>
        <p:spPr>
          <a:xfrm>
            <a:off x="822960" y="5129784"/>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202936"/>
            <a:ext cx="548640" cy="59436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E60012"/>
                </a:solidFill>
                <a:latin typeface="Consolas"/>
                <a:ea typeface="Consolas"/>
              </a:rPr>
              <a:t>03</a:t>
            </a:r>
          </a:p>
        </p:txBody>
      </p:sp>
      <p:sp>
        <p:nvSpPr>
          <p:cNvPr id="16" name="TextBox 15"/>
          <p:cNvSpPr txBox="1"/>
          <p:nvPr/>
        </p:nvSpPr>
        <p:spPr>
          <a:xfrm>
            <a:off x="1508760" y="5257800"/>
            <a:ext cx="4114800" cy="54864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15181C"/>
                </a:solidFill>
                <a:latin typeface="Noto Sans JP"/>
                <a:ea typeface="Noto Sans JP"/>
              </a:rPr>
              <a:t>武器は完成済み</a:t>
            </a:r>
          </a:p>
        </p:txBody>
      </p:sp>
      <p:sp>
        <p:nvSpPr>
          <p:cNvPr id="17" name="TextBox 16"/>
          <p:cNvSpPr txBox="1"/>
          <p:nvPr/>
        </p:nvSpPr>
        <p:spPr>
          <a:xfrm>
            <a:off x="5760720" y="5257800"/>
            <a:ext cx="5669280" cy="566928"/>
          </a:xfrm>
          <a:prstGeom prst="rect">
            <a:avLst/>
          </a:prstGeom>
          <a:noFill/>
        </p:spPr>
        <p:txBody>
          <a:bodyPr wrap="square" anchor="ctr" lIns="0" rIns="0" tIns="0" bIns="0">
            <a:spAutoFit/>
          </a:bodyPr>
          <a:lstStyle/>
          <a:p>
            <a:pPr algn="l">
              <a:lnSpc>
                <a:spcPct val="116000"/>
              </a:lnSpc>
              <a:spcBef>
                <a:spcPts val="0"/>
              </a:spcBef>
              <a:spcAft>
                <a:spcPts val="400"/>
              </a:spcAft>
            </a:pPr>
            <a:r>
              <a:rPr sz="1150" b="0">
                <a:solidFill>
                  <a:srgbClr val="373C43"/>
                </a:solidFill>
                <a:latin typeface="Noto Sans JP"/>
                <a:ea typeface="Noto Sans JP"/>
              </a:rPr>
              <a:t>建設で磨いた現場管理は、製造業の据付・保守フィールドに“そのまま効く”。</a:t>
            </a:r>
          </a:p>
        </p:txBody>
      </p:sp>
      <p:sp>
        <p:nvSpPr>
          <p:cNvPr id="18" name="Rectangle 17"/>
          <p:cNvSpPr/>
          <p:nvPr/>
        </p:nvSpPr>
        <p:spPr>
          <a:xfrm>
            <a:off x="822960" y="6144768"/>
            <a:ext cx="10543032"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6309360"/>
            <a:ext cx="10698480" cy="457200"/>
          </a:xfrm>
          <a:prstGeom prst="rect">
            <a:avLst/>
          </a:prstGeom>
          <a:noFill/>
        </p:spPr>
        <p:txBody>
          <a:bodyPr wrap="square" anchor="t" lIns="0" rIns="0" tIns="0" bIns="0">
            <a:spAutoFit/>
          </a:bodyPr>
          <a:lstStyle/>
          <a:p>
            <a:pPr algn="l">
              <a:lnSpc>
                <a:spcPct val="110000"/>
              </a:lnSpc>
              <a:spcBef>
                <a:spcPts val="0"/>
              </a:spcBef>
              <a:spcAft>
                <a:spcPts val="400"/>
              </a:spcAft>
            </a:pPr>
            <a:r>
              <a:rPr sz="2100" b="1">
                <a:solidFill>
                  <a:srgbClr val="15181C"/>
                </a:solidFill>
                <a:latin typeface="Noto Sans JP"/>
                <a:ea typeface="Noto Sans JP"/>
              </a:rPr>
              <a:t>建設の“周辺”に広がる巨大市場を、100人でつかみにいこう。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234440"/>
            <a:ext cx="137160" cy="13716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0704" y="1161288"/>
            <a:ext cx="9144000" cy="274320"/>
          </a:xfrm>
          <a:prstGeom prst="rect">
            <a:avLst/>
          </a:prstGeom>
          <a:noFill/>
        </p:spPr>
        <p:txBody>
          <a:bodyPr wrap="square" anchor="t" lIns="0" rIns="0" tIns="0" bIns="0">
            <a:spAutoFit/>
          </a:bodyPr>
          <a:lstStyle/>
          <a:p>
            <a:pPr algn="l">
              <a:lnSpc>
                <a:spcPct val="110000"/>
              </a:lnSpc>
              <a:spcBef>
                <a:spcPts val="0"/>
              </a:spcBef>
              <a:spcAft>
                <a:spcPts val="400"/>
              </a:spcAft>
            </a:pPr>
            <a:r>
              <a:rPr sz="1300" b="1" spc="200">
                <a:solidFill>
                  <a:srgbClr val="E60012"/>
                </a:solidFill>
                <a:latin typeface="Consolas"/>
                <a:ea typeface="Consolas"/>
              </a:rPr>
              <a:t>APPENDIX</a:t>
            </a:r>
          </a:p>
        </p:txBody>
      </p:sp>
      <p:sp>
        <p:nvSpPr>
          <p:cNvPr id="5" name="TextBox 4"/>
          <p:cNvSpPr txBox="1"/>
          <p:nvPr/>
        </p:nvSpPr>
        <p:spPr>
          <a:xfrm>
            <a:off x="786384" y="1783080"/>
            <a:ext cx="10789920" cy="914400"/>
          </a:xfrm>
          <a:prstGeom prst="rect">
            <a:avLst/>
          </a:prstGeom>
          <a:noFill/>
        </p:spPr>
        <p:txBody>
          <a:bodyPr wrap="square" anchor="t" lIns="0" rIns="0" tIns="0" bIns="0">
            <a:spAutoFit/>
          </a:bodyPr>
          <a:lstStyle/>
          <a:p>
            <a:pPr algn="l">
              <a:lnSpc>
                <a:spcPct val="110000"/>
              </a:lnSpc>
              <a:spcBef>
                <a:spcPts val="0"/>
              </a:spcBef>
              <a:spcAft>
                <a:spcPts val="400"/>
              </a:spcAft>
            </a:pPr>
            <a:r>
              <a:rPr sz="3400" b="1">
                <a:solidFill>
                  <a:srgbClr val="15181C"/>
                </a:solidFill>
                <a:latin typeface="Noto Sans JP"/>
                <a:ea typeface="Noto Sans JP"/>
              </a:rPr>
              <a:t>バリューチェーン別 ・ </a:t>
            </a:r>
            <a:r>
              <a:rPr sz="3400" b="1">
                <a:solidFill>
                  <a:srgbClr val="E60012"/>
                </a:solidFill>
                <a:latin typeface="Noto Sans JP"/>
                <a:ea typeface="Noto Sans JP"/>
              </a:rPr>
              <a:t>キー企業一覧</a:t>
            </a:r>
          </a:p>
        </p:txBody>
      </p:sp>
      <p:sp>
        <p:nvSpPr>
          <p:cNvPr id="6" name="Rectangle 5"/>
          <p:cNvSpPr/>
          <p:nvPr/>
        </p:nvSpPr>
        <p:spPr>
          <a:xfrm>
            <a:off x="822960" y="2880360"/>
            <a:ext cx="2926080"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154680"/>
            <a:ext cx="10698480" cy="457200"/>
          </a:xfrm>
          <a:prstGeom prst="rect">
            <a:avLst/>
          </a:prstGeom>
          <a:noFill/>
        </p:spPr>
        <p:txBody>
          <a:bodyPr wrap="square" anchor="t" lIns="0" rIns="0" tIns="0" bIns="0">
            <a:spAutoFit/>
          </a:bodyPr>
          <a:lstStyle/>
          <a:p>
            <a:pPr algn="l">
              <a:lnSpc>
                <a:spcPct val="110000"/>
              </a:lnSpc>
              <a:spcBef>
                <a:spcPts val="0"/>
              </a:spcBef>
              <a:spcAft>
                <a:spcPts val="400"/>
              </a:spcAft>
            </a:pPr>
            <a:r>
              <a:rPr sz="1500" b="0">
                <a:solidFill>
                  <a:srgbClr val="373C43"/>
                </a:solidFill>
                <a:latin typeface="Noto Sans JP"/>
                <a:ea typeface="Noto Sans JP"/>
              </a:rPr>
              <a:t>AI需要の拡大で増収増益が見込める国内外 153 社を、17セグメント・バリューチェーン順に整理。</a:t>
            </a:r>
          </a:p>
        </p:txBody>
      </p:sp>
      <p:sp>
        <p:nvSpPr>
          <p:cNvPr id="8" name="TextBox 7"/>
          <p:cNvSpPr txBox="1"/>
          <p:nvPr/>
        </p:nvSpPr>
        <p:spPr>
          <a:xfrm>
            <a:off x="822960" y="3977639"/>
            <a:ext cx="4572000" cy="256032"/>
          </a:xfrm>
          <a:prstGeom prst="rect">
            <a:avLst/>
          </a:prstGeom>
          <a:noFill/>
        </p:spPr>
        <p:txBody>
          <a:bodyPr wrap="square" anchor="t" lIns="0" rIns="0" tIns="0" bIns="0">
            <a:spAutoFit/>
          </a:bodyPr>
          <a:lstStyle/>
          <a:p>
            <a:pPr algn="l">
              <a:lnSpc>
                <a:spcPct val="110000"/>
              </a:lnSpc>
              <a:spcBef>
                <a:spcPts val="0"/>
              </a:spcBef>
              <a:spcAft>
                <a:spcPts val="400"/>
              </a:spcAft>
            </a:pPr>
            <a:r>
              <a:rPr sz="1050" b="1" spc="100">
                <a:solidFill>
                  <a:srgbClr val="6E767F"/>
                </a:solidFill>
                <a:latin typeface="Consolas"/>
                <a:ea typeface="Consolas"/>
              </a:rPr>
              <a:t>確度 ― 各行の左端に色帯で表示</a:t>
            </a:r>
          </a:p>
        </p:txBody>
      </p:sp>
      <p:sp>
        <p:nvSpPr>
          <p:cNvPr id="9" name="Rectangle 8"/>
          <p:cNvSpPr/>
          <p:nvPr/>
        </p:nvSpPr>
        <p:spPr>
          <a:xfrm>
            <a:off x="822960" y="4389120"/>
            <a:ext cx="137160" cy="13716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361688"/>
            <a:ext cx="594360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15181C"/>
                </a:solidFill>
                <a:latin typeface="Noto Sans JP"/>
                <a:ea typeface="Noto Sans JP"/>
              </a:rPr>
              <a:t>高</a:t>
            </a:r>
            <a:r>
              <a:rPr sz="1100" b="0">
                <a:solidFill>
                  <a:srgbClr val="373C43"/>
                </a:solidFill>
                <a:latin typeface="Noto Sans JP"/>
                <a:ea typeface="Noto Sans JP"/>
              </a:rPr>
              <a:t>　受注・投資計画など一次情報が明確</a:t>
            </a:r>
          </a:p>
        </p:txBody>
      </p:sp>
      <p:sp>
        <p:nvSpPr>
          <p:cNvPr id="11" name="Rectangle 10"/>
          <p:cNvSpPr/>
          <p:nvPr/>
        </p:nvSpPr>
        <p:spPr>
          <a:xfrm>
            <a:off x="822960" y="4773168"/>
            <a:ext cx="137160" cy="13716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4745736"/>
            <a:ext cx="594360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15181C"/>
                </a:solidFill>
                <a:latin typeface="Noto Sans JP"/>
                <a:ea typeface="Noto Sans JP"/>
              </a:rPr>
              <a:t>中</a:t>
            </a:r>
            <a:r>
              <a:rPr sz="1100" b="0">
                <a:solidFill>
                  <a:srgbClr val="373C43"/>
                </a:solidFill>
                <a:latin typeface="Noto Sans JP"/>
                <a:ea typeface="Noto Sans JP"/>
              </a:rPr>
              <a:t>　一次情報＋報道等の二次情報</a:t>
            </a:r>
          </a:p>
        </p:txBody>
      </p:sp>
      <p:sp>
        <p:nvSpPr>
          <p:cNvPr id="13" name="Rectangle 12"/>
          <p:cNvSpPr/>
          <p:nvPr/>
        </p:nvSpPr>
        <p:spPr>
          <a:xfrm>
            <a:off x="822960" y="5157216"/>
            <a:ext cx="137160" cy="13716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5129783"/>
            <a:ext cx="594360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15181C"/>
                </a:solidFill>
                <a:latin typeface="Noto Sans JP"/>
                <a:ea typeface="Noto Sans JP"/>
              </a:rPr>
              <a:t>低</a:t>
            </a:r>
            <a:r>
              <a:rPr sz="1100" b="0">
                <a:solidFill>
                  <a:srgbClr val="373C43"/>
                </a:solidFill>
                <a:latin typeface="Noto Sans JP"/>
                <a:ea typeface="Noto Sans JP"/>
              </a:rPr>
              <a:t>　二次情報が中心</a:t>
            </a:r>
          </a:p>
        </p:txBody>
      </p:sp>
      <p:sp>
        <p:nvSpPr>
          <p:cNvPr id="15" name="TextBox 14"/>
          <p:cNvSpPr txBox="1"/>
          <p:nvPr/>
        </p:nvSpPr>
        <p:spPr>
          <a:xfrm>
            <a:off x="6492240" y="3977639"/>
            <a:ext cx="4572000" cy="256032"/>
          </a:xfrm>
          <a:prstGeom prst="rect">
            <a:avLst/>
          </a:prstGeom>
          <a:noFill/>
        </p:spPr>
        <p:txBody>
          <a:bodyPr wrap="square" anchor="t" lIns="0" rIns="0" tIns="0" bIns="0">
            <a:spAutoFit/>
          </a:bodyPr>
          <a:lstStyle/>
          <a:p>
            <a:pPr algn="l">
              <a:lnSpc>
                <a:spcPct val="110000"/>
              </a:lnSpc>
              <a:spcBef>
                <a:spcPts val="0"/>
              </a:spcBef>
              <a:spcAft>
                <a:spcPts val="400"/>
              </a:spcAft>
            </a:pPr>
            <a:r>
              <a:rPr sz="1050" b="1" spc="100">
                <a:solidFill>
                  <a:srgbClr val="6E767F"/>
                </a:solidFill>
                <a:latin typeface="Consolas"/>
                <a:ea typeface="Consolas"/>
              </a:rPr>
              <a:t>社名の下の表記</a:t>
            </a:r>
          </a:p>
        </p:txBody>
      </p:sp>
      <p:sp>
        <p:nvSpPr>
          <p:cNvPr id="16" name="TextBox 15"/>
          <p:cNvSpPr txBox="1"/>
          <p:nvPr/>
        </p:nvSpPr>
        <p:spPr>
          <a:xfrm>
            <a:off x="6492240" y="4361688"/>
            <a:ext cx="1371600" cy="274320"/>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9AA1A9"/>
                </a:solidFill>
                <a:latin typeface="Consolas"/>
                <a:ea typeface="Consolas"/>
              </a:rPr>
              <a:t>6501 等</a:t>
            </a:r>
          </a:p>
        </p:txBody>
      </p:sp>
      <p:sp>
        <p:nvSpPr>
          <p:cNvPr id="17" name="TextBox 16"/>
          <p:cNvSpPr txBox="1"/>
          <p:nvPr/>
        </p:nvSpPr>
        <p:spPr>
          <a:xfrm>
            <a:off x="7955279" y="4361688"/>
            <a:ext cx="338328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0">
                <a:solidFill>
                  <a:srgbClr val="373C43"/>
                </a:solidFill>
                <a:latin typeface="Noto Sans JP"/>
                <a:ea typeface="Noto Sans JP"/>
              </a:rPr>
              <a:t>証券コード（上場）</a:t>
            </a:r>
          </a:p>
        </p:txBody>
      </p:sp>
      <p:sp>
        <p:nvSpPr>
          <p:cNvPr id="18" name="TextBox 17"/>
          <p:cNvSpPr txBox="1"/>
          <p:nvPr/>
        </p:nvSpPr>
        <p:spPr>
          <a:xfrm>
            <a:off x="6492240" y="4745736"/>
            <a:ext cx="1371600" cy="274320"/>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9AA1A9"/>
                </a:solidFill>
                <a:latin typeface="Consolas"/>
                <a:ea typeface="Consolas"/>
              </a:rPr>
              <a:t>非上場</a:t>
            </a:r>
          </a:p>
        </p:txBody>
      </p:sp>
      <p:sp>
        <p:nvSpPr>
          <p:cNvPr id="19" name="TextBox 18"/>
          <p:cNvSpPr txBox="1"/>
          <p:nvPr/>
        </p:nvSpPr>
        <p:spPr>
          <a:xfrm>
            <a:off x="7955279" y="4745736"/>
            <a:ext cx="338328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0">
                <a:solidFill>
                  <a:srgbClr val="373C43"/>
                </a:solidFill>
                <a:latin typeface="Noto Sans JP"/>
                <a:ea typeface="Noto Sans JP"/>
              </a:rPr>
              <a:t>未上場・子会社等</a:t>
            </a:r>
          </a:p>
        </p:txBody>
      </p:sp>
      <p:sp>
        <p:nvSpPr>
          <p:cNvPr id="20" name="TextBox 19"/>
          <p:cNvSpPr txBox="1"/>
          <p:nvPr/>
        </p:nvSpPr>
        <p:spPr>
          <a:xfrm>
            <a:off x="6492240" y="5129783"/>
            <a:ext cx="1371600" cy="274320"/>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9AA1A9"/>
                </a:solidFill>
                <a:latin typeface="Consolas"/>
                <a:ea typeface="Consolas"/>
              </a:rPr>
              <a:t>米 GEV 等</a:t>
            </a:r>
          </a:p>
        </p:txBody>
      </p:sp>
      <p:sp>
        <p:nvSpPr>
          <p:cNvPr id="21" name="TextBox 20"/>
          <p:cNvSpPr txBox="1"/>
          <p:nvPr/>
        </p:nvSpPr>
        <p:spPr>
          <a:xfrm>
            <a:off x="7955279" y="5129783"/>
            <a:ext cx="338328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0">
                <a:solidFill>
                  <a:srgbClr val="373C43"/>
                </a:solidFill>
                <a:latin typeface="Noto Sans JP"/>
                <a:ea typeface="Noto Sans JP"/>
              </a:rPr>
              <a:t>海外は国名1字を併記</a:t>
            </a:r>
          </a:p>
        </p:txBody>
      </p:sp>
      <p:sp>
        <p:nvSpPr>
          <p:cNvPr id="22" name="Rectangle 21"/>
          <p:cNvSpPr/>
          <p:nvPr/>
        </p:nvSpPr>
        <p:spPr>
          <a:xfrm>
            <a:off x="822960" y="6126480"/>
            <a:ext cx="10543032" cy="27432"/>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6254496"/>
            <a:ext cx="10698480" cy="274320"/>
          </a:xfrm>
          <a:prstGeom prst="rect">
            <a:avLst/>
          </a:prstGeom>
          <a:noFill/>
        </p:spPr>
        <p:txBody>
          <a:bodyPr wrap="square" anchor="t" lIns="0" rIns="0" tIns="0" bIns="0">
            <a:spAutoFit/>
          </a:bodyPr>
          <a:lstStyle/>
          <a:p>
            <a:pPr algn="l">
              <a:lnSpc>
                <a:spcPct val="110000"/>
              </a:lnSpc>
              <a:spcBef>
                <a:spcPts val="0"/>
              </a:spcBef>
              <a:spcAft>
                <a:spcPts val="400"/>
              </a:spcAft>
            </a:pPr>
            <a:r>
              <a:rPr sz="950" b="0">
                <a:solidFill>
                  <a:srgbClr val="9AA1A9"/>
                </a:solidFill>
                <a:latin typeface="Consolas"/>
                <a:ea typeface="Consolas"/>
              </a:rPr>
              <a:t>出典：各社決算・IR等の一次情報＋公開データ。詳細は企業マスタ valuechain_master.xlsx ／ research/ を参照。</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01  </a:t>
            </a:r>
            <a:r>
              <a:rPr sz="1250" b="1">
                <a:solidFill>
                  <a:srgbClr val="15181C"/>
                </a:solidFill>
                <a:latin typeface="Noto Sans JP"/>
                <a:ea typeface="Noto Sans JP"/>
              </a:rPr>
              <a:t>特別高圧・大型変圧器</a:t>
            </a:r>
            <a:r>
              <a:rPr sz="900" b="1">
                <a:solidFill>
                  <a:srgbClr val="9AA1A9"/>
                </a:solidFill>
                <a:latin typeface="Consolas"/>
                <a:ea typeface="Consolas"/>
              </a:rPr>
              <a:t>　12社 ・ 優先度 高</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日立製作所</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6501</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データセンター・半導体工場向け送配電設備・変圧器の受注が世界的に急拡大し3年ぶり最高益を牽引。米国に大型電力用変圧器の新工場を建設。</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三菱電機</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6503</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データセンター・防衛関連の大口案件が牽引し5年連続最高益。特別高圧変圧器（赤穂）は受注が積み上がり生産予約が数年先まで埋まる。</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東芝エネルギーシステムズ</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送変電機器の増産投資を2度にわたり大幅拡大。データセンター新設による国内電力需要急増に対応し2030年度に生産能力を2倍以上へ。</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56615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566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富士電機</a:t>
            </a:r>
          </a:p>
        </p:txBody>
      </p:sp>
      <p:sp>
        <p:nvSpPr>
          <p:cNvPr id="27" name="TextBox 26"/>
          <p:cNvSpPr txBox="1"/>
          <p:nvPr/>
        </p:nvSpPr>
        <p:spPr>
          <a:xfrm>
            <a:off x="1024128" y="3803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6504</a:t>
            </a:r>
          </a:p>
        </p:txBody>
      </p:sp>
      <p:sp>
        <p:nvSpPr>
          <p:cNvPr id="28" name="TextBox 27"/>
          <p:cNvSpPr txBox="1"/>
          <p:nvPr/>
        </p:nvSpPr>
        <p:spPr>
          <a:xfrm>
            <a:off x="3566160" y="3566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受変電機器の生産体制を再編し変圧器・開閉装置を増産。データセンター・半導体工場向け特高電力用変圧器の需要拡大が5年連続最高益の柱の一つ。</a:t>
            </a:r>
          </a:p>
        </p:txBody>
      </p:sp>
      <p:sp>
        <p:nvSpPr>
          <p:cNvPr id="29" name="Rectangle 28"/>
          <p:cNvSpPr/>
          <p:nvPr/>
        </p:nvSpPr>
        <p:spPr>
          <a:xfrm>
            <a:off x="822960" y="4169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233672"/>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233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明電舎</a:t>
            </a:r>
          </a:p>
        </p:txBody>
      </p:sp>
      <p:sp>
        <p:nvSpPr>
          <p:cNvPr id="32" name="TextBox 31"/>
          <p:cNvSpPr txBox="1"/>
          <p:nvPr/>
        </p:nvSpPr>
        <p:spPr>
          <a:xfrm>
            <a:off x="1024128" y="4471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6508</a:t>
            </a:r>
          </a:p>
        </p:txBody>
      </p:sp>
      <p:sp>
        <p:nvSpPr>
          <p:cNvPr id="33" name="TextBox 32"/>
          <p:cNvSpPr txBox="1"/>
          <p:nvPr/>
        </p:nvSpPr>
        <p:spPr>
          <a:xfrm>
            <a:off x="3566160" y="4233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データセンター建設に伴う電力需要増・レベニューキャップ制度関連の系統増強を見据え、沼津事業所の変圧器工場に160億円投資し生産能力を約1.5倍に拡大。</a:t>
            </a:r>
          </a:p>
        </p:txBody>
      </p:sp>
      <p:sp>
        <p:nvSpPr>
          <p:cNvPr id="34" name="Rectangle 33"/>
          <p:cNvSpPr/>
          <p:nvPr/>
        </p:nvSpPr>
        <p:spPr>
          <a:xfrm>
            <a:off x="822960" y="4837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901184"/>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90118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ダイヘン</a:t>
            </a:r>
          </a:p>
        </p:txBody>
      </p:sp>
      <p:sp>
        <p:nvSpPr>
          <p:cNvPr id="37" name="TextBox 36"/>
          <p:cNvSpPr txBox="1"/>
          <p:nvPr/>
        </p:nvSpPr>
        <p:spPr>
          <a:xfrm>
            <a:off x="1024128" y="513892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6622</a:t>
            </a:r>
          </a:p>
        </p:txBody>
      </p:sp>
      <p:sp>
        <p:nvSpPr>
          <p:cNvPr id="38" name="TextBox 37"/>
          <p:cNvSpPr txBox="1"/>
          <p:nvPr/>
        </p:nvSpPr>
        <p:spPr>
          <a:xfrm>
            <a:off x="3566160" y="490118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データセンター建設ラッシュによる大形変圧器需要急増を受け三重事業所に新工場を建設し生産能力を2029年度までに2倍に増強。</a:t>
            </a:r>
          </a:p>
        </p:txBody>
      </p:sp>
      <p:sp>
        <p:nvSpPr>
          <p:cNvPr id="39" name="Rectangle 38"/>
          <p:cNvSpPr/>
          <p:nvPr/>
        </p:nvSpPr>
        <p:spPr>
          <a:xfrm>
            <a:off x="822960" y="530809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5372100"/>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537210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GE Vernova</a:t>
            </a:r>
          </a:p>
        </p:txBody>
      </p:sp>
      <p:sp>
        <p:nvSpPr>
          <p:cNvPr id="42" name="TextBox 41"/>
          <p:cNvSpPr txBox="1"/>
          <p:nvPr/>
        </p:nvSpPr>
        <p:spPr>
          <a:xfrm>
            <a:off x="1024128" y="560984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GEV</a:t>
            </a:r>
          </a:p>
        </p:txBody>
      </p:sp>
      <p:sp>
        <p:nvSpPr>
          <p:cNvPr id="43" name="TextBox 42"/>
          <p:cNvSpPr txBox="1"/>
          <p:nvPr/>
        </p:nvSpPr>
        <p:spPr>
          <a:xfrm>
            <a:off x="3566160" y="5372100"/>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Prolec GE完全子会社化で変圧器事業を強化。Electrification部門のデータセンター向け機器受注が四半期で前年通期実績を超過。</a:t>
            </a:r>
          </a:p>
        </p:txBody>
      </p:sp>
      <p:sp>
        <p:nvSpPr>
          <p:cNvPr id="44" name="Rectangle 43"/>
          <p:cNvSpPr/>
          <p:nvPr/>
        </p:nvSpPr>
        <p:spPr>
          <a:xfrm>
            <a:off x="822960" y="597560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2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01  </a:t>
            </a:r>
            <a:r>
              <a:rPr sz="1250" b="1">
                <a:solidFill>
                  <a:srgbClr val="373C43"/>
                </a:solidFill>
                <a:latin typeface="Noto Sans JP"/>
                <a:ea typeface="Noto Sans JP"/>
              </a:rPr>
              <a:t>特別高圧・大型変圧器</a:t>
            </a:r>
            <a:r>
              <a:rPr sz="900" b="1">
                <a:solidFill>
                  <a:srgbClr val="9AA1A9"/>
                </a:solidFill>
                <a:latin typeface="Consolas"/>
                <a:ea typeface="Consolas"/>
              </a:rPr>
              <a:t>　12社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Siemens Energy</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独 ENR</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Grid Technologies部門の受注が前年同期比41%増と急拡大し、米国データセンター需要に対応するためミシシッピ州に3億ドルの高電圧機器新工場を建設。</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ABB</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瑞 ABBN</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データセンター向け受注が2桁成長を継続し過去最高の四半期受注を記録。米国に1.1億ドルを追加投資し変圧器・電化製品の生産能力を拡大。</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HD Hyundai Electric</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韓 267260</a:t>
            </a:r>
          </a:p>
        </p:txBody>
      </p:sp>
      <p:sp>
        <p:nvSpPr>
          <p:cNvPr id="23" name="TextBox 22"/>
          <p:cNvSpPr txBox="1"/>
          <p:nvPr/>
        </p:nvSpPr>
        <p:spPr>
          <a:xfrm>
            <a:off x="3566160" y="2898647"/>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米国の老朽電力網更新とAIデータセンター新設で変圧器・開閉装置の受注が過去最高を更新し、選別受注による単価上昇も進行。</a:t>
            </a:r>
          </a:p>
        </p:txBody>
      </p:sp>
      <p:sp>
        <p:nvSpPr>
          <p:cNvPr id="24" name="Rectangle 23"/>
          <p:cNvSpPr/>
          <p:nvPr/>
        </p:nvSpPr>
        <p:spPr>
          <a:xfrm>
            <a:off x="822960" y="33055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369563"/>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36956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Schneider Electric</a:t>
            </a:r>
          </a:p>
        </p:txBody>
      </p:sp>
      <p:sp>
        <p:nvSpPr>
          <p:cNvPr id="27" name="TextBox 26"/>
          <p:cNvSpPr txBox="1"/>
          <p:nvPr/>
        </p:nvSpPr>
        <p:spPr>
          <a:xfrm>
            <a:off x="1024128" y="360730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仏 SU</a:t>
            </a:r>
          </a:p>
        </p:txBody>
      </p:sp>
      <p:sp>
        <p:nvSpPr>
          <p:cNvPr id="28" name="TextBox 27"/>
          <p:cNvSpPr txBox="1"/>
          <p:nvPr/>
        </p:nvSpPr>
        <p:spPr>
          <a:xfrm>
            <a:off x="3566160" y="3369563"/>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EcoStruxureプラットフォームでデータセンター向けスイッチギア・電源設備の需要を取り込み、米国供給網に7億ドル超を投資。</a:t>
            </a:r>
          </a:p>
        </p:txBody>
      </p:sp>
      <p:sp>
        <p:nvSpPr>
          <p:cNvPr id="29" name="Rectangle 28"/>
          <p:cNvSpPr/>
          <p:nvPr/>
        </p:nvSpPr>
        <p:spPr>
          <a:xfrm>
            <a:off x="822960" y="397306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037076"/>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03707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SPX Technologies</a:t>
            </a:r>
          </a:p>
        </p:txBody>
      </p:sp>
      <p:sp>
        <p:nvSpPr>
          <p:cNvPr id="32" name="TextBox 31"/>
          <p:cNvSpPr txBox="1"/>
          <p:nvPr/>
        </p:nvSpPr>
        <p:spPr>
          <a:xfrm>
            <a:off x="1024128" y="427482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SPXC</a:t>
            </a:r>
          </a:p>
        </p:txBody>
      </p:sp>
      <p:sp>
        <p:nvSpPr>
          <p:cNvPr id="33" name="TextBox 32"/>
          <p:cNvSpPr txBox="1"/>
          <p:nvPr/>
        </p:nvSpPr>
        <p:spPr>
          <a:xfrm>
            <a:off x="3566160" y="4037076"/>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データセンター向け変圧器・HVAC冷却製品の受注残が急拡大し2026年通期のデータセンター売上は前年比約50%増を計画。生産能力拡大に1億ドル超を投資。</a:t>
            </a:r>
          </a:p>
        </p:txBody>
      </p:sp>
      <p:sp>
        <p:nvSpPr>
          <p:cNvPr id="34" name="Rectangle 33"/>
          <p:cNvSpPr/>
          <p:nvPr/>
        </p:nvSpPr>
        <p:spPr>
          <a:xfrm>
            <a:off x="822960" y="464058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768596"/>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8992" y="4704588"/>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02  </a:t>
            </a:r>
            <a:r>
              <a:rPr sz="1250" b="1">
                <a:solidFill>
                  <a:srgbClr val="15181C"/>
                </a:solidFill>
                <a:latin typeface="Noto Sans JP"/>
                <a:ea typeface="Noto Sans JP"/>
              </a:rPr>
              <a:t>発電機・タービン・非常用電源</a:t>
            </a:r>
            <a:r>
              <a:rPr sz="900" b="1">
                <a:solidFill>
                  <a:srgbClr val="9AA1A9"/>
                </a:solidFill>
                <a:latin typeface="Consolas"/>
                <a:ea typeface="Consolas"/>
              </a:rPr>
              <a:t>　15社 ・ 優先度 高</a:t>
            </a:r>
          </a:p>
        </p:txBody>
      </p:sp>
      <p:sp>
        <p:nvSpPr>
          <p:cNvPr id="37" name="Rectangle 36"/>
          <p:cNvSpPr/>
          <p:nvPr/>
        </p:nvSpPr>
        <p:spPr>
          <a:xfrm>
            <a:off x="822960" y="5097780"/>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5180076"/>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518007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三菱重工業</a:t>
            </a:r>
          </a:p>
        </p:txBody>
      </p:sp>
      <p:sp>
        <p:nvSpPr>
          <p:cNvPr id="40" name="TextBox 39"/>
          <p:cNvSpPr txBox="1"/>
          <p:nvPr/>
        </p:nvSpPr>
        <p:spPr>
          <a:xfrm>
            <a:off x="1024128" y="541782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7011</a:t>
            </a:r>
          </a:p>
        </p:txBody>
      </p:sp>
      <p:sp>
        <p:nvSpPr>
          <p:cNvPr id="41" name="TextBox 40"/>
          <p:cNvSpPr txBox="1"/>
          <p:nvPr/>
        </p:nvSpPr>
        <p:spPr>
          <a:xfrm>
            <a:off x="3566160" y="518007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北米を中心にGTCC（ガスタービンコンバインドサイクル）受注が急拡大し、大型ガスタービンの生産能力を倍増する投資を実施。</a:t>
            </a:r>
          </a:p>
        </p:txBody>
      </p:sp>
      <p:sp>
        <p:nvSpPr>
          <p:cNvPr id="42" name="Rectangle 41"/>
          <p:cNvSpPr/>
          <p:nvPr/>
        </p:nvSpPr>
        <p:spPr>
          <a:xfrm>
            <a:off x="822960" y="558698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650992"/>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65099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川崎重工業</a:t>
            </a:r>
          </a:p>
        </p:txBody>
      </p:sp>
      <p:sp>
        <p:nvSpPr>
          <p:cNvPr id="45" name="TextBox 44"/>
          <p:cNvSpPr txBox="1"/>
          <p:nvPr/>
        </p:nvSpPr>
        <p:spPr>
          <a:xfrm>
            <a:off x="1024128" y="588873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7012</a:t>
            </a:r>
          </a:p>
        </p:txBody>
      </p:sp>
      <p:sp>
        <p:nvSpPr>
          <p:cNvPr id="46" name="TextBox 45"/>
          <p:cNvSpPr txBox="1"/>
          <p:nvPr/>
        </p:nvSpPr>
        <p:spPr>
          <a:xfrm>
            <a:off x="3566160" y="565099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エネルギーシステム事業（ガスタービン・ガスエンジン）が増収増益。非常用ガスタービン発電設備「カワサキPUシリーズ」は累計8000台超の納入実績を持つ主力製品。</a:t>
            </a:r>
          </a:p>
        </p:txBody>
      </p:sp>
      <p:sp>
        <p:nvSpPr>
          <p:cNvPr id="47" name="Rectangle 46"/>
          <p:cNvSpPr/>
          <p:nvPr/>
        </p:nvSpPr>
        <p:spPr>
          <a:xfrm>
            <a:off x="822960" y="625449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3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02  </a:t>
            </a:r>
            <a:r>
              <a:rPr sz="1250" b="1">
                <a:solidFill>
                  <a:srgbClr val="373C43"/>
                </a:solidFill>
                <a:latin typeface="Noto Sans JP"/>
                <a:ea typeface="Noto Sans JP"/>
              </a:rPr>
              <a:t>発電機・タービン・非常用電源</a:t>
            </a:r>
            <a:r>
              <a:rPr sz="900" b="1">
                <a:solidFill>
                  <a:srgbClr val="9AA1A9"/>
                </a:solidFill>
                <a:latin typeface="Consolas"/>
                <a:ea typeface="Consolas"/>
              </a:rPr>
              <a:t>　15社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IHI</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7013</a:t>
            </a:r>
          </a:p>
        </p:txBody>
      </p:sp>
      <p:sp>
        <p:nvSpPr>
          <p:cNvPr id="13" name="TextBox 12"/>
          <p:cNvSpPr txBox="1"/>
          <p:nvPr/>
        </p:nvSpPr>
        <p:spPr>
          <a:xfrm>
            <a:off x="3566160" y="156362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子会社IHI原動機がAI向けデータセンター増設に伴う非常用発電装置の引き合い増加を受け、発電装置の高出力化を進めている。</a:t>
            </a:r>
          </a:p>
        </p:txBody>
      </p:sp>
      <p:sp>
        <p:nvSpPr>
          <p:cNvPr id="14" name="Rectangle 13"/>
          <p:cNvSpPr/>
          <p:nvPr/>
        </p:nvSpPr>
        <p:spPr>
          <a:xfrm>
            <a:off x="822960" y="197053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034539"/>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0345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富士電機</a:t>
            </a:r>
          </a:p>
        </p:txBody>
      </p:sp>
      <p:sp>
        <p:nvSpPr>
          <p:cNvPr id="17" name="TextBox 16"/>
          <p:cNvSpPr txBox="1"/>
          <p:nvPr/>
        </p:nvSpPr>
        <p:spPr>
          <a:xfrm>
            <a:off x="1024128" y="22722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6504</a:t>
            </a:r>
          </a:p>
        </p:txBody>
      </p:sp>
      <p:sp>
        <p:nvSpPr>
          <p:cNvPr id="18" name="TextBox 17"/>
          <p:cNvSpPr txBox="1"/>
          <p:nvPr/>
        </p:nvSpPr>
        <p:spPr>
          <a:xfrm>
            <a:off x="3566160" y="203453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データセンター向け無停電電源装置（UPS）・施設電源システムの受注が急増し、5年連続で過去最高益を更新。生産拠点も増強中。</a:t>
            </a:r>
          </a:p>
        </p:txBody>
      </p:sp>
      <p:sp>
        <p:nvSpPr>
          <p:cNvPr id="19" name="Rectangle 18"/>
          <p:cNvSpPr/>
          <p:nvPr/>
        </p:nvSpPr>
        <p:spPr>
          <a:xfrm>
            <a:off x="822960" y="24414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505456"/>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50545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明電舎</a:t>
            </a:r>
          </a:p>
        </p:txBody>
      </p:sp>
      <p:sp>
        <p:nvSpPr>
          <p:cNvPr id="22" name="TextBox 21"/>
          <p:cNvSpPr txBox="1"/>
          <p:nvPr/>
        </p:nvSpPr>
        <p:spPr>
          <a:xfrm>
            <a:off x="1024128" y="274320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6508</a:t>
            </a:r>
          </a:p>
        </p:txBody>
      </p:sp>
      <p:sp>
        <p:nvSpPr>
          <p:cNvPr id="23" name="TextBox 22"/>
          <p:cNvSpPr txBox="1"/>
          <p:nvPr/>
        </p:nvSpPr>
        <p:spPr>
          <a:xfrm>
            <a:off x="3566160" y="250545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データセンター建設に伴う電力需要増・系統増強を見据え、変圧器工場の大規模増産投資を実施。中期経営計画で成長投資を明確化。</a:t>
            </a:r>
          </a:p>
        </p:txBody>
      </p:sp>
      <p:sp>
        <p:nvSpPr>
          <p:cNvPr id="24" name="Rectangle 23"/>
          <p:cNvSpPr/>
          <p:nvPr/>
        </p:nvSpPr>
        <p:spPr>
          <a:xfrm>
            <a:off x="822960" y="29123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2976372"/>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29763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デンヨー</a:t>
            </a:r>
          </a:p>
        </p:txBody>
      </p:sp>
      <p:sp>
        <p:nvSpPr>
          <p:cNvPr id="27" name="TextBox 26"/>
          <p:cNvSpPr txBox="1"/>
          <p:nvPr/>
        </p:nvSpPr>
        <p:spPr>
          <a:xfrm>
            <a:off x="1024128" y="32141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6517</a:t>
            </a:r>
          </a:p>
        </p:txBody>
      </p:sp>
      <p:sp>
        <p:nvSpPr>
          <p:cNvPr id="28" name="TextBox 27"/>
          <p:cNvSpPr txBox="1"/>
          <p:nvPr/>
        </p:nvSpPr>
        <p:spPr>
          <a:xfrm>
            <a:off x="3566160" y="2976372"/>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非常用発電機の国内需要堅調、米国向け輸出も好調で増収増益。</a:t>
            </a:r>
          </a:p>
        </p:txBody>
      </p:sp>
      <p:sp>
        <p:nvSpPr>
          <p:cNvPr id="29" name="Rectangle 28"/>
          <p:cNvSpPr/>
          <p:nvPr/>
        </p:nvSpPr>
        <p:spPr>
          <a:xfrm>
            <a:off x="822960" y="338328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3447288"/>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344728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ヤンマーホールディングス</a:t>
            </a:r>
          </a:p>
        </p:txBody>
      </p:sp>
      <p:sp>
        <p:nvSpPr>
          <p:cNvPr id="32" name="TextBox 31"/>
          <p:cNvSpPr txBox="1"/>
          <p:nvPr/>
        </p:nvSpPr>
        <p:spPr>
          <a:xfrm>
            <a:off x="1024128" y="368503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33" name="TextBox 32"/>
          <p:cNvSpPr txBox="1"/>
          <p:nvPr/>
        </p:nvSpPr>
        <p:spPr>
          <a:xfrm>
            <a:off x="3566160" y="3447288"/>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データセンター向け大容量非常用発電機「GY175シリーズ」を商品化、専用新工場を北九州市に建設し2028年稼働予定。</a:t>
            </a:r>
          </a:p>
        </p:txBody>
      </p:sp>
      <p:sp>
        <p:nvSpPr>
          <p:cNvPr id="34" name="Rectangle 33"/>
          <p:cNvSpPr/>
          <p:nvPr/>
        </p:nvSpPr>
        <p:spPr>
          <a:xfrm>
            <a:off x="822960" y="385419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391820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391820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GE Vernova</a:t>
            </a:r>
          </a:p>
        </p:txBody>
      </p:sp>
      <p:sp>
        <p:nvSpPr>
          <p:cNvPr id="37" name="TextBox 36"/>
          <p:cNvSpPr txBox="1"/>
          <p:nvPr/>
        </p:nvSpPr>
        <p:spPr>
          <a:xfrm>
            <a:off x="1024128" y="415594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GEV</a:t>
            </a:r>
          </a:p>
        </p:txBody>
      </p:sp>
      <p:sp>
        <p:nvSpPr>
          <p:cNvPr id="38" name="TextBox 37"/>
          <p:cNvSpPr txBox="1"/>
          <p:nvPr/>
        </p:nvSpPr>
        <p:spPr>
          <a:xfrm>
            <a:off x="3566160" y="391820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ガスタービンの受注残がデータセンター需要により100GWまで急拡大、四半期ベースで過去最高の受注を記録し通期ガイダンスを上方修正。</a:t>
            </a:r>
          </a:p>
        </p:txBody>
      </p:sp>
      <p:sp>
        <p:nvSpPr>
          <p:cNvPr id="39" name="Rectangle 38"/>
          <p:cNvSpPr/>
          <p:nvPr/>
        </p:nvSpPr>
        <p:spPr>
          <a:xfrm>
            <a:off x="822960" y="452170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4585716"/>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458571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Siemens Energy</a:t>
            </a:r>
          </a:p>
        </p:txBody>
      </p:sp>
      <p:sp>
        <p:nvSpPr>
          <p:cNvPr id="42" name="TextBox 41"/>
          <p:cNvSpPr txBox="1"/>
          <p:nvPr/>
        </p:nvSpPr>
        <p:spPr>
          <a:xfrm>
            <a:off x="1024128" y="482345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独 ENR</a:t>
            </a:r>
          </a:p>
        </p:txBody>
      </p:sp>
      <p:sp>
        <p:nvSpPr>
          <p:cNvPr id="43" name="TextBox 42"/>
          <p:cNvSpPr txBox="1"/>
          <p:nvPr/>
        </p:nvSpPr>
        <p:spPr>
          <a:xfrm>
            <a:off x="3566160" y="4585716"/>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米国データセンター需要主導でガスサービス（Gas Services）部門が四半期ベース過去最高の受注を記録し、通期業績見通しを上方修正。</a:t>
            </a:r>
          </a:p>
        </p:txBody>
      </p:sp>
      <p:sp>
        <p:nvSpPr>
          <p:cNvPr id="44" name="Rectangle 43"/>
          <p:cNvSpPr/>
          <p:nvPr/>
        </p:nvSpPr>
        <p:spPr>
          <a:xfrm>
            <a:off x="822960" y="518922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960" y="5253228"/>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4128" y="525322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Cummins</a:t>
            </a:r>
          </a:p>
        </p:txBody>
      </p:sp>
      <p:sp>
        <p:nvSpPr>
          <p:cNvPr id="47" name="TextBox 46"/>
          <p:cNvSpPr txBox="1"/>
          <p:nvPr/>
        </p:nvSpPr>
        <p:spPr>
          <a:xfrm>
            <a:off x="1024128" y="549097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CMI</a:t>
            </a:r>
          </a:p>
        </p:txBody>
      </p:sp>
      <p:sp>
        <p:nvSpPr>
          <p:cNvPr id="48" name="TextBox 47"/>
          <p:cNvSpPr txBox="1"/>
          <p:nvPr/>
        </p:nvSpPr>
        <p:spPr>
          <a:xfrm>
            <a:off x="3566160" y="5253228"/>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データセンター向け大型発電機セットの受注残が過去最高水準に積み上がり、Power Systems部門が2桁成長。生産能力もほぼ倍増。</a:t>
            </a:r>
          </a:p>
        </p:txBody>
      </p:sp>
      <p:sp>
        <p:nvSpPr>
          <p:cNvPr id="49" name="Rectangle 48"/>
          <p:cNvSpPr/>
          <p:nvPr/>
        </p:nvSpPr>
        <p:spPr>
          <a:xfrm>
            <a:off x="822960" y="585673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2960" y="5920740"/>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24128" y="592074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Caterpillar</a:t>
            </a:r>
          </a:p>
        </p:txBody>
      </p:sp>
      <p:sp>
        <p:nvSpPr>
          <p:cNvPr id="52" name="TextBox 51"/>
          <p:cNvSpPr txBox="1"/>
          <p:nvPr/>
        </p:nvSpPr>
        <p:spPr>
          <a:xfrm>
            <a:off x="1024128" y="61584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CAT</a:t>
            </a:r>
          </a:p>
        </p:txBody>
      </p:sp>
      <p:sp>
        <p:nvSpPr>
          <p:cNvPr id="53" name="TextBox 52"/>
          <p:cNvSpPr txBox="1"/>
          <p:nvPr/>
        </p:nvSpPr>
        <p:spPr>
          <a:xfrm>
            <a:off x="3566160" y="5920740"/>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データセンター・AIインフラ向け大型往復動エンジン（発電機セット）の受注残が2024年発表以降3.5倍以上に拡大し、生産能力を3倍化する投資計画。</a:t>
            </a:r>
          </a:p>
        </p:txBody>
      </p:sp>
      <p:sp>
        <p:nvSpPr>
          <p:cNvPr id="54" name="Rectangle 53"/>
          <p:cNvSpPr/>
          <p:nvPr/>
        </p:nvSpPr>
        <p:spPr>
          <a:xfrm>
            <a:off x="822960" y="65242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4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02  </a:t>
            </a:r>
            <a:r>
              <a:rPr sz="1250" b="1">
                <a:solidFill>
                  <a:srgbClr val="373C43"/>
                </a:solidFill>
                <a:latin typeface="Noto Sans JP"/>
                <a:ea typeface="Noto Sans JP"/>
              </a:rPr>
              <a:t>発電機・タービン・非常用電源</a:t>
            </a:r>
            <a:r>
              <a:rPr sz="900" b="1">
                <a:solidFill>
                  <a:srgbClr val="9AA1A9"/>
                </a:solidFill>
                <a:latin typeface="Consolas"/>
                <a:ea typeface="Consolas"/>
              </a:rPr>
              <a:t>　15社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Generac Holdings</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GNRC</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大型メガワットクラス発電機（データセンター向け）の受注残が急拡大し、専用パッケージング拠点を新設。データセンター事業を「第二の柱」に育成中。</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Wärtsilä</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芬 WRT1V</a:t>
            </a:r>
          </a:p>
        </p:txBody>
      </p:sp>
      <p:sp>
        <p:nvSpPr>
          <p:cNvPr id="18" name="TextBox 17"/>
          <p:cNvSpPr txBox="1"/>
          <p:nvPr/>
        </p:nvSpPr>
        <p:spPr>
          <a:xfrm>
            <a:off x="3566160" y="223113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米国データセンター向けガスエンジン発電プラントの受注が相次ぎ、累計2.4GW超を受注済み。</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02051"/>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702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Rolls-Royce Power Systems</a:t>
            </a:r>
          </a:p>
        </p:txBody>
      </p:sp>
      <p:sp>
        <p:nvSpPr>
          <p:cNvPr id="22" name="TextBox 21"/>
          <p:cNvSpPr txBox="1"/>
          <p:nvPr/>
        </p:nvSpPr>
        <p:spPr>
          <a:xfrm>
            <a:off x="1024128" y="29397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独 RR.</a:t>
            </a:r>
          </a:p>
        </p:txBody>
      </p:sp>
      <p:sp>
        <p:nvSpPr>
          <p:cNvPr id="23" name="TextBox 22"/>
          <p:cNvSpPr txBox="1"/>
          <p:nvPr/>
        </p:nvSpPr>
        <p:spPr>
          <a:xfrm>
            <a:off x="3566160" y="270205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データセンター向け大型発電機（mtuシリーズ4000）需要が牽引し、Power Systems部門の売上・受注が2桁成長。米国生産能力を倍増以上に拡大。</a:t>
            </a:r>
          </a:p>
        </p:txBody>
      </p:sp>
      <p:sp>
        <p:nvSpPr>
          <p:cNvPr id="24" name="Rectangle 23"/>
          <p:cNvSpPr/>
          <p:nvPr/>
        </p:nvSpPr>
        <p:spPr>
          <a:xfrm>
            <a:off x="822960" y="33055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369563"/>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36956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Kohler Energy / Rehlko</a:t>
            </a:r>
          </a:p>
        </p:txBody>
      </p:sp>
      <p:sp>
        <p:nvSpPr>
          <p:cNvPr id="27" name="TextBox 26"/>
          <p:cNvSpPr txBox="1"/>
          <p:nvPr/>
        </p:nvSpPr>
        <p:spPr>
          <a:xfrm>
            <a:off x="1024128" y="360730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8" name="TextBox 27"/>
          <p:cNvSpPr txBox="1"/>
          <p:nvPr/>
        </p:nvSpPr>
        <p:spPr>
          <a:xfrm>
            <a:off x="3566160" y="3369563"/>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データセンター向け発電機需要拡大に対応し、Liebherr社とのエンジン生産提携拡大や英国企業買収など供給網強化を進める。</a:t>
            </a:r>
          </a:p>
        </p:txBody>
      </p:sp>
      <p:sp>
        <p:nvSpPr>
          <p:cNvPr id="29" name="Rectangle 28"/>
          <p:cNvSpPr/>
          <p:nvPr/>
        </p:nvSpPr>
        <p:spPr>
          <a:xfrm>
            <a:off x="822960" y="377647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3904487"/>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8992" y="3840479"/>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03  </a:t>
            </a:r>
            <a:r>
              <a:rPr sz="1250" b="1">
                <a:solidFill>
                  <a:srgbClr val="15181C"/>
                </a:solidFill>
                <a:latin typeface="Noto Sans JP"/>
                <a:ea typeface="Noto Sans JP"/>
              </a:rPr>
              <a:t>送配電（開閉装置・遮断器）</a:t>
            </a:r>
            <a:r>
              <a:rPr sz="900" b="1">
                <a:solidFill>
                  <a:srgbClr val="9AA1A9"/>
                </a:solidFill>
                <a:latin typeface="Consolas"/>
                <a:ea typeface="Consolas"/>
              </a:rPr>
              <a:t>　11社 ・ 優先度 高</a:t>
            </a:r>
          </a:p>
        </p:txBody>
      </p:sp>
      <p:sp>
        <p:nvSpPr>
          <p:cNvPr id="32" name="Rectangle 31"/>
          <p:cNvSpPr/>
          <p:nvPr/>
        </p:nvSpPr>
        <p:spPr>
          <a:xfrm>
            <a:off x="822960" y="4233671"/>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315968"/>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31596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日立製作所</a:t>
            </a:r>
          </a:p>
        </p:txBody>
      </p:sp>
      <p:sp>
        <p:nvSpPr>
          <p:cNvPr id="35" name="TextBox 34"/>
          <p:cNvSpPr txBox="1"/>
          <p:nvPr/>
        </p:nvSpPr>
        <p:spPr>
          <a:xfrm>
            <a:off x="1024128" y="455371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6501</a:t>
            </a:r>
          </a:p>
        </p:txBody>
      </p:sp>
      <p:sp>
        <p:nvSpPr>
          <p:cNvPr id="36" name="TextBox 35"/>
          <p:cNvSpPr txBox="1"/>
          <p:nvPr/>
        </p:nvSpPr>
        <p:spPr>
          <a:xfrm>
            <a:off x="3566160" y="4315968"/>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パワーグリッド事業（送配電機器・変電システム）の受注残が過去最高水準に拡大し、SF6ガスフリーGISなど環境対応製品でも世界初案件を受注。</a:t>
            </a:r>
          </a:p>
        </p:txBody>
      </p:sp>
      <p:sp>
        <p:nvSpPr>
          <p:cNvPr id="37" name="Rectangle 36"/>
          <p:cNvSpPr/>
          <p:nvPr/>
        </p:nvSpPr>
        <p:spPr>
          <a:xfrm>
            <a:off x="822960" y="491947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4983480"/>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498348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三菱電機</a:t>
            </a:r>
          </a:p>
        </p:txBody>
      </p:sp>
      <p:sp>
        <p:nvSpPr>
          <p:cNvPr id="40" name="TextBox 39"/>
          <p:cNvSpPr txBox="1"/>
          <p:nvPr/>
        </p:nvSpPr>
        <p:spPr>
          <a:xfrm>
            <a:off x="1024128" y="522122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6503</a:t>
            </a:r>
          </a:p>
        </p:txBody>
      </p:sp>
      <p:sp>
        <p:nvSpPr>
          <p:cNvPr id="41" name="TextBox 40"/>
          <p:cNvSpPr txBox="1"/>
          <p:nvPr/>
        </p:nvSpPr>
        <p:spPr>
          <a:xfrm>
            <a:off x="3566160" y="4983480"/>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データセンター向け受配電機器（C-GIS・開閉器）の受注増に対応し、国内外で生産能力を倍増する新工場を相次いで建設。</a:t>
            </a:r>
          </a:p>
        </p:txBody>
      </p:sp>
      <p:sp>
        <p:nvSpPr>
          <p:cNvPr id="42" name="Rectangle 41"/>
          <p:cNvSpPr/>
          <p:nvPr/>
        </p:nvSpPr>
        <p:spPr>
          <a:xfrm>
            <a:off x="822960" y="539038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454396"/>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45439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東芝</a:t>
            </a:r>
          </a:p>
        </p:txBody>
      </p:sp>
      <p:sp>
        <p:nvSpPr>
          <p:cNvPr id="45" name="TextBox 44"/>
          <p:cNvSpPr txBox="1"/>
          <p:nvPr/>
        </p:nvSpPr>
        <p:spPr>
          <a:xfrm>
            <a:off x="1024128" y="569214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46" name="TextBox 45"/>
          <p:cNvSpPr txBox="1"/>
          <p:nvPr/>
        </p:nvSpPr>
        <p:spPr>
          <a:xfrm>
            <a:off x="3566160" y="5454396"/>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データセンター新設・電力設備更新需要を受け、送変電機器（GIS・遮断器）事業に2027年度までに総額約550億円の増産投資を実施。</a:t>
            </a:r>
          </a:p>
        </p:txBody>
      </p:sp>
      <p:sp>
        <p:nvSpPr>
          <p:cNvPr id="47" name="Rectangle 46"/>
          <p:cNvSpPr/>
          <p:nvPr/>
        </p:nvSpPr>
        <p:spPr>
          <a:xfrm>
            <a:off x="822960" y="605790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6121907"/>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612190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日新電機</a:t>
            </a:r>
          </a:p>
        </p:txBody>
      </p:sp>
      <p:sp>
        <p:nvSpPr>
          <p:cNvPr id="50" name="TextBox 49"/>
          <p:cNvSpPr txBox="1"/>
          <p:nvPr/>
        </p:nvSpPr>
        <p:spPr>
          <a:xfrm>
            <a:off x="1024128" y="635965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51" name="TextBox 50"/>
          <p:cNvSpPr txBox="1"/>
          <p:nvPr/>
        </p:nvSpPr>
        <p:spPr>
          <a:xfrm>
            <a:off x="3566160" y="6121907"/>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レベニューキャップ制度導入や半導体工場・風力発電向け民需拡大でGIS需要が急増し、国内にGIS第二工場を新設。</a:t>
            </a:r>
          </a:p>
        </p:txBody>
      </p:sp>
      <p:sp>
        <p:nvSpPr>
          <p:cNvPr id="52" name="Rectangle 51"/>
          <p:cNvSpPr/>
          <p:nvPr/>
        </p:nvSpPr>
        <p:spPr>
          <a:xfrm>
            <a:off x="822960" y="652881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5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03  </a:t>
            </a:r>
            <a:r>
              <a:rPr sz="1250" b="1">
                <a:solidFill>
                  <a:srgbClr val="373C43"/>
                </a:solidFill>
                <a:latin typeface="Noto Sans JP"/>
                <a:ea typeface="Noto Sans JP"/>
              </a:rPr>
              <a:t>送配電（開閉装置・遮断器）</a:t>
            </a:r>
            <a:r>
              <a:rPr sz="900" b="1">
                <a:solidFill>
                  <a:srgbClr val="9AA1A9"/>
                </a:solidFill>
                <a:latin typeface="Consolas"/>
                <a:ea typeface="Consolas"/>
              </a:rPr>
              <a:t>　11社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Hitachi Energy</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AI向けデータセンター・再エネ系統連系による変圧器・グリッド設備の世界的需給逼迫を受け、北米を中心に総額60億ドル超の増産投資を実施。</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ABB</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瑞 ABBN</a:t>
            </a:r>
          </a:p>
        </p:txBody>
      </p:sp>
      <p:sp>
        <p:nvSpPr>
          <p:cNvPr id="18" name="TextBox 17"/>
          <p:cNvSpPr txBox="1"/>
          <p:nvPr/>
        </p:nvSpPr>
        <p:spPr>
          <a:xfrm>
            <a:off x="3566160" y="223113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Electrification（電化）事業でデータセンター向け受注が3桁成長し、全社受注高が過去最高を更新。</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02051"/>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702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Siemens Energy</a:t>
            </a:r>
          </a:p>
        </p:txBody>
      </p:sp>
      <p:sp>
        <p:nvSpPr>
          <p:cNvPr id="22" name="TextBox 21"/>
          <p:cNvSpPr txBox="1"/>
          <p:nvPr/>
        </p:nvSpPr>
        <p:spPr>
          <a:xfrm>
            <a:off x="1024128" y="29397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独 ENR</a:t>
            </a:r>
          </a:p>
        </p:txBody>
      </p:sp>
      <p:sp>
        <p:nvSpPr>
          <p:cNvPr id="23" name="TextBox 22"/>
          <p:cNvSpPr txBox="1"/>
          <p:nvPr/>
        </p:nvSpPr>
        <p:spPr>
          <a:xfrm>
            <a:off x="3566160" y="270205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Grid Technologies（送配電機器）部門の受注が前年同期比41%増と急拡大し、グループ全体の受注残が過去最高を更新。</a:t>
            </a:r>
          </a:p>
        </p:txBody>
      </p:sp>
      <p:sp>
        <p:nvSpPr>
          <p:cNvPr id="24" name="Rectangle 23"/>
          <p:cNvSpPr/>
          <p:nvPr/>
        </p:nvSpPr>
        <p:spPr>
          <a:xfrm>
            <a:off x="822960" y="33055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369563"/>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36956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Schneider Electric</a:t>
            </a:r>
          </a:p>
        </p:txBody>
      </p:sp>
      <p:sp>
        <p:nvSpPr>
          <p:cNvPr id="27" name="TextBox 26"/>
          <p:cNvSpPr txBox="1"/>
          <p:nvPr/>
        </p:nvSpPr>
        <p:spPr>
          <a:xfrm>
            <a:off x="1024128" y="360730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仏 SU</a:t>
            </a:r>
          </a:p>
        </p:txBody>
      </p:sp>
      <p:sp>
        <p:nvSpPr>
          <p:cNvPr id="28" name="TextBox 27"/>
          <p:cNvSpPr txBox="1"/>
          <p:nvPr/>
        </p:nvSpPr>
        <p:spPr>
          <a:xfrm>
            <a:off x="3566160" y="3369563"/>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Energy Management事業のPower &amp; Gridがデータセンター向けSF6フリー中電圧開閉装置の需要拡大で牽引し、四半期売上高が過去最高を更新。</a:t>
            </a:r>
          </a:p>
        </p:txBody>
      </p:sp>
      <p:sp>
        <p:nvSpPr>
          <p:cNvPr id="29" name="Rectangle 28"/>
          <p:cNvSpPr/>
          <p:nvPr/>
        </p:nvSpPr>
        <p:spPr>
          <a:xfrm>
            <a:off x="822960" y="397306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037076"/>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03707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Eaton</a:t>
            </a:r>
          </a:p>
        </p:txBody>
      </p:sp>
      <p:sp>
        <p:nvSpPr>
          <p:cNvPr id="32" name="TextBox 31"/>
          <p:cNvSpPr txBox="1"/>
          <p:nvPr/>
        </p:nvSpPr>
        <p:spPr>
          <a:xfrm>
            <a:off x="1024128" y="427482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愛 ETN</a:t>
            </a:r>
          </a:p>
        </p:txBody>
      </p:sp>
      <p:sp>
        <p:nvSpPr>
          <p:cNvPr id="33" name="TextBox 32"/>
          <p:cNvSpPr txBox="1"/>
          <p:nvPr/>
        </p:nvSpPr>
        <p:spPr>
          <a:xfrm>
            <a:off x="3566160" y="403707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Electrical（電化）事業のデータセンター向け受注が前年同期比240%急増し、バックログが過去最高水準に拡大。</a:t>
            </a:r>
          </a:p>
        </p:txBody>
      </p:sp>
      <p:sp>
        <p:nvSpPr>
          <p:cNvPr id="34" name="Rectangle 33"/>
          <p:cNvSpPr/>
          <p:nvPr/>
        </p:nvSpPr>
        <p:spPr>
          <a:xfrm>
            <a:off x="822960" y="444398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507992"/>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50799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G&amp;W Electric</a:t>
            </a:r>
          </a:p>
        </p:txBody>
      </p:sp>
      <p:sp>
        <p:nvSpPr>
          <p:cNvPr id="37" name="TextBox 36"/>
          <p:cNvSpPr txBox="1"/>
          <p:nvPr/>
        </p:nvSpPr>
        <p:spPr>
          <a:xfrm>
            <a:off x="1024128" y="474573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38" name="TextBox 37"/>
          <p:cNvSpPr txBox="1"/>
          <p:nvPr/>
        </p:nvSpPr>
        <p:spPr>
          <a:xfrm>
            <a:off x="3566160" y="4507992"/>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データセンター向けに特化した中電圧開閉装置（99.999%信頼性）が業界内で強い地位を確立し、メキシコ工場を増設。</a:t>
            </a:r>
          </a:p>
        </p:txBody>
      </p:sp>
      <p:sp>
        <p:nvSpPr>
          <p:cNvPr id="39" name="Rectangle 38"/>
          <p:cNvSpPr/>
          <p:nvPr/>
        </p:nvSpPr>
        <p:spPr>
          <a:xfrm>
            <a:off x="822960" y="491490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4978907"/>
            <a:ext cx="50292" cy="5394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497890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S&amp;C Electric Company</a:t>
            </a:r>
          </a:p>
        </p:txBody>
      </p:sp>
      <p:sp>
        <p:nvSpPr>
          <p:cNvPr id="42" name="TextBox 41"/>
          <p:cNvSpPr txBox="1"/>
          <p:nvPr/>
        </p:nvSpPr>
        <p:spPr>
          <a:xfrm>
            <a:off x="1024128" y="521665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43" name="TextBox 42"/>
          <p:cNvSpPr txBox="1"/>
          <p:nvPr/>
        </p:nvSpPr>
        <p:spPr>
          <a:xfrm>
            <a:off x="3566160" y="497890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データセンター向け地下配電用開閉装置（Vista）の需要が建設ペースに供給が追いつかないほど拡大し、バックログ・納期が長期化。</a:t>
            </a:r>
          </a:p>
        </p:txBody>
      </p:sp>
      <p:sp>
        <p:nvSpPr>
          <p:cNvPr id="44" name="Rectangle 43"/>
          <p:cNvSpPr/>
          <p:nvPr/>
        </p:nvSpPr>
        <p:spPr>
          <a:xfrm>
            <a:off x="822960" y="558241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960" y="5710428"/>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78992" y="5646420"/>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04  </a:t>
            </a:r>
            <a:r>
              <a:rPr sz="1250" b="1">
                <a:solidFill>
                  <a:srgbClr val="15181C"/>
                </a:solidFill>
                <a:latin typeface="Noto Sans JP"/>
                <a:ea typeface="Noto Sans JP"/>
              </a:rPr>
              <a:t>DC建設ゼネコン</a:t>
            </a:r>
            <a:r>
              <a:rPr sz="900" b="1">
                <a:solidFill>
                  <a:srgbClr val="9AA1A9"/>
                </a:solidFill>
                <a:latin typeface="Consolas"/>
                <a:ea typeface="Consolas"/>
              </a:rPr>
              <a:t>　13社 ・ 優先度 高</a:t>
            </a:r>
          </a:p>
        </p:txBody>
      </p:sp>
      <p:sp>
        <p:nvSpPr>
          <p:cNvPr id="47" name="Rectangle 46"/>
          <p:cNvSpPr/>
          <p:nvPr/>
        </p:nvSpPr>
        <p:spPr>
          <a:xfrm>
            <a:off x="822960" y="6039612"/>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6121907"/>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612190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鹿島建設</a:t>
            </a:r>
          </a:p>
        </p:txBody>
      </p:sp>
      <p:sp>
        <p:nvSpPr>
          <p:cNvPr id="50" name="TextBox 49"/>
          <p:cNvSpPr txBox="1"/>
          <p:nvPr/>
        </p:nvSpPr>
        <p:spPr>
          <a:xfrm>
            <a:off x="1024128" y="635965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1812</a:t>
            </a:r>
          </a:p>
        </p:txBody>
      </p:sp>
      <p:sp>
        <p:nvSpPr>
          <p:cNvPr id="51" name="TextBox 50"/>
          <p:cNvSpPr txBox="1"/>
          <p:nvPr/>
        </p:nvSpPr>
        <p:spPr>
          <a:xfrm>
            <a:off x="3566160" y="6121907"/>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建築事業でデータセンター等大型工事の施工量増加により売上・利益が急拡大し建設業として初の単体売上高3兆円を突破。</a:t>
            </a:r>
          </a:p>
        </p:txBody>
      </p:sp>
      <p:sp>
        <p:nvSpPr>
          <p:cNvPr id="52" name="Rectangle 51"/>
          <p:cNvSpPr/>
          <p:nvPr/>
        </p:nvSpPr>
        <p:spPr>
          <a:xfrm>
            <a:off x="822960" y="652881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6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04  </a:t>
            </a:r>
            <a:r>
              <a:rPr sz="1250" b="1">
                <a:solidFill>
                  <a:srgbClr val="373C43"/>
                </a:solidFill>
                <a:latin typeface="Noto Sans JP"/>
                <a:ea typeface="Noto Sans JP"/>
              </a:rPr>
              <a:t>DC建設ゼネコン</a:t>
            </a:r>
            <a:r>
              <a:rPr sz="900" b="1">
                <a:solidFill>
                  <a:srgbClr val="9AA1A9"/>
                </a:solidFill>
                <a:latin typeface="Consolas"/>
                <a:ea typeface="Consolas"/>
              </a:rPr>
              <a:t>　13社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大成建設</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1801</a:t>
            </a:r>
          </a:p>
        </p:txBody>
      </p:sp>
      <p:sp>
        <p:nvSpPr>
          <p:cNvPr id="13" name="TextBox 12"/>
          <p:cNvSpPr txBox="1"/>
          <p:nvPr/>
        </p:nvSpPr>
        <p:spPr>
          <a:xfrm>
            <a:off x="3566160" y="156362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中期経営計画（2024-2026）で新たな注力分野としてデータセンターを明記し運営ノウハウの商品企画反映を推進。</a:t>
            </a:r>
          </a:p>
        </p:txBody>
      </p:sp>
      <p:sp>
        <p:nvSpPr>
          <p:cNvPr id="14" name="Rectangle 13"/>
          <p:cNvSpPr/>
          <p:nvPr/>
        </p:nvSpPr>
        <p:spPr>
          <a:xfrm>
            <a:off x="822960" y="197053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034539"/>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0345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清水建設</a:t>
            </a:r>
          </a:p>
        </p:txBody>
      </p:sp>
      <p:sp>
        <p:nvSpPr>
          <p:cNvPr id="17" name="TextBox 16"/>
          <p:cNvSpPr txBox="1"/>
          <p:nvPr/>
        </p:nvSpPr>
        <p:spPr>
          <a:xfrm>
            <a:off x="1024128" y="22722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1803</a:t>
            </a:r>
          </a:p>
        </p:txBody>
      </p:sp>
      <p:sp>
        <p:nvSpPr>
          <p:cNvPr id="18" name="TextBox 17"/>
          <p:cNvSpPr txBox="1"/>
          <p:nvPr/>
        </p:nvSpPr>
        <p:spPr>
          <a:xfrm>
            <a:off x="3566160" y="203453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データセンターを建築事業の主要需要分野と位置づけつつ適正工期・適正価格での選別受注方針を強化。</a:t>
            </a:r>
          </a:p>
        </p:txBody>
      </p:sp>
      <p:sp>
        <p:nvSpPr>
          <p:cNvPr id="19" name="Rectangle 18"/>
          <p:cNvSpPr/>
          <p:nvPr/>
        </p:nvSpPr>
        <p:spPr>
          <a:xfrm>
            <a:off x="822960" y="24414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505456"/>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50545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大林組</a:t>
            </a:r>
          </a:p>
        </p:txBody>
      </p:sp>
      <p:sp>
        <p:nvSpPr>
          <p:cNvPr id="22" name="TextBox 21"/>
          <p:cNvSpPr txBox="1"/>
          <p:nvPr/>
        </p:nvSpPr>
        <p:spPr>
          <a:xfrm>
            <a:off x="1024128" y="274320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1802</a:t>
            </a:r>
          </a:p>
        </p:txBody>
      </p:sp>
      <p:sp>
        <p:nvSpPr>
          <p:cNvPr id="23" name="TextBox 22"/>
          <p:cNvSpPr txBox="1"/>
          <p:nvPr/>
        </p:nvSpPr>
        <p:spPr>
          <a:xfrm>
            <a:off x="3566160" y="250545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米データセンター・半導体工場専門建設会社GCON社を買収し北米でのデータセンター受注拡大を狙う。</a:t>
            </a:r>
          </a:p>
        </p:txBody>
      </p:sp>
      <p:sp>
        <p:nvSpPr>
          <p:cNvPr id="24" name="Rectangle 23"/>
          <p:cNvSpPr/>
          <p:nvPr/>
        </p:nvSpPr>
        <p:spPr>
          <a:xfrm>
            <a:off x="822960" y="29123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2976372"/>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29763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竹中工務店</a:t>
            </a:r>
          </a:p>
        </p:txBody>
      </p:sp>
      <p:sp>
        <p:nvSpPr>
          <p:cNvPr id="27" name="TextBox 26"/>
          <p:cNvSpPr txBox="1"/>
          <p:nvPr/>
        </p:nvSpPr>
        <p:spPr>
          <a:xfrm>
            <a:off x="1024128" y="32141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8" name="TextBox 27"/>
          <p:cNvSpPr txBox="1"/>
          <p:nvPr/>
        </p:nvSpPr>
        <p:spPr>
          <a:xfrm>
            <a:off x="3566160" y="2976372"/>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業界初のデータセンター特化型設計支援ツールを自社開発しAI普及に伴う建設需要への提案スピードを強化。</a:t>
            </a:r>
          </a:p>
        </p:txBody>
      </p:sp>
      <p:sp>
        <p:nvSpPr>
          <p:cNvPr id="29" name="Rectangle 28"/>
          <p:cNvSpPr/>
          <p:nvPr/>
        </p:nvSpPr>
        <p:spPr>
          <a:xfrm>
            <a:off x="822960" y="338328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3447288"/>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344728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戸田建設</a:t>
            </a:r>
          </a:p>
        </p:txBody>
      </p:sp>
      <p:sp>
        <p:nvSpPr>
          <p:cNvPr id="32" name="TextBox 31"/>
          <p:cNvSpPr txBox="1"/>
          <p:nvPr/>
        </p:nvSpPr>
        <p:spPr>
          <a:xfrm>
            <a:off x="1024128" y="368503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1860</a:t>
            </a:r>
          </a:p>
        </p:txBody>
      </p:sp>
      <p:sp>
        <p:nvSpPr>
          <p:cNvPr id="33" name="TextBox 32"/>
          <p:cNvSpPr txBox="1"/>
          <p:nvPr/>
        </p:nvSpPr>
        <p:spPr>
          <a:xfrm>
            <a:off x="3566160" y="3447288"/>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関西けいはんな地区の大型データセンターキャンパス「KIX01A」（総電力容量80MW）の新築工事を受注。</a:t>
            </a:r>
          </a:p>
        </p:txBody>
      </p:sp>
      <p:sp>
        <p:nvSpPr>
          <p:cNvPr id="34" name="Rectangle 33"/>
          <p:cNvSpPr/>
          <p:nvPr/>
        </p:nvSpPr>
        <p:spPr>
          <a:xfrm>
            <a:off x="822960" y="385419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3918204"/>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391820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西松建設</a:t>
            </a:r>
          </a:p>
        </p:txBody>
      </p:sp>
      <p:sp>
        <p:nvSpPr>
          <p:cNvPr id="37" name="TextBox 36"/>
          <p:cNvSpPr txBox="1"/>
          <p:nvPr/>
        </p:nvSpPr>
        <p:spPr>
          <a:xfrm>
            <a:off x="1024128" y="415594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1820</a:t>
            </a:r>
          </a:p>
        </p:txBody>
      </p:sp>
      <p:sp>
        <p:nvSpPr>
          <p:cNvPr id="38" name="TextBox 37"/>
          <p:cNvSpPr txBox="1"/>
          <p:nvPr/>
        </p:nvSpPr>
        <p:spPr>
          <a:xfrm>
            <a:off x="3566160" y="391820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中期経営計画2025でデータセンターを注力分野に明記し国内建築事業の高収益体質への転換を推進。</a:t>
            </a:r>
          </a:p>
        </p:txBody>
      </p:sp>
      <p:sp>
        <p:nvSpPr>
          <p:cNvPr id="39" name="Rectangle 38"/>
          <p:cNvSpPr/>
          <p:nvPr/>
        </p:nvSpPr>
        <p:spPr>
          <a:xfrm>
            <a:off x="822960" y="432511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4389120"/>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438912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Turner Construction</a:t>
            </a:r>
          </a:p>
        </p:txBody>
      </p:sp>
      <p:sp>
        <p:nvSpPr>
          <p:cNvPr id="42" name="TextBox 41"/>
          <p:cNvSpPr txBox="1"/>
          <p:nvPr/>
        </p:nvSpPr>
        <p:spPr>
          <a:xfrm>
            <a:off x="1024128" y="462686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43" name="TextBox 42"/>
          <p:cNvSpPr txBox="1"/>
          <p:nvPr/>
        </p:nvSpPr>
        <p:spPr>
          <a:xfrm>
            <a:off x="3566160" y="4389120"/>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データセンター売上が2024年36億ドルから2025年約90億ドルへ倍増し全社受注残の約4割をデータセンターが占める。</a:t>
            </a:r>
          </a:p>
        </p:txBody>
      </p:sp>
      <p:sp>
        <p:nvSpPr>
          <p:cNvPr id="44" name="Rectangle 43"/>
          <p:cNvSpPr/>
          <p:nvPr/>
        </p:nvSpPr>
        <p:spPr>
          <a:xfrm>
            <a:off x="822960" y="479602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960" y="4860036"/>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4128" y="486003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DPR Construction</a:t>
            </a:r>
          </a:p>
        </p:txBody>
      </p:sp>
      <p:sp>
        <p:nvSpPr>
          <p:cNvPr id="47" name="TextBox 46"/>
          <p:cNvSpPr txBox="1"/>
          <p:nvPr/>
        </p:nvSpPr>
        <p:spPr>
          <a:xfrm>
            <a:off x="1024128" y="50977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48" name="TextBox 47"/>
          <p:cNvSpPr txBox="1"/>
          <p:nvPr/>
        </p:nvSpPr>
        <p:spPr>
          <a:xfrm>
            <a:off x="3566160" y="4860036"/>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ミッションクリティカル事業が全社売上の3割を占め、Meta史上最大級データセンター案件（ルイジアナ州）で約200万平方フィートを施工。</a:t>
            </a:r>
          </a:p>
        </p:txBody>
      </p:sp>
      <p:sp>
        <p:nvSpPr>
          <p:cNvPr id="49" name="Rectangle 48"/>
          <p:cNvSpPr/>
          <p:nvPr/>
        </p:nvSpPr>
        <p:spPr>
          <a:xfrm>
            <a:off x="822960" y="546354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2960" y="5527547"/>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24128" y="55275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Holder Construction</a:t>
            </a:r>
          </a:p>
        </p:txBody>
      </p:sp>
      <p:sp>
        <p:nvSpPr>
          <p:cNvPr id="52" name="TextBox 51"/>
          <p:cNvSpPr txBox="1"/>
          <p:nvPr/>
        </p:nvSpPr>
        <p:spPr>
          <a:xfrm>
            <a:off x="1024128" y="57652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53" name="TextBox 52"/>
          <p:cNvSpPr txBox="1"/>
          <p:nvPr/>
        </p:nvSpPr>
        <p:spPr>
          <a:xfrm>
            <a:off x="3566160" y="5527547"/>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データセンター・通信分野の受注拡大を背景にENR全米建設会社ランキングで前年30位から15位へ急浮上。</a:t>
            </a:r>
          </a:p>
        </p:txBody>
      </p:sp>
      <p:sp>
        <p:nvSpPr>
          <p:cNvPr id="54" name="Rectangle 53"/>
          <p:cNvSpPr/>
          <p:nvPr/>
        </p:nvSpPr>
        <p:spPr>
          <a:xfrm>
            <a:off x="822960" y="5934455"/>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960" y="5998463"/>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24128" y="599846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Mortenson</a:t>
            </a:r>
          </a:p>
        </p:txBody>
      </p:sp>
      <p:sp>
        <p:nvSpPr>
          <p:cNvPr id="57" name="TextBox 56"/>
          <p:cNvSpPr txBox="1"/>
          <p:nvPr/>
        </p:nvSpPr>
        <p:spPr>
          <a:xfrm>
            <a:off x="1024128" y="623620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58" name="TextBox 57"/>
          <p:cNvSpPr txBox="1"/>
          <p:nvPr/>
        </p:nvSpPr>
        <p:spPr>
          <a:xfrm>
            <a:off x="3566160" y="5998463"/>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AI需要主導のデータセンター案件が2025年受注残の約2割を占め、Meta向け10億ドル規模データセンター等を受注。</a:t>
            </a:r>
          </a:p>
        </p:txBody>
      </p:sp>
      <p:sp>
        <p:nvSpPr>
          <p:cNvPr id="59" name="Rectangle 58"/>
          <p:cNvSpPr/>
          <p:nvPr/>
        </p:nvSpPr>
        <p:spPr>
          <a:xfrm>
            <a:off x="822960" y="640537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7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04  </a:t>
            </a:r>
            <a:r>
              <a:rPr sz="1250" b="1">
                <a:solidFill>
                  <a:srgbClr val="373C43"/>
                </a:solidFill>
                <a:latin typeface="Noto Sans JP"/>
                <a:ea typeface="Noto Sans JP"/>
              </a:rPr>
              <a:t>DC建設ゼネコン</a:t>
            </a:r>
            <a:r>
              <a:rPr sz="900" b="1">
                <a:solidFill>
                  <a:srgbClr val="9AA1A9"/>
                </a:solidFill>
                <a:latin typeface="Consolas"/>
                <a:ea typeface="Consolas"/>
              </a:rPr>
              <a:t>　13社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STOビルディンググループ</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13" name="TextBox 12"/>
          <p:cNvSpPr txBox="1"/>
          <p:nvPr/>
        </p:nvSpPr>
        <p:spPr>
          <a:xfrm>
            <a:off x="3566160" y="156362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データセンター・ミッションクリティカル案件を2025年の重点成長分野に位置付け受注残1年超のバックログを確保。</a:t>
            </a:r>
          </a:p>
        </p:txBody>
      </p:sp>
      <p:sp>
        <p:nvSpPr>
          <p:cNvPr id="14" name="Rectangle 13"/>
          <p:cNvSpPr/>
          <p:nvPr/>
        </p:nvSpPr>
        <p:spPr>
          <a:xfrm>
            <a:off x="822960" y="197053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034539"/>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0345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Fortis Construction</a:t>
            </a:r>
          </a:p>
        </p:txBody>
      </p:sp>
      <p:sp>
        <p:nvSpPr>
          <p:cNvPr id="17" name="TextBox 16"/>
          <p:cNvSpPr txBox="1"/>
          <p:nvPr/>
        </p:nvSpPr>
        <p:spPr>
          <a:xfrm>
            <a:off x="1024128" y="22722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18" name="TextBox 17"/>
          <p:cNvSpPr txBox="1"/>
          <p:nvPr/>
        </p:nvSpPr>
        <p:spPr>
          <a:xfrm>
            <a:off x="3566160" y="203453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8年連続で全米データセンター建設請負業者トップ10にランクインしハイパースケーラーとのリピート受注が拡大。</a:t>
            </a:r>
          </a:p>
        </p:txBody>
      </p:sp>
      <p:sp>
        <p:nvSpPr>
          <p:cNvPr id="19" name="Rectangle 18"/>
          <p:cNvSpPr/>
          <p:nvPr/>
        </p:nvSpPr>
        <p:spPr>
          <a:xfrm>
            <a:off x="822960" y="24414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569464"/>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250545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05  </a:t>
            </a:r>
            <a:r>
              <a:rPr sz="1250" b="1">
                <a:solidFill>
                  <a:srgbClr val="15181C"/>
                </a:solidFill>
                <a:latin typeface="Noto Sans JP"/>
                <a:ea typeface="Noto Sans JP"/>
              </a:rPr>
              <a:t>DC電気・空調サブコン</a:t>
            </a:r>
            <a:r>
              <a:rPr sz="900" b="1">
                <a:solidFill>
                  <a:srgbClr val="9AA1A9"/>
                </a:solidFill>
                <a:latin typeface="Consolas"/>
                <a:ea typeface="Consolas"/>
              </a:rPr>
              <a:t>　10社 ・ 優先度 高</a:t>
            </a:r>
          </a:p>
        </p:txBody>
      </p:sp>
      <p:sp>
        <p:nvSpPr>
          <p:cNvPr id="22" name="Rectangle 21"/>
          <p:cNvSpPr/>
          <p:nvPr/>
        </p:nvSpPr>
        <p:spPr>
          <a:xfrm>
            <a:off x="822960" y="289864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298094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298094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きんでん</a:t>
            </a:r>
          </a:p>
        </p:txBody>
      </p:sp>
      <p:sp>
        <p:nvSpPr>
          <p:cNvPr id="25" name="TextBox 24"/>
          <p:cNvSpPr txBox="1"/>
          <p:nvPr/>
        </p:nvSpPr>
        <p:spPr>
          <a:xfrm>
            <a:off x="1024128" y="321868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1944</a:t>
            </a:r>
          </a:p>
        </p:txBody>
      </p:sp>
      <p:sp>
        <p:nvSpPr>
          <p:cNvPr id="26" name="TextBox 25"/>
          <p:cNvSpPr txBox="1"/>
          <p:nvPr/>
        </p:nvSpPr>
        <p:spPr>
          <a:xfrm>
            <a:off x="3566160" y="298094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データセンター・物流施設向け一般電気工事の受注が急拡大し、一般電気工事部門の受注高が前年同期比21.0%増の3194億円に達した。</a:t>
            </a:r>
          </a:p>
        </p:txBody>
      </p:sp>
      <p:sp>
        <p:nvSpPr>
          <p:cNvPr id="27" name="Rectangle 26"/>
          <p:cNvSpPr/>
          <p:nvPr/>
        </p:nvSpPr>
        <p:spPr>
          <a:xfrm>
            <a:off x="822960" y="35844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3648456"/>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364845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クラフティア</a:t>
            </a:r>
          </a:p>
        </p:txBody>
      </p:sp>
      <p:sp>
        <p:nvSpPr>
          <p:cNvPr id="30" name="TextBox 29"/>
          <p:cNvSpPr txBox="1"/>
          <p:nvPr/>
        </p:nvSpPr>
        <p:spPr>
          <a:xfrm>
            <a:off x="1024128" y="388620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1959</a:t>
            </a:r>
          </a:p>
        </p:txBody>
      </p:sp>
      <p:sp>
        <p:nvSpPr>
          <p:cNvPr id="31" name="TextBox 30"/>
          <p:cNvSpPr txBox="1"/>
          <p:nvPr/>
        </p:nvSpPr>
        <p:spPr>
          <a:xfrm>
            <a:off x="3566160" y="3648456"/>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首都圏再開発・関西統合型リゾートと並びデータセンター関連工事を中心に受注活動を強化し、中間期受注高が前年同期比20.8%増の2752億円に拡大。</a:t>
            </a:r>
          </a:p>
        </p:txBody>
      </p:sp>
      <p:sp>
        <p:nvSpPr>
          <p:cNvPr id="32" name="Rectangle 31"/>
          <p:cNvSpPr/>
          <p:nvPr/>
        </p:nvSpPr>
        <p:spPr>
          <a:xfrm>
            <a:off x="822960" y="425196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315968"/>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31596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関電工</a:t>
            </a:r>
          </a:p>
        </p:txBody>
      </p:sp>
      <p:sp>
        <p:nvSpPr>
          <p:cNvPr id="35" name="TextBox 34"/>
          <p:cNvSpPr txBox="1"/>
          <p:nvPr/>
        </p:nvSpPr>
        <p:spPr>
          <a:xfrm>
            <a:off x="1024128" y="455371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1942</a:t>
            </a:r>
          </a:p>
        </p:txBody>
      </p:sp>
      <p:sp>
        <p:nvSpPr>
          <p:cNvPr id="36" name="TextBox 35"/>
          <p:cNvSpPr txBox="1"/>
          <p:nvPr/>
        </p:nvSpPr>
        <p:spPr>
          <a:xfrm>
            <a:off x="3566160" y="4315968"/>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データセンター・半導体工場向け電気設備工事とビル再開発案件の受注拡大により、2026年3月期は連続最高益を更新する見通し。</a:t>
            </a:r>
          </a:p>
        </p:txBody>
      </p:sp>
      <p:sp>
        <p:nvSpPr>
          <p:cNvPr id="37" name="Rectangle 36"/>
          <p:cNvSpPr/>
          <p:nvPr/>
        </p:nvSpPr>
        <p:spPr>
          <a:xfrm>
            <a:off x="822960" y="47228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4786883"/>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478688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ダイダン</a:t>
            </a:r>
          </a:p>
        </p:txBody>
      </p:sp>
      <p:sp>
        <p:nvSpPr>
          <p:cNvPr id="40" name="TextBox 39"/>
          <p:cNvSpPr txBox="1"/>
          <p:nvPr/>
        </p:nvSpPr>
        <p:spPr>
          <a:xfrm>
            <a:off x="1024128" y="502462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1980</a:t>
            </a:r>
          </a:p>
        </p:txBody>
      </p:sp>
      <p:sp>
        <p:nvSpPr>
          <p:cNvPr id="41" name="TextBox 40"/>
          <p:cNvSpPr txBox="1"/>
          <p:nvPr/>
        </p:nvSpPr>
        <p:spPr>
          <a:xfrm>
            <a:off x="3566160" y="4786883"/>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データセンター新設に伴う大型空調工事案件の急増により受注工事高が前年同期比25.5%増の3531億円に拡大。</a:t>
            </a:r>
          </a:p>
        </p:txBody>
      </p:sp>
      <p:sp>
        <p:nvSpPr>
          <p:cNvPr id="42" name="Rectangle 41"/>
          <p:cNvSpPr/>
          <p:nvPr/>
        </p:nvSpPr>
        <p:spPr>
          <a:xfrm>
            <a:off x="822960" y="519379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25779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25779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高砂熱学工業</a:t>
            </a:r>
          </a:p>
        </p:txBody>
      </p:sp>
      <p:sp>
        <p:nvSpPr>
          <p:cNvPr id="45" name="TextBox 44"/>
          <p:cNvSpPr txBox="1"/>
          <p:nvPr/>
        </p:nvSpPr>
        <p:spPr>
          <a:xfrm>
            <a:off x="1024128" y="549554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1969</a:t>
            </a:r>
          </a:p>
        </p:txBody>
      </p:sp>
      <p:sp>
        <p:nvSpPr>
          <p:cNvPr id="46" name="TextBox 45"/>
          <p:cNvSpPr txBox="1"/>
          <p:nvPr/>
        </p:nvSpPr>
        <p:spPr>
          <a:xfrm>
            <a:off x="3566160" y="525779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AI・半導体・データセンター特需を独占的に取り込み、Rapidus千歳IIM採用など先端顧客との直接取引拡大により4期連続で過去最高益を更新。</a:t>
            </a:r>
          </a:p>
        </p:txBody>
      </p:sp>
      <p:sp>
        <p:nvSpPr>
          <p:cNvPr id="47" name="Rectangle 46"/>
          <p:cNvSpPr/>
          <p:nvPr/>
        </p:nvSpPr>
        <p:spPr>
          <a:xfrm>
            <a:off x="822960" y="586130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592531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592531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新日本空調</a:t>
            </a:r>
          </a:p>
        </p:txBody>
      </p:sp>
      <p:sp>
        <p:nvSpPr>
          <p:cNvPr id="50" name="TextBox 49"/>
          <p:cNvSpPr txBox="1"/>
          <p:nvPr/>
        </p:nvSpPr>
        <p:spPr>
          <a:xfrm>
            <a:off x="1024128" y="616305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1952</a:t>
            </a:r>
          </a:p>
        </p:txBody>
      </p:sp>
      <p:sp>
        <p:nvSpPr>
          <p:cNvPr id="51" name="TextBox 50"/>
          <p:cNvSpPr txBox="1"/>
          <p:nvPr/>
        </p:nvSpPr>
        <p:spPr>
          <a:xfrm>
            <a:off x="3566160" y="592531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半導体クリーンルーム・データセンター向けを含む「産業」セグメントの完成工事高が全体の57%超を占め、受注高・繰越高とも過去最高を更新。</a:t>
            </a:r>
          </a:p>
        </p:txBody>
      </p:sp>
      <p:sp>
        <p:nvSpPr>
          <p:cNvPr id="52" name="Rectangle 51"/>
          <p:cNvSpPr/>
          <p:nvPr/>
        </p:nvSpPr>
        <p:spPr>
          <a:xfrm>
            <a:off x="822960" y="652881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8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05  </a:t>
            </a:r>
            <a:r>
              <a:rPr sz="1250" b="1">
                <a:solidFill>
                  <a:srgbClr val="373C43"/>
                </a:solidFill>
                <a:latin typeface="Noto Sans JP"/>
                <a:ea typeface="Noto Sans JP"/>
              </a:rPr>
              <a:t>DC電気・空調サブコン</a:t>
            </a:r>
            <a:r>
              <a:rPr sz="900" b="1">
                <a:solidFill>
                  <a:srgbClr val="9AA1A9"/>
                </a:solidFill>
                <a:latin typeface="Consolas"/>
                <a:ea typeface="Consolas"/>
              </a:rPr>
              <a:t>　10社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三機工業</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1961</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データセンター向け大容量空調システム「L-LAC」等の技術優位性を背景に大型案件受注が続き、営業利益が1983年の連結決算開始以降で過去最高を更新。</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住友電設</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1949</a:t>
            </a:r>
          </a:p>
        </p:txBody>
      </p:sp>
      <p:sp>
        <p:nvSpPr>
          <p:cNvPr id="18" name="TextBox 17"/>
          <p:cNvSpPr txBox="1"/>
          <p:nvPr/>
        </p:nvSpPr>
        <p:spPr>
          <a:xfrm>
            <a:off x="3566160" y="223113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国内外の大型データセンター案件の進捗と再生可能エネルギー関連工事の好調により、営業利益が前期比42.5%増と大幅増益を達成。</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02051"/>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702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日本電設工業</a:t>
            </a:r>
          </a:p>
        </p:txBody>
      </p:sp>
      <p:sp>
        <p:nvSpPr>
          <p:cNvPr id="22" name="TextBox 21"/>
          <p:cNvSpPr txBox="1"/>
          <p:nvPr/>
        </p:nvSpPr>
        <p:spPr>
          <a:xfrm>
            <a:off x="1024128" y="29397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1950</a:t>
            </a:r>
          </a:p>
        </p:txBody>
      </p:sp>
      <p:sp>
        <p:nvSpPr>
          <p:cNvPr id="23" name="TextBox 22"/>
          <p:cNvSpPr txBox="1"/>
          <p:nvPr/>
        </p:nvSpPr>
        <p:spPr>
          <a:xfrm>
            <a:off x="3566160" y="2702051"/>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鉄道会社の設備投資拡大に加え、民間データセンター向け投資の拡大により一般電気工事分野で受注・売上を伸ばし過去最高を更新。</a:t>
            </a:r>
          </a:p>
        </p:txBody>
      </p:sp>
      <p:sp>
        <p:nvSpPr>
          <p:cNvPr id="24" name="Rectangle 23"/>
          <p:cNvSpPr/>
          <p:nvPr/>
        </p:nvSpPr>
        <p:spPr>
          <a:xfrm>
            <a:off x="822960" y="310896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172968"/>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17296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東洋熱工業</a:t>
            </a:r>
          </a:p>
        </p:txBody>
      </p:sp>
      <p:sp>
        <p:nvSpPr>
          <p:cNvPr id="27" name="TextBox 26"/>
          <p:cNvSpPr txBox="1"/>
          <p:nvPr/>
        </p:nvSpPr>
        <p:spPr>
          <a:xfrm>
            <a:off x="1024128" y="341071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8" name="TextBox 27"/>
          <p:cNvSpPr txBox="1"/>
          <p:nvPr/>
        </p:nvSpPr>
        <p:spPr>
          <a:xfrm>
            <a:off x="3566160" y="3172968"/>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データセンター向け高効率冷却ユニット「グリーンアイル」等の独自技術を保有し生成AI普及に伴う空調・冷却需要拡大の恩恵を受ける立場にあるが定量開示は限定的。</a:t>
            </a:r>
          </a:p>
        </p:txBody>
      </p:sp>
      <p:sp>
        <p:nvSpPr>
          <p:cNvPr id="29" name="Rectangle 28"/>
          <p:cNvSpPr/>
          <p:nvPr/>
        </p:nvSpPr>
        <p:spPr>
          <a:xfrm>
            <a:off x="822960" y="377647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3904488"/>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8992" y="3840480"/>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06  </a:t>
            </a:r>
            <a:r>
              <a:rPr sz="1250" b="1">
                <a:solidFill>
                  <a:srgbClr val="15181C"/>
                </a:solidFill>
                <a:latin typeface="Noto Sans JP"/>
                <a:ea typeface="Noto Sans JP"/>
              </a:rPr>
              <a:t>産業冷却・空調（液冷・チラー）</a:t>
            </a:r>
            <a:r>
              <a:rPr sz="900" b="1">
                <a:solidFill>
                  <a:srgbClr val="9AA1A9"/>
                </a:solidFill>
                <a:latin typeface="Consolas"/>
                <a:ea typeface="Consolas"/>
              </a:rPr>
              <a:t>　13社 ・ 優先度 高</a:t>
            </a:r>
          </a:p>
        </p:txBody>
      </p:sp>
      <p:sp>
        <p:nvSpPr>
          <p:cNvPr id="32" name="Rectangle 31"/>
          <p:cNvSpPr/>
          <p:nvPr/>
        </p:nvSpPr>
        <p:spPr>
          <a:xfrm>
            <a:off x="822960" y="4233672"/>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315968"/>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31596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高砂熱学工業</a:t>
            </a:r>
          </a:p>
        </p:txBody>
      </p:sp>
      <p:sp>
        <p:nvSpPr>
          <p:cNvPr id="35" name="TextBox 34"/>
          <p:cNvSpPr txBox="1"/>
          <p:nvPr/>
        </p:nvSpPr>
        <p:spPr>
          <a:xfrm>
            <a:off x="1024128" y="455371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1969</a:t>
            </a:r>
          </a:p>
        </p:txBody>
      </p:sp>
      <p:sp>
        <p:nvSpPr>
          <p:cNvPr id="36" name="TextBox 35"/>
          <p:cNvSpPr txBox="1"/>
          <p:nvPr/>
        </p:nvSpPr>
        <p:spPr>
          <a:xfrm>
            <a:off x="3566160" y="4315968"/>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半導体工場・AIデータセンター向け高難易度空調工事を独占的に受注し2026年3月期は営業利益+47.3%と過去最高益を更新。</a:t>
            </a:r>
          </a:p>
        </p:txBody>
      </p:sp>
      <p:sp>
        <p:nvSpPr>
          <p:cNvPr id="37" name="Rectangle 36"/>
          <p:cNvSpPr/>
          <p:nvPr/>
        </p:nvSpPr>
        <p:spPr>
          <a:xfrm>
            <a:off x="822960" y="47228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4786883"/>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478688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ダイキン工業</a:t>
            </a:r>
          </a:p>
        </p:txBody>
      </p:sp>
      <p:sp>
        <p:nvSpPr>
          <p:cNvPr id="40" name="TextBox 39"/>
          <p:cNvSpPr txBox="1"/>
          <p:nvPr/>
        </p:nvSpPr>
        <p:spPr>
          <a:xfrm>
            <a:off x="1024128" y="502462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6367</a:t>
            </a:r>
          </a:p>
        </p:txBody>
      </p:sp>
      <p:sp>
        <p:nvSpPr>
          <p:cNvPr id="41" name="TextBox 40"/>
          <p:cNvSpPr txBox="1"/>
          <p:nvPr/>
        </p:nvSpPr>
        <p:spPr>
          <a:xfrm>
            <a:off x="3566160" y="4786883"/>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北米データセンター向け冷却事業の売上高を2023年度約230億円から2025年度約1000億円、2030年度3000億円超へ拡大する計画でChilldyne等の液冷企業を相次ぎ買収。</a:t>
            </a:r>
          </a:p>
        </p:txBody>
      </p:sp>
      <p:sp>
        <p:nvSpPr>
          <p:cNvPr id="42" name="Rectangle 41"/>
          <p:cNvSpPr/>
          <p:nvPr/>
        </p:nvSpPr>
        <p:spPr>
          <a:xfrm>
            <a:off x="822960" y="539038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454395"/>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45439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三菱重工サーマルシステムズ</a:t>
            </a:r>
          </a:p>
        </p:txBody>
      </p:sp>
      <p:sp>
        <p:nvSpPr>
          <p:cNvPr id="45" name="TextBox 44"/>
          <p:cNvSpPr txBox="1"/>
          <p:nvPr/>
        </p:nvSpPr>
        <p:spPr>
          <a:xfrm>
            <a:off x="1024128" y="569213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46" name="TextBox 45"/>
          <p:cNvSpPr txBox="1"/>
          <p:nvPr/>
        </p:nvSpPr>
        <p:spPr>
          <a:xfrm>
            <a:off x="3566160" y="545439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国内ターボ冷凍機シェア約70%を背景に半導体工場・データセンター向け受注増に対応してターボ冷凍機を増産。</a:t>
            </a:r>
          </a:p>
        </p:txBody>
      </p:sp>
      <p:sp>
        <p:nvSpPr>
          <p:cNvPr id="47" name="Rectangle 46"/>
          <p:cNvSpPr/>
          <p:nvPr/>
        </p:nvSpPr>
        <p:spPr>
          <a:xfrm>
            <a:off x="822960" y="5861303"/>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5925311"/>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592531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荏原冷熱システム</a:t>
            </a:r>
          </a:p>
        </p:txBody>
      </p:sp>
      <p:sp>
        <p:nvSpPr>
          <p:cNvPr id="50" name="TextBox 49"/>
          <p:cNvSpPr txBox="1"/>
          <p:nvPr/>
        </p:nvSpPr>
        <p:spPr>
          <a:xfrm>
            <a:off x="1024128" y="616305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51" name="TextBox 50"/>
          <p:cNvSpPr txBox="1"/>
          <p:nvPr/>
        </p:nvSpPr>
        <p:spPr>
          <a:xfrm>
            <a:off x="3566160" y="5925311"/>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北米データセンター向け冷却設備（ターボ冷凍機・冷却塔）と欧州・中東向けポンプ販売がAI/データセンター産業拡大に伴い好調。</a:t>
            </a:r>
          </a:p>
        </p:txBody>
      </p:sp>
      <p:sp>
        <p:nvSpPr>
          <p:cNvPr id="52" name="Rectangle 51"/>
          <p:cNvSpPr/>
          <p:nvPr/>
        </p:nvSpPr>
        <p:spPr>
          <a:xfrm>
            <a:off x="822960" y="633221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9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06  </a:t>
            </a:r>
            <a:r>
              <a:rPr sz="1250" b="1">
                <a:solidFill>
                  <a:srgbClr val="373C43"/>
                </a:solidFill>
                <a:latin typeface="Noto Sans JP"/>
                <a:ea typeface="Noto Sans JP"/>
              </a:rPr>
              <a:t>産業冷却・空調（液冷・チラー）</a:t>
            </a:r>
            <a:r>
              <a:rPr sz="900" b="1">
                <a:solidFill>
                  <a:srgbClr val="9AA1A9"/>
                </a:solidFill>
                <a:latin typeface="Consolas"/>
                <a:ea typeface="Consolas"/>
              </a:rPr>
              <a:t>　13社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Vertiv Holdings</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VRT</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AIデータセンター向け液冷需要の急拡大により2025年第4四半期の受注残高が前年比+109%の150億ドル、四半期オーガニック受注は+252%に達した。</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Schneider Electric</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仏 SU</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液冷データセンター冷却大手Motivair社の75%株式を8.5億ドルで取得し「Grid to Chip、Chip to Chiller」の一貫冷却ソリューション体制を強化。</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CoolIT Systems</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AIサーバー向けラック・システムレベル液冷の中核サプライヤーとして急成長し2026年3月にEcolabが47.5億ドルで買収を発表。</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56615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566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Boyd Corporation</a:t>
            </a:r>
          </a:p>
        </p:txBody>
      </p:sp>
      <p:sp>
        <p:nvSpPr>
          <p:cNvPr id="27" name="TextBox 26"/>
          <p:cNvSpPr txBox="1"/>
          <p:nvPr/>
        </p:nvSpPr>
        <p:spPr>
          <a:xfrm>
            <a:off x="1024128" y="3803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8" name="TextBox 27"/>
          <p:cNvSpPr txBox="1"/>
          <p:nvPr/>
        </p:nvSpPr>
        <p:spPr>
          <a:xfrm>
            <a:off x="3566160" y="3566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AIインフラ向けCDU需要急拡大に対応しメキシコ・フアレスの液冷生産拠点を倍増以上に拡張、産業大手Eatonが95億ドルで買収を発表。</a:t>
            </a:r>
          </a:p>
        </p:txBody>
      </p:sp>
      <p:sp>
        <p:nvSpPr>
          <p:cNvPr id="29" name="Rectangle 28"/>
          <p:cNvSpPr/>
          <p:nvPr/>
        </p:nvSpPr>
        <p:spPr>
          <a:xfrm>
            <a:off x="822960" y="4169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23367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233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Asetek</a:t>
            </a:r>
          </a:p>
        </p:txBody>
      </p:sp>
      <p:sp>
        <p:nvSpPr>
          <p:cNvPr id="32" name="TextBox 31"/>
          <p:cNvSpPr txBox="1"/>
          <p:nvPr/>
        </p:nvSpPr>
        <p:spPr>
          <a:xfrm>
            <a:off x="1024128" y="4471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丁 ASETEK</a:t>
            </a:r>
          </a:p>
        </p:txBody>
      </p:sp>
      <p:sp>
        <p:nvSpPr>
          <p:cNvPr id="33" name="TextBox 32"/>
          <p:cNvSpPr txBox="1"/>
          <p:nvPr/>
        </p:nvSpPr>
        <p:spPr>
          <a:xfrm>
            <a:off x="3566160" y="4233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大手OEM顧客との長期契約再開（最低保証3500万ドル・2026年出荷開始）を受け液冷事業の中期売上目標を5000万ドル超から6500万ドル超に上方修正。</a:t>
            </a:r>
          </a:p>
        </p:txBody>
      </p:sp>
      <p:sp>
        <p:nvSpPr>
          <p:cNvPr id="34" name="Rectangle 33"/>
          <p:cNvSpPr/>
          <p:nvPr/>
        </p:nvSpPr>
        <p:spPr>
          <a:xfrm>
            <a:off x="822960" y="4837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90118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90118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Munters Group</a:t>
            </a:r>
          </a:p>
        </p:txBody>
      </p:sp>
      <p:sp>
        <p:nvSpPr>
          <p:cNvPr id="37" name="TextBox 36"/>
          <p:cNvSpPr txBox="1"/>
          <p:nvPr/>
        </p:nvSpPr>
        <p:spPr>
          <a:xfrm>
            <a:off x="1024128" y="513892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典 MTRS</a:t>
            </a:r>
          </a:p>
        </p:txBody>
      </p:sp>
      <p:sp>
        <p:nvSpPr>
          <p:cNvPr id="38" name="TextBox 37"/>
          <p:cNvSpPr txBox="1"/>
          <p:nvPr/>
        </p:nvSpPr>
        <p:spPr>
          <a:xfrm>
            <a:off x="3566160" y="490118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データセンター向けCDU・CRAH等の受注が2025年第4四半期に前年比+416%と急拡大し2026年4月には大型AIデータセンター向けでSEK20億の受注を獲得。</a:t>
            </a:r>
          </a:p>
        </p:txBody>
      </p:sp>
      <p:sp>
        <p:nvSpPr>
          <p:cNvPr id="39" name="Rectangle 38"/>
          <p:cNvSpPr/>
          <p:nvPr/>
        </p:nvSpPr>
        <p:spPr>
          <a:xfrm>
            <a:off x="822960" y="550468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5568696"/>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556869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Trane Technologies</a:t>
            </a:r>
          </a:p>
        </p:txBody>
      </p:sp>
      <p:sp>
        <p:nvSpPr>
          <p:cNvPr id="42" name="TextBox 41"/>
          <p:cNvSpPr txBox="1"/>
          <p:nvPr/>
        </p:nvSpPr>
        <p:spPr>
          <a:xfrm>
            <a:off x="1024128" y="580644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愛 TT</a:t>
            </a:r>
          </a:p>
        </p:txBody>
      </p:sp>
      <p:sp>
        <p:nvSpPr>
          <p:cNvPr id="43" name="TextBox 42"/>
          <p:cNvSpPr txBox="1"/>
          <p:nvPr/>
        </p:nvSpPr>
        <p:spPr>
          <a:xfrm>
            <a:off x="3566160" y="5568696"/>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モジュール型データセンター冷却を強化するStellar Energy買収などを通じ2026年第1四半期のエンタープライズ受注が前年比+24%・バックログが過去最高の107億ドルに達した。</a:t>
            </a:r>
          </a:p>
        </p:txBody>
      </p:sp>
      <p:sp>
        <p:nvSpPr>
          <p:cNvPr id="44" name="Rectangle 43"/>
          <p:cNvSpPr/>
          <p:nvPr/>
        </p:nvSpPr>
        <p:spPr>
          <a:xfrm>
            <a:off x="822960" y="617220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10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06  </a:t>
            </a:r>
            <a:r>
              <a:rPr sz="1250" b="1">
                <a:solidFill>
                  <a:srgbClr val="373C43"/>
                </a:solidFill>
                <a:latin typeface="Noto Sans JP"/>
                <a:ea typeface="Noto Sans JP"/>
              </a:rPr>
              <a:t>産業冷却・空調（液冷・チラー）</a:t>
            </a:r>
            <a:r>
              <a:rPr sz="900" b="1">
                <a:solidFill>
                  <a:srgbClr val="9AA1A9"/>
                </a:solidFill>
                <a:latin typeface="Consolas"/>
                <a:ea typeface="Consolas"/>
              </a:rPr>
              <a:t>　13社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Johnson Controls</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愛 JCI</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データセンター向け熱管理・冷却ソリューション需要拡大により2026年度第2四半期受注が前年比+30%、バックログが過去最高の200億ドルに達し通期利益見通しを上方修正。</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STULZ</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18" name="TextBox 17"/>
          <p:cNvSpPr txBox="1"/>
          <p:nvPr/>
        </p:nvSpPr>
        <p:spPr>
          <a:xfrm>
            <a:off x="3566160" y="223113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データセンター向け精密空調（CRAH）で世界シェア2位の地位を活かしハンブルク本社に液冷システム専用の新工場を拡張。</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66060"/>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2702051"/>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07  </a:t>
            </a:r>
            <a:r>
              <a:rPr sz="1250" b="1">
                <a:solidFill>
                  <a:srgbClr val="15181C"/>
                </a:solidFill>
                <a:latin typeface="Noto Sans JP"/>
                <a:ea typeface="Noto Sans JP"/>
              </a:rPr>
              <a:t>電線・ケーブル・光ファイバー</a:t>
            </a:r>
            <a:r>
              <a:rPr sz="900" b="1">
                <a:solidFill>
                  <a:srgbClr val="9AA1A9"/>
                </a:solidFill>
                <a:latin typeface="Consolas"/>
                <a:ea typeface="Consolas"/>
              </a:rPr>
              <a:t>　10社 ・ 優先度 中</a:t>
            </a:r>
          </a:p>
        </p:txBody>
      </p:sp>
      <p:sp>
        <p:nvSpPr>
          <p:cNvPr id="22" name="Rectangle 21"/>
          <p:cNvSpPr/>
          <p:nvPr/>
        </p:nvSpPr>
        <p:spPr>
          <a:xfrm>
            <a:off x="822960" y="3095244"/>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317753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31775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古河電気工業</a:t>
            </a:r>
          </a:p>
        </p:txBody>
      </p:sp>
      <p:sp>
        <p:nvSpPr>
          <p:cNvPr id="25" name="TextBox 24"/>
          <p:cNvSpPr txBox="1"/>
          <p:nvPr/>
        </p:nvSpPr>
        <p:spPr>
          <a:xfrm>
            <a:off x="1024128" y="34152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5801</a:t>
            </a:r>
          </a:p>
        </p:txBody>
      </p:sp>
      <p:sp>
        <p:nvSpPr>
          <p:cNvPr id="26" name="TextBox 25"/>
          <p:cNvSpPr txBox="1"/>
          <p:nvPr/>
        </p:nvSpPr>
        <p:spPr>
          <a:xfrm>
            <a:off x="3566160" y="317753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データセンタ・AI関連市場の伸長を背景にローラブルリボンケーブル等の高付加価値光ファイバーケーブルの供給体制を強化し、データセンター事業の営業利益を5年で8.5倍に拡大する計画。</a:t>
            </a:r>
          </a:p>
        </p:txBody>
      </p:sp>
      <p:sp>
        <p:nvSpPr>
          <p:cNvPr id="27" name="Rectangle 26"/>
          <p:cNvSpPr/>
          <p:nvPr/>
        </p:nvSpPr>
        <p:spPr>
          <a:xfrm>
            <a:off x="822960" y="3781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3845051"/>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3845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住友電気工業</a:t>
            </a:r>
          </a:p>
        </p:txBody>
      </p:sp>
      <p:sp>
        <p:nvSpPr>
          <p:cNvPr id="30" name="TextBox 29"/>
          <p:cNvSpPr txBox="1"/>
          <p:nvPr/>
        </p:nvSpPr>
        <p:spPr>
          <a:xfrm>
            <a:off x="1024128" y="408279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5802</a:t>
            </a:r>
          </a:p>
        </p:txBody>
      </p:sp>
      <p:sp>
        <p:nvSpPr>
          <p:cNvPr id="31" name="TextBox 30"/>
          <p:cNvSpPr txBox="1"/>
          <p:nvPr/>
        </p:nvSpPr>
        <p:spPr>
          <a:xfrm>
            <a:off x="3566160" y="384505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AIデータセンター向け光デバイス・光配線・光コネクタの需要拡大に対応し、2028年度までに約1000億円を投じて生産能力を増強（光コネクタ製造能力は7倍に）。</a:t>
            </a:r>
          </a:p>
        </p:txBody>
      </p:sp>
      <p:sp>
        <p:nvSpPr>
          <p:cNvPr id="32" name="Rectangle 31"/>
          <p:cNvSpPr/>
          <p:nvPr/>
        </p:nvSpPr>
        <p:spPr>
          <a:xfrm>
            <a:off x="822960" y="44485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51256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51256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フジクラ</a:t>
            </a:r>
          </a:p>
        </p:txBody>
      </p:sp>
      <p:sp>
        <p:nvSpPr>
          <p:cNvPr id="35" name="TextBox 34"/>
          <p:cNvSpPr txBox="1"/>
          <p:nvPr/>
        </p:nvSpPr>
        <p:spPr>
          <a:xfrm>
            <a:off x="1024128" y="475030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5803</a:t>
            </a:r>
          </a:p>
        </p:txBody>
      </p:sp>
      <p:sp>
        <p:nvSpPr>
          <p:cNvPr id="36" name="TextBox 35"/>
          <p:cNvSpPr txBox="1"/>
          <p:nvPr/>
        </p:nvSpPr>
        <p:spPr>
          <a:xfrm>
            <a:off x="3566160" y="451256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北米AIデータセンター向け光ファイバーケーブル需要の爆発的拡大を受け、情報通信事業が全社営業利益の8割超を稼ぎ、米国・国内で最大3000億円の増産投資を実施。</a:t>
            </a:r>
          </a:p>
        </p:txBody>
      </p:sp>
      <p:sp>
        <p:nvSpPr>
          <p:cNvPr id="37" name="Rectangle 36"/>
          <p:cNvSpPr/>
          <p:nvPr/>
        </p:nvSpPr>
        <p:spPr>
          <a:xfrm>
            <a:off x="822960" y="511606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5180076"/>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518007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SWCC（旧昭和電線ホールディングス）</a:t>
            </a:r>
          </a:p>
        </p:txBody>
      </p:sp>
      <p:sp>
        <p:nvSpPr>
          <p:cNvPr id="40" name="TextBox 39"/>
          <p:cNvSpPr txBox="1"/>
          <p:nvPr/>
        </p:nvSpPr>
        <p:spPr>
          <a:xfrm>
            <a:off x="1024128" y="541782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5805</a:t>
            </a:r>
          </a:p>
        </p:txBody>
      </p:sp>
      <p:sp>
        <p:nvSpPr>
          <p:cNvPr id="41" name="TextBox 40"/>
          <p:cNvSpPr txBox="1"/>
          <p:nvPr/>
        </p:nvSpPr>
        <p:spPr>
          <a:xfrm>
            <a:off x="3566160" y="5180076"/>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米国AIデータセンター向け超多心光ファイバケーブル「e-Ribbon®」の需要が下期に大幅拡大し、通信・コンポーネンツ事業の増収増益を牽引。</a:t>
            </a:r>
          </a:p>
        </p:txBody>
      </p:sp>
      <p:sp>
        <p:nvSpPr>
          <p:cNvPr id="42" name="Rectangle 41"/>
          <p:cNvSpPr/>
          <p:nvPr/>
        </p:nvSpPr>
        <p:spPr>
          <a:xfrm>
            <a:off x="822960" y="578358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847588"/>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84758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Prysmian</a:t>
            </a:r>
          </a:p>
        </p:txBody>
      </p:sp>
      <p:sp>
        <p:nvSpPr>
          <p:cNvPr id="45" name="TextBox 44"/>
          <p:cNvSpPr txBox="1"/>
          <p:nvPr/>
        </p:nvSpPr>
        <p:spPr>
          <a:xfrm>
            <a:off x="1024128" y="608533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伊 PRY</a:t>
            </a:r>
          </a:p>
        </p:txBody>
      </p:sp>
      <p:sp>
        <p:nvSpPr>
          <p:cNvPr id="46" name="TextBox 45"/>
          <p:cNvSpPr txBox="1"/>
          <p:nvPr/>
        </p:nvSpPr>
        <p:spPr>
          <a:xfrm>
            <a:off x="3566160" y="5847588"/>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ハイパースケーラー向け長期供給契約（LTA）締結を加速させ、送電・デジタルソリューション事業がEBITDAマージン拡大をけん引。</a:t>
            </a:r>
          </a:p>
        </p:txBody>
      </p:sp>
      <p:sp>
        <p:nvSpPr>
          <p:cNvPr id="47" name="Rectangle 46"/>
          <p:cNvSpPr/>
          <p:nvPr/>
        </p:nvSpPr>
        <p:spPr>
          <a:xfrm>
            <a:off x="822960" y="645109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11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07  </a:t>
            </a:r>
            <a:r>
              <a:rPr sz="1250" b="1">
                <a:solidFill>
                  <a:srgbClr val="373C43"/>
                </a:solidFill>
                <a:latin typeface="Noto Sans JP"/>
                <a:ea typeface="Noto Sans JP"/>
              </a:rPr>
              <a:t>電線・ケーブル・光ファイバー</a:t>
            </a:r>
            <a:r>
              <a:rPr sz="900" b="1">
                <a:solidFill>
                  <a:srgbClr val="9AA1A9"/>
                </a:solidFill>
                <a:latin typeface="Consolas"/>
                <a:ea typeface="Consolas"/>
              </a:rPr>
              <a:t>　10社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Nexans</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仏 NEX</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フレームワーク契約に基づくコールオフとデータセンター向け案件がQ1業績を下支えし、Electro Cable買収で商業競争力を強化。</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Corning</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GLW</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AIデータセンター向け光ファイバー・光コネクティビティ需要が急拡大し、Metaを含む複数のハイパースケーラーと最大60億ドル規模の複数年供給契約を締結。</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Amphenol</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APH</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CommScopeのConnectivity and Cable Solutions（CCS）事業を105億ドルで買収完了し、AIデータセンター向け光ファイバー・コネクティビティ製品のポートフォリオを大幅拡充。</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56615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566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LS Cable &amp; System</a:t>
            </a:r>
          </a:p>
        </p:txBody>
      </p:sp>
      <p:sp>
        <p:nvSpPr>
          <p:cNvPr id="27" name="TextBox 26"/>
          <p:cNvSpPr txBox="1"/>
          <p:nvPr/>
        </p:nvSpPr>
        <p:spPr>
          <a:xfrm>
            <a:off x="1024128" y="3803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8" name="TextBox 27"/>
          <p:cNvSpPr txBox="1"/>
          <p:nvPr/>
        </p:nvSpPr>
        <p:spPr>
          <a:xfrm>
            <a:off x="3566160" y="3566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電力網増強とAIデータセンター向け需要拡大により受注残が過去最高を更新し、米国での海底ケーブル工場・メキシコでのバスダクト工場建設を推進。</a:t>
            </a:r>
          </a:p>
        </p:txBody>
      </p:sp>
      <p:sp>
        <p:nvSpPr>
          <p:cNvPr id="29" name="Rectangle 28"/>
          <p:cNvSpPr/>
          <p:nvPr/>
        </p:nvSpPr>
        <p:spPr>
          <a:xfrm>
            <a:off x="822960" y="4169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233672"/>
            <a:ext cx="50292" cy="5394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233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NKT</a:t>
            </a:r>
          </a:p>
        </p:txBody>
      </p:sp>
      <p:sp>
        <p:nvSpPr>
          <p:cNvPr id="32" name="TextBox 31"/>
          <p:cNvSpPr txBox="1"/>
          <p:nvPr/>
        </p:nvSpPr>
        <p:spPr>
          <a:xfrm>
            <a:off x="1024128" y="4471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丁 NKT</a:t>
            </a:r>
          </a:p>
        </p:txBody>
      </p:sp>
      <p:sp>
        <p:nvSpPr>
          <p:cNvPr id="33" name="TextBox 32"/>
          <p:cNvSpPr txBox="1"/>
          <p:nvPr/>
        </p:nvSpPr>
        <p:spPr>
          <a:xfrm>
            <a:off x="3566160" y="4233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洋上風力・国際連系線案件を中心に受注残が過去最高を更新しており、電力網増強を通じて間接的にAIデータセンター拡大の恩恵を受ける位置づけ。</a:t>
            </a:r>
          </a:p>
        </p:txBody>
      </p:sp>
      <p:sp>
        <p:nvSpPr>
          <p:cNvPr id="34" name="Rectangle 33"/>
          <p:cNvSpPr/>
          <p:nvPr/>
        </p:nvSpPr>
        <p:spPr>
          <a:xfrm>
            <a:off x="822960" y="4837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965192"/>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8992" y="4901184"/>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08  </a:t>
            </a:r>
            <a:r>
              <a:rPr sz="1250" b="1">
                <a:solidFill>
                  <a:srgbClr val="15181C"/>
                </a:solidFill>
                <a:latin typeface="Noto Sans JP"/>
                <a:ea typeface="Noto Sans JP"/>
              </a:rPr>
              <a:t>半導体前工程（ファウンドリ/メモリ）</a:t>
            </a:r>
            <a:r>
              <a:rPr sz="900" b="1">
                <a:solidFill>
                  <a:srgbClr val="9AA1A9"/>
                </a:solidFill>
                <a:latin typeface="Consolas"/>
                <a:ea typeface="Consolas"/>
              </a:rPr>
              <a:t>　7社 ・ 優先度 中</a:t>
            </a:r>
          </a:p>
        </p:txBody>
      </p:sp>
      <p:sp>
        <p:nvSpPr>
          <p:cNvPr id="37" name="Rectangle 36"/>
          <p:cNvSpPr/>
          <p:nvPr/>
        </p:nvSpPr>
        <p:spPr>
          <a:xfrm>
            <a:off x="822960" y="5294376"/>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537667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5376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TSMC（台湾積体電路製造）</a:t>
            </a:r>
          </a:p>
        </p:txBody>
      </p:sp>
      <p:sp>
        <p:nvSpPr>
          <p:cNvPr id="40" name="TextBox 39"/>
          <p:cNvSpPr txBox="1"/>
          <p:nvPr/>
        </p:nvSpPr>
        <p:spPr>
          <a:xfrm>
            <a:off x="1024128" y="5614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台 2330</a:t>
            </a:r>
          </a:p>
        </p:txBody>
      </p:sp>
      <p:sp>
        <p:nvSpPr>
          <p:cNvPr id="41" name="TextBox 40"/>
          <p:cNvSpPr txBox="1"/>
          <p:nvPr/>
        </p:nvSpPr>
        <p:spPr>
          <a:xfrm>
            <a:off x="3566160" y="5376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 アクセラレータ向け先端ロジック（N3/N2）とCoWoS先進パッケージングが供給逼迫状態にあり、2026年設備投資を過去最高の520〜560億ドルに引き上げ。</a:t>
            </a:r>
          </a:p>
        </p:txBody>
      </p:sp>
      <p:sp>
        <p:nvSpPr>
          <p:cNvPr id="42" name="Rectangle 41"/>
          <p:cNvSpPr/>
          <p:nvPr/>
        </p:nvSpPr>
        <p:spPr>
          <a:xfrm>
            <a:off x="822960" y="5980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12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08  </a:t>
            </a:r>
            <a:r>
              <a:rPr sz="1250" b="1">
                <a:solidFill>
                  <a:srgbClr val="373C43"/>
                </a:solidFill>
                <a:latin typeface="Noto Sans JP"/>
                <a:ea typeface="Noto Sans JP"/>
              </a:rPr>
              <a:t>半導体前工程（ファウンドリ/メモリ）</a:t>
            </a:r>
            <a:r>
              <a:rPr sz="900" b="1">
                <a:solidFill>
                  <a:srgbClr val="9AA1A9"/>
                </a:solidFill>
                <a:latin typeface="Consolas"/>
                <a:ea typeface="Consolas"/>
              </a:rPr>
              <a:t>　7社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Samsung Electronics</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韓 005930</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HBM4の量産開始とファウンドリ・先端パッケージング投資により、2026年の半導体（DS部門）設備投資を過去最大の110兆ウォン（約733億ドル）に拡大。</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SK hynix</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韓 000660</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HBM・HBM4Eの需要が供給を上回り続け、Q1 2026営業利益率72%と過去最高を更新、新工場M15X（清州）に19兆ウォンを投資しHBM生産能力を拡大。</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Micron Technology</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MU</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HBM（HBM4含む）の2026年生産分が複数年の価格・数量固定契約で完売となり、2026会計年度の設備投資見通しを200億ドルから250億ドル超に上方修正。</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56615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566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Kioxia Holdings</a:t>
            </a:r>
          </a:p>
        </p:txBody>
      </p:sp>
      <p:sp>
        <p:nvSpPr>
          <p:cNvPr id="27" name="TextBox 26"/>
          <p:cNvSpPr txBox="1"/>
          <p:nvPr/>
        </p:nvSpPr>
        <p:spPr>
          <a:xfrm>
            <a:off x="1024128" y="3803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285A</a:t>
            </a:r>
          </a:p>
        </p:txBody>
      </p:sp>
      <p:sp>
        <p:nvSpPr>
          <p:cNvPr id="28" name="TextBox 27"/>
          <p:cNvSpPr txBox="1"/>
          <p:nvPr/>
        </p:nvSpPr>
        <p:spPr>
          <a:xfrm>
            <a:off x="3566160" y="3566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AI向けデータセンターSSD需要により2026年度の生産能力は完売状態、2026〜2028年度の年平均設備投資を前年度比66%増の約470億円に引き上げ。</a:t>
            </a:r>
          </a:p>
        </p:txBody>
      </p:sp>
      <p:sp>
        <p:nvSpPr>
          <p:cNvPr id="29" name="Rectangle 28"/>
          <p:cNvSpPr/>
          <p:nvPr/>
        </p:nvSpPr>
        <p:spPr>
          <a:xfrm>
            <a:off x="822960" y="4169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233672"/>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233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Intel</a:t>
            </a:r>
          </a:p>
        </p:txBody>
      </p:sp>
      <p:sp>
        <p:nvSpPr>
          <p:cNvPr id="32" name="TextBox 31"/>
          <p:cNvSpPr txBox="1"/>
          <p:nvPr/>
        </p:nvSpPr>
        <p:spPr>
          <a:xfrm>
            <a:off x="1024128" y="4471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INTC</a:t>
            </a:r>
          </a:p>
        </p:txBody>
      </p:sp>
      <p:sp>
        <p:nvSpPr>
          <p:cNvPr id="33" name="TextBox 32"/>
          <p:cNvSpPr txBox="1"/>
          <p:nvPr/>
        </p:nvSpPr>
        <p:spPr>
          <a:xfrm>
            <a:off x="3566160" y="4233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18A/14Aプロセスを軸にファウンドリ事業（Intel Foundry）の外部顧客獲得を進めるが、2026年時点では大口の外部量産受注は限定的で赤字が継続。</a:t>
            </a:r>
          </a:p>
        </p:txBody>
      </p:sp>
      <p:sp>
        <p:nvSpPr>
          <p:cNvPr id="34" name="Rectangle 33"/>
          <p:cNvSpPr/>
          <p:nvPr/>
        </p:nvSpPr>
        <p:spPr>
          <a:xfrm>
            <a:off x="822960" y="4837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901184"/>
            <a:ext cx="50292" cy="5394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90118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ラピダス（Rapidus）</a:t>
            </a:r>
          </a:p>
        </p:txBody>
      </p:sp>
      <p:sp>
        <p:nvSpPr>
          <p:cNvPr id="37" name="TextBox 36"/>
          <p:cNvSpPr txBox="1"/>
          <p:nvPr/>
        </p:nvSpPr>
        <p:spPr>
          <a:xfrm>
            <a:off x="1024128" y="513892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38" name="TextBox 37"/>
          <p:cNvSpPr txBox="1"/>
          <p:nvPr/>
        </p:nvSpPr>
        <p:spPr>
          <a:xfrm>
            <a:off x="3566160" y="490118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2nmロジック半導体の量産（2027年度後半予定）に向け、政府・民間からの資金調達を積み増し中だが、量産稼働を支える顧客受注の確定は道半ば。</a:t>
            </a:r>
          </a:p>
        </p:txBody>
      </p:sp>
      <p:sp>
        <p:nvSpPr>
          <p:cNvPr id="39" name="Rectangle 38"/>
          <p:cNvSpPr/>
          <p:nvPr/>
        </p:nvSpPr>
        <p:spPr>
          <a:xfrm>
            <a:off x="822960" y="550468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5632704"/>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8992" y="556869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09  </a:t>
            </a:r>
            <a:r>
              <a:rPr sz="1250" b="1">
                <a:solidFill>
                  <a:srgbClr val="15181C"/>
                </a:solidFill>
                <a:latin typeface="Noto Sans JP"/>
                <a:ea typeface="Noto Sans JP"/>
              </a:rPr>
              <a:t>半導体後工程（パッケージング）</a:t>
            </a:r>
            <a:r>
              <a:rPr sz="900" b="1">
                <a:solidFill>
                  <a:srgbClr val="9AA1A9"/>
                </a:solidFill>
                <a:latin typeface="Consolas"/>
                <a:ea typeface="Consolas"/>
              </a:rPr>
              <a:t>　6社 ・ 優先度 中</a:t>
            </a:r>
          </a:p>
        </p:txBody>
      </p:sp>
      <p:sp>
        <p:nvSpPr>
          <p:cNvPr id="42" name="Rectangle 41"/>
          <p:cNvSpPr/>
          <p:nvPr/>
        </p:nvSpPr>
        <p:spPr>
          <a:xfrm>
            <a:off x="822960" y="596188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6044184"/>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604418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TSMC</a:t>
            </a:r>
          </a:p>
        </p:txBody>
      </p:sp>
      <p:sp>
        <p:nvSpPr>
          <p:cNvPr id="45" name="TextBox 44"/>
          <p:cNvSpPr txBox="1"/>
          <p:nvPr/>
        </p:nvSpPr>
        <p:spPr>
          <a:xfrm>
            <a:off x="1024128" y="628192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台 2330</a:t>
            </a:r>
          </a:p>
        </p:txBody>
      </p:sp>
      <p:sp>
        <p:nvSpPr>
          <p:cNvPr id="46" name="TextBox 45"/>
          <p:cNvSpPr txBox="1"/>
          <p:nvPr/>
        </p:nvSpPr>
        <p:spPr>
          <a:xfrm>
            <a:off x="3566160" y="604418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AI向け大型チップの逼迫が続くCoWoS等先端パッケージングの月産能力を2026年に過去最高水準まで拡大する設備投資を実施。</a:t>
            </a:r>
          </a:p>
        </p:txBody>
      </p:sp>
      <p:sp>
        <p:nvSpPr>
          <p:cNvPr id="47" name="Rectangle 46"/>
          <p:cNvSpPr/>
          <p:nvPr/>
        </p:nvSpPr>
        <p:spPr>
          <a:xfrm>
            <a:off x="822960" y="645109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13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09  </a:t>
            </a:r>
            <a:r>
              <a:rPr sz="1250" b="1">
                <a:solidFill>
                  <a:srgbClr val="373C43"/>
                </a:solidFill>
                <a:latin typeface="Noto Sans JP"/>
                <a:ea typeface="Noto Sans JP"/>
              </a:rPr>
              <a:t>半導体後工程（パッケージング）</a:t>
            </a:r>
            <a:r>
              <a:rPr sz="900" b="1">
                <a:solidFill>
                  <a:srgbClr val="9AA1A9"/>
                </a:solidFill>
                <a:latin typeface="Consolas"/>
                <a:ea typeface="Consolas"/>
              </a:rPr>
              <a:t>　6社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ASE Technology Holding</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台 3711</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AI駆動の先端パッケージング需要が供給を上回る中、2026年設備投資目標を上方修正し先端パッケージング売上高を倍増させる計画。</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Amkor Technology</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AMKR</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AI向け先端パッケージング事業を2026年に前年比3倍へ拡大し、Arizona新工場で米国初の量産型先端パッケージングOSAT拠点を構築。</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长电科技</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中 600584</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先端パッケージング需要拡大に対応し、2026年固定資産投資予算を前年比+18%の約100億元に引き上げ、国内外で先端封装を加速。</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56615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566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通富微电</a:t>
            </a:r>
          </a:p>
        </p:txBody>
      </p:sp>
      <p:sp>
        <p:nvSpPr>
          <p:cNvPr id="27" name="TextBox 26"/>
          <p:cNvSpPr txBox="1"/>
          <p:nvPr/>
        </p:nvSpPr>
        <p:spPr>
          <a:xfrm>
            <a:off x="1024128" y="3803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中 002156</a:t>
            </a:r>
          </a:p>
        </p:txBody>
      </p:sp>
      <p:sp>
        <p:nvSpPr>
          <p:cNvPr id="28" name="TextBox 27"/>
          <p:cNvSpPr txBox="1"/>
          <p:nvPr/>
        </p:nvSpPr>
        <p:spPr>
          <a:xfrm>
            <a:off x="3566160" y="3566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AMD向け先端パッケージング・HBM封測の中核サプライヤーとして、2026年1月に総額44億元の増資を決定し封測産能を大幅拡張。</a:t>
            </a:r>
          </a:p>
        </p:txBody>
      </p:sp>
      <p:sp>
        <p:nvSpPr>
          <p:cNvPr id="29" name="Rectangle 28"/>
          <p:cNvSpPr/>
          <p:nvPr/>
        </p:nvSpPr>
        <p:spPr>
          <a:xfrm>
            <a:off x="822960" y="4169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23367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233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力成科技</a:t>
            </a:r>
          </a:p>
        </p:txBody>
      </p:sp>
      <p:sp>
        <p:nvSpPr>
          <p:cNvPr id="32" name="TextBox 31"/>
          <p:cNvSpPr txBox="1"/>
          <p:nvPr/>
        </p:nvSpPr>
        <p:spPr>
          <a:xfrm>
            <a:off x="1024128" y="4471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台 6239</a:t>
            </a:r>
          </a:p>
        </p:txBody>
      </p:sp>
      <p:sp>
        <p:nvSpPr>
          <p:cNvPr id="33" name="TextBox 32"/>
          <p:cNvSpPr txBox="1"/>
          <p:nvPr/>
        </p:nvSpPr>
        <p:spPr>
          <a:xfrm>
            <a:off x="3566160" y="4233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AI/HPC向けFOPLP（ファンアウトパネルレベルパッケージング）需要拡大を受け、AMD・Broadcomの支援も得て2026年通期資本支出を25%上方修正。</a:t>
            </a:r>
          </a:p>
        </p:txBody>
      </p:sp>
      <p:sp>
        <p:nvSpPr>
          <p:cNvPr id="34" name="Rectangle 33"/>
          <p:cNvSpPr/>
          <p:nvPr/>
        </p:nvSpPr>
        <p:spPr>
          <a:xfrm>
            <a:off x="822960" y="4837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965192"/>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8992" y="4901184"/>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10  </a:t>
            </a:r>
            <a:r>
              <a:rPr sz="1250" b="1">
                <a:solidFill>
                  <a:srgbClr val="15181C"/>
                </a:solidFill>
                <a:latin typeface="Noto Sans JP"/>
                <a:ea typeface="Noto Sans JP"/>
              </a:rPr>
              <a:t>半導体製造装置・部材</a:t>
            </a:r>
            <a:r>
              <a:rPr sz="900" b="1">
                <a:solidFill>
                  <a:srgbClr val="9AA1A9"/>
                </a:solidFill>
                <a:latin typeface="Consolas"/>
                <a:ea typeface="Consolas"/>
              </a:rPr>
              <a:t>　10社 ・ 優先度 中</a:t>
            </a:r>
          </a:p>
        </p:txBody>
      </p:sp>
      <p:sp>
        <p:nvSpPr>
          <p:cNvPr id="37" name="Rectangle 36"/>
          <p:cNvSpPr/>
          <p:nvPr/>
        </p:nvSpPr>
        <p:spPr>
          <a:xfrm>
            <a:off x="822960" y="5294376"/>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537667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5376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東京エレクトロン</a:t>
            </a:r>
          </a:p>
        </p:txBody>
      </p:sp>
      <p:sp>
        <p:nvSpPr>
          <p:cNvPr id="40" name="TextBox 39"/>
          <p:cNvSpPr txBox="1"/>
          <p:nvPr/>
        </p:nvSpPr>
        <p:spPr>
          <a:xfrm>
            <a:off x="1024128" y="5614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8035</a:t>
            </a:r>
          </a:p>
        </p:txBody>
      </p:sp>
      <p:sp>
        <p:nvSpPr>
          <p:cNvPr id="41" name="TextBox 40"/>
          <p:cNvSpPr txBox="1"/>
          <p:nvPr/>
        </p:nvSpPr>
        <p:spPr>
          <a:xfrm>
            <a:off x="3566160" y="5376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生成AIデータセンター向けCPU増設とAI利用拡大に伴うPC用CPU高性能化が微細化投資を後押しし、ロジック・DRAM向け装置売上が四半期ベースで急拡大。</a:t>
            </a:r>
          </a:p>
        </p:txBody>
      </p:sp>
      <p:sp>
        <p:nvSpPr>
          <p:cNvPr id="42" name="Rectangle 41"/>
          <p:cNvSpPr/>
          <p:nvPr/>
        </p:nvSpPr>
        <p:spPr>
          <a:xfrm>
            <a:off x="822960" y="5980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14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10  </a:t>
            </a:r>
            <a:r>
              <a:rPr sz="1250" b="1">
                <a:solidFill>
                  <a:srgbClr val="373C43"/>
                </a:solidFill>
                <a:latin typeface="Noto Sans JP"/>
                <a:ea typeface="Noto Sans JP"/>
              </a:rPr>
              <a:t>半導体製造装置・部材</a:t>
            </a:r>
            <a:r>
              <a:rPr sz="900" b="1">
                <a:solidFill>
                  <a:srgbClr val="9AA1A9"/>
                </a:solidFill>
                <a:latin typeface="Consolas"/>
                <a:ea typeface="Consolas"/>
              </a:rPr>
              <a:t>　10社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ASML</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蘭 ASML</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AI主導のロジック・メモリ向け設備投資拡大を受け、2026年通期売上高ガイダンスを上方修正。メモリ顧客は2026年分の供給が完売状態。</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Applied Materials</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AMAT</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AIコンピューティングインフラの急速な構築を背景に、半導体製造装置事業の2026年（暦年）成長率見通しを従来の20%から30%超へ上方修正。</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Lam Research</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LRCX</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AIデータセンター建設に伴う先端メモリ・ファウンドリ・パッケージング向け装置需要の拡大で、四半期売上高・利益が過去最高を更新。</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56615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566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KLA Corporation</a:t>
            </a:r>
          </a:p>
        </p:txBody>
      </p:sp>
      <p:sp>
        <p:nvSpPr>
          <p:cNvPr id="27" name="TextBox 26"/>
          <p:cNvSpPr txBox="1"/>
          <p:nvPr/>
        </p:nvSpPr>
        <p:spPr>
          <a:xfrm>
            <a:off x="1024128" y="3803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KLAC</a:t>
            </a:r>
          </a:p>
        </p:txBody>
      </p:sp>
      <p:sp>
        <p:nvSpPr>
          <p:cNvPr id="28" name="TextBox 27"/>
          <p:cNvSpPr txBox="1"/>
          <p:nvPr/>
        </p:nvSpPr>
        <p:spPr>
          <a:xfrm>
            <a:off x="3566160" y="3566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AIエコシステムの中核であるプロセスコントロール（歩留まり管理）装置需要がファウンドリ・ロジック、メモリ、先端パッケージング全領域で拡大。</a:t>
            </a:r>
          </a:p>
        </p:txBody>
      </p:sp>
      <p:sp>
        <p:nvSpPr>
          <p:cNvPr id="29" name="Rectangle 28"/>
          <p:cNvSpPr/>
          <p:nvPr/>
        </p:nvSpPr>
        <p:spPr>
          <a:xfrm>
            <a:off x="822960" y="4169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233672"/>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233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SUMCO</a:t>
            </a:r>
          </a:p>
        </p:txBody>
      </p:sp>
      <p:sp>
        <p:nvSpPr>
          <p:cNvPr id="32" name="TextBox 31"/>
          <p:cNvSpPr txBox="1"/>
          <p:nvPr/>
        </p:nvSpPr>
        <p:spPr>
          <a:xfrm>
            <a:off x="1024128" y="4471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3436</a:t>
            </a:r>
          </a:p>
        </p:txBody>
      </p:sp>
      <p:sp>
        <p:nvSpPr>
          <p:cNvPr id="33" name="TextBox 32"/>
          <p:cNvSpPr txBox="1"/>
          <p:nvPr/>
        </p:nvSpPr>
        <p:spPr>
          <a:xfrm>
            <a:off x="3566160" y="4233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AIサーバー・HBM向けシリコンウエハの構造的需要拡大を受け、新工場建設よりも既存工場（伊万里）の増強・高精度化に投資を集中する戦略へ転換。</a:t>
            </a:r>
          </a:p>
        </p:txBody>
      </p:sp>
      <p:sp>
        <p:nvSpPr>
          <p:cNvPr id="34" name="Rectangle 33"/>
          <p:cNvSpPr/>
          <p:nvPr/>
        </p:nvSpPr>
        <p:spPr>
          <a:xfrm>
            <a:off x="822960" y="4837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901184"/>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90118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信越化学工業</a:t>
            </a:r>
          </a:p>
        </p:txBody>
      </p:sp>
      <p:sp>
        <p:nvSpPr>
          <p:cNvPr id="37" name="TextBox 36"/>
          <p:cNvSpPr txBox="1"/>
          <p:nvPr/>
        </p:nvSpPr>
        <p:spPr>
          <a:xfrm>
            <a:off x="1024128" y="513892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4063</a:t>
            </a:r>
          </a:p>
        </p:txBody>
      </p:sp>
      <p:sp>
        <p:nvSpPr>
          <p:cNvPr id="38" name="TextBox 37"/>
          <p:cNvSpPr txBox="1"/>
          <p:nvPr/>
        </p:nvSpPr>
        <p:spPr>
          <a:xfrm>
            <a:off x="3566160" y="490118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半導体シリコンウエハ・電子材料のAI関連用途向け販売比率が2割を超え、中東情勢を契機とした顧客の在庫積み増しで追加受注が増加。</a:t>
            </a:r>
          </a:p>
        </p:txBody>
      </p:sp>
      <p:sp>
        <p:nvSpPr>
          <p:cNvPr id="39" name="Rectangle 38"/>
          <p:cNvSpPr/>
          <p:nvPr/>
        </p:nvSpPr>
        <p:spPr>
          <a:xfrm>
            <a:off x="822960" y="550468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5568696"/>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556869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レゾナック</a:t>
            </a:r>
          </a:p>
        </p:txBody>
      </p:sp>
      <p:sp>
        <p:nvSpPr>
          <p:cNvPr id="42" name="TextBox 41"/>
          <p:cNvSpPr txBox="1"/>
          <p:nvPr/>
        </p:nvSpPr>
        <p:spPr>
          <a:xfrm>
            <a:off x="1024128" y="580644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4004</a:t>
            </a:r>
          </a:p>
        </p:txBody>
      </p:sp>
      <p:sp>
        <p:nvSpPr>
          <p:cNvPr id="43" name="TextBox 42"/>
          <p:cNvSpPr txBox="1"/>
          <p:nvPr/>
        </p:nvSpPr>
        <p:spPr>
          <a:xfrm>
            <a:off x="3566160" y="5568696"/>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先端半導体パッケージング材料（TIM・NCF等）のAI向け販売数量増加により、半導体・電子材料セグメントの営業利益が四半期・年間ともに過去最高を更新。</a:t>
            </a:r>
          </a:p>
        </p:txBody>
      </p:sp>
      <p:sp>
        <p:nvSpPr>
          <p:cNvPr id="44" name="Rectangle 43"/>
          <p:cNvSpPr/>
          <p:nvPr/>
        </p:nvSpPr>
        <p:spPr>
          <a:xfrm>
            <a:off x="822960" y="617220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15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10  </a:t>
            </a:r>
            <a:r>
              <a:rPr sz="1250" b="1">
                <a:solidFill>
                  <a:srgbClr val="373C43"/>
                </a:solidFill>
                <a:latin typeface="Noto Sans JP"/>
                <a:ea typeface="Noto Sans JP"/>
              </a:rPr>
              <a:t>半導体製造装置・部材</a:t>
            </a:r>
            <a:r>
              <a:rPr sz="900" b="1">
                <a:solidFill>
                  <a:srgbClr val="9AA1A9"/>
                </a:solidFill>
                <a:latin typeface="Consolas"/>
                <a:ea typeface="Consolas"/>
              </a:rPr>
              <a:t>　10社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ディスコ</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6146</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GPU・HBM等の生成AI向け先端半導体需要を背景に、精密加工装置（ダイシングソー・グラインダー等）の出荷が高付加価値製品中心に拡大し6期連続で営業最高益を更新。</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SCREENホールディングス</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7735</a:t>
            </a:r>
          </a:p>
        </p:txBody>
      </p:sp>
      <p:sp>
        <p:nvSpPr>
          <p:cNvPr id="18" name="TextBox 17"/>
          <p:cNvSpPr txBox="1"/>
          <p:nvPr/>
        </p:nvSpPr>
        <p:spPr>
          <a:xfrm>
            <a:off x="3566160" y="223113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生成AI普及に伴う半導体微細化投資・チップレット技術向け需要を背景に、2027年3月期の増収増益を見込む。</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66060"/>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2702051"/>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11  </a:t>
            </a:r>
            <a:r>
              <a:rPr sz="1250" b="1">
                <a:solidFill>
                  <a:srgbClr val="15181C"/>
                </a:solidFill>
                <a:latin typeface="Noto Sans JP"/>
                <a:ea typeface="Noto Sans JP"/>
              </a:rPr>
              <a:t>電力インフラ（発送電・系統増強）</a:t>
            </a:r>
            <a:r>
              <a:rPr sz="900" b="1">
                <a:solidFill>
                  <a:srgbClr val="9AA1A9"/>
                </a:solidFill>
                <a:latin typeface="Consolas"/>
                <a:ea typeface="Consolas"/>
              </a:rPr>
              <a:t>　9社 ・ 優先度 中</a:t>
            </a:r>
          </a:p>
        </p:txBody>
      </p:sp>
      <p:sp>
        <p:nvSpPr>
          <p:cNvPr id="22" name="Rectangle 21"/>
          <p:cNvSpPr/>
          <p:nvPr/>
        </p:nvSpPr>
        <p:spPr>
          <a:xfrm>
            <a:off x="822960" y="3095244"/>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3177539"/>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31775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NextEra Energy</a:t>
            </a:r>
          </a:p>
        </p:txBody>
      </p:sp>
      <p:sp>
        <p:nvSpPr>
          <p:cNvPr id="25" name="TextBox 24"/>
          <p:cNvSpPr txBox="1"/>
          <p:nvPr/>
        </p:nvSpPr>
        <p:spPr>
          <a:xfrm>
            <a:off x="1024128" y="34152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NEE</a:t>
            </a:r>
          </a:p>
        </p:txBody>
      </p:sp>
      <p:sp>
        <p:nvSpPr>
          <p:cNvPr id="26" name="TextBox 25"/>
          <p:cNvSpPr txBox="1"/>
          <p:nvPr/>
        </p:nvSpPr>
        <p:spPr>
          <a:xfrm>
            <a:off x="3566160" y="317753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データセンター向け大口電力需要(ラージロード)急拡大で発電・送電設備投資計画を継続的に上方修正。</a:t>
            </a:r>
          </a:p>
        </p:txBody>
      </p:sp>
      <p:sp>
        <p:nvSpPr>
          <p:cNvPr id="27" name="Rectangle 26"/>
          <p:cNvSpPr/>
          <p:nvPr/>
        </p:nvSpPr>
        <p:spPr>
          <a:xfrm>
            <a:off x="822960" y="35844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3648456"/>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364845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American Electric Power</a:t>
            </a:r>
          </a:p>
        </p:txBody>
      </p:sp>
      <p:sp>
        <p:nvSpPr>
          <p:cNvPr id="30" name="TextBox 29"/>
          <p:cNvSpPr txBox="1"/>
          <p:nvPr/>
        </p:nvSpPr>
        <p:spPr>
          <a:xfrm>
            <a:off x="1024128" y="388620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AEP</a:t>
            </a:r>
          </a:p>
        </p:txBody>
      </p:sp>
      <p:sp>
        <p:nvSpPr>
          <p:cNvPr id="31" name="TextBox 30"/>
          <p:cNvSpPr txBox="1"/>
          <p:nvPr/>
        </p:nvSpPr>
        <p:spPr>
          <a:xfrm>
            <a:off x="3566160" y="364845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データセンター/ハイパースケーラーからの大口電力契約急増により5カ年設備投資計画を720億ドルから780億ドルに上方修正。</a:t>
            </a:r>
          </a:p>
        </p:txBody>
      </p:sp>
      <p:sp>
        <p:nvSpPr>
          <p:cNvPr id="32" name="Rectangle 31"/>
          <p:cNvSpPr/>
          <p:nvPr/>
        </p:nvSpPr>
        <p:spPr>
          <a:xfrm>
            <a:off x="822960" y="40553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119372"/>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1193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Dominion Energy</a:t>
            </a:r>
          </a:p>
        </p:txBody>
      </p:sp>
      <p:sp>
        <p:nvSpPr>
          <p:cNvPr id="35" name="TextBox 34"/>
          <p:cNvSpPr txBox="1"/>
          <p:nvPr/>
        </p:nvSpPr>
        <p:spPr>
          <a:xfrm>
            <a:off x="1024128" y="43571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D</a:t>
            </a:r>
          </a:p>
        </p:txBody>
      </p:sp>
      <p:sp>
        <p:nvSpPr>
          <p:cNvPr id="36" name="TextBox 35"/>
          <p:cNvSpPr txBox="1"/>
          <p:nvPr/>
        </p:nvSpPr>
        <p:spPr>
          <a:xfrm>
            <a:off x="3566160" y="4119372"/>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バージニア州中心のデータセンター需要急増を受け2026-2030年設備投資計画を30%増の647億ドルへ引き上げ。</a:t>
            </a:r>
          </a:p>
        </p:txBody>
      </p:sp>
      <p:sp>
        <p:nvSpPr>
          <p:cNvPr id="37" name="Rectangle 36"/>
          <p:cNvSpPr/>
          <p:nvPr/>
        </p:nvSpPr>
        <p:spPr>
          <a:xfrm>
            <a:off x="822960" y="452628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4590288"/>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459028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Duke Energy</a:t>
            </a:r>
          </a:p>
        </p:txBody>
      </p:sp>
      <p:sp>
        <p:nvSpPr>
          <p:cNvPr id="40" name="TextBox 39"/>
          <p:cNvSpPr txBox="1"/>
          <p:nvPr/>
        </p:nvSpPr>
        <p:spPr>
          <a:xfrm>
            <a:off x="1024128" y="482803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DUK</a:t>
            </a:r>
          </a:p>
        </p:txBody>
      </p:sp>
      <p:sp>
        <p:nvSpPr>
          <p:cNvPr id="41" name="TextBox 40"/>
          <p:cNvSpPr txBox="1"/>
          <p:nvPr/>
        </p:nvSpPr>
        <p:spPr>
          <a:xfrm>
            <a:off x="3566160" y="4590288"/>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南東部のデータセンター引き合い増加により2026-2030年設備投資計画を18%増の1030億ドルへ引き上げ。</a:t>
            </a:r>
          </a:p>
        </p:txBody>
      </p:sp>
      <p:sp>
        <p:nvSpPr>
          <p:cNvPr id="42" name="Rectangle 41"/>
          <p:cNvSpPr/>
          <p:nvPr/>
        </p:nvSpPr>
        <p:spPr>
          <a:xfrm>
            <a:off x="822960" y="499719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061203"/>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06120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Southern Company</a:t>
            </a:r>
          </a:p>
        </p:txBody>
      </p:sp>
      <p:sp>
        <p:nvSpPr>
          <p:cNvPr id="45" name="TextBox 44"/>
          <p:cNvSpPr txBox="1"/>
          <p:nvPr/>
        </p:nvSpPr>
        <p:spPr>
          <a:xfrm>
            <a:off x="1024128" y="529894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SO</a:t>
            </a:r>
          </a:p>
        </p:txBody>
      </p:sp>
      <p:sp>
        <p:nvSpPr>
          <p:cNvPr id="46" name="TextBox 45"/>
          <p:cNvSpPr txBox="1"/>
          <p:nvPr/>
        </p:nvSpPr>
        <p:spPr>
          <a:xfrm>
            <a:off x="3566160" y="5061203"/>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データセンター向け電力販売急増を受け2026-2030年設備投資計画を約30%増の810億ドルへ引き上げ。</a:t>
            </a:r>
          </a:p>
        </p:txBody>
      </p:sp>
      <p:sp>
        <p:nvSpPr>
          <p:cNvPr id="47" name="Rectangle 46"/>
          <p:cNvSpPr/>
          <p:nvPr/>
        </p:nvSpPr>
        <p:spPr>
          <a:xfrm>
            <a:off x="822960" y="546811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5532119"/>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553211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関西電力</a:t>
            </a:r>
          </a:p>
        </p:txBody>
      </p:sp>
      <p:sp>
        <p:nvSpPr>
          <p:cNvPr id="50" name="TextBox 49"/>
          <p:cNvSpPr txBox="1"/>
          <p:nvPr/>
        </p:nvSpPr>
        <p:spPr>
          <a:xfrm>
            <a:off x="1024128" y="576986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9503</a:t>
            </a:r>
          </a:p>
        </p:txBody>
      </p:sp>
      <p:sp>
        <p:nvSpPr>
          <p:cNvPr id="51" name="TextBox 50"/>
          <p:cNvSpPr txBox="1"/>
          <p:nvPr/>
        </p:nvSpPr>
        <p:spPr>
          <a:xfrm>
            <a:off x="3566160" y="553211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データセンター新増設ラッシュによる電力需要急増に対応し、送配電子会社が変電所・送電線新増設に1500億円超を追加投資。</a:t>
            </a:r>
          </a:p>
        </p:txBody>
      </p:sp>
      <p:sp>
        <p:nvSpPr>
          <p:cNvPr id="52" name="Rectangle 51"/>
          <p:cNvSpPr/>
          <p:nvPr/>
        </p:nvSpPr>
        <p:spPr>
          <a:xfrm>
            <a:off x="822960" y="59390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16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11  </a:t>
            </a:r>
            <a:r>
              <a:rPr sz="1250" b="1">
                <a:solidFill>
                  <a:srgbClr val="373C43"/>
                </a:solidFill>
                <a:latin typeface="Noto Sans JP"/>
                <a:ea typeface="Noto Sans JP"/>
              </a:rPr>
              <a:t>電力インフラ（発送電・系統増強）</a:t>
            </a:r>
            <a:r>
              <a:rPr sz="900" b="1">
                <a:solidFill>
                  <a:srgbClr val="9AA1A9"/>
                </a:solidFill>
                <a:latin typeface="Consolas"/>
                <a:ea typeface="Consolas"/>
              </a:rPr>
              <a:t>　9社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東京電力ホールディングス</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9501</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千葉印西・白井エリア等のデータセンター集積による電力需要急増に対応し、送配電子会社が2027年度までに送電網増強へ4700億円を投資。</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九州電力</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9508</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TSMC進出等半導体関連需要増に対応し、送配電子会社が2027年度までの5カ年設備投資を前期比1割増の約6500億円とする計画。</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中部電力</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9502</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データセンター・半導体工場の需要増を見据え、新中期経営計画で地域間連系線・地内系統増強等の次世代電力ネットワーク構築に重点投資する方針。</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630168"/>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78992" y="3566159"/>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12  </a:t>
            </a:r>
            <a:r>
              <a:rPr sz="1250" b="1">
                <a:solidFill>
                  <a:srgbClr val="15181C"/>
                </a:solidFill>
                <a:latin typeface="Noto Sans JP"/>
                <a:ea typeface="Noto Sans JP"/>
              </a:rPr>
              <a:t>非常用発電機・UPS</a:t>
            </a:r>
            <a:r>
              <a:rPr sz="900" b="1">
                <a:solidFill>
                  <a:srgbClr val="9AA1A9"/>
                </a:solidFill>
                <a:latin typeface="Consolas"/>
                <a:ea typeface="Consolas"/>
              </a:rPr>
              <a:t>　8社 ・ 優先度 中</a:t>
            </a:r>
          </a:p>
        </p:txBody>
      </p:sp>
      <p:sp>
        <p:nvSpPr>
          <p:cNvPr id="27" name="Rectangle 26"/>
          <p:cNvSpPr/>
          <p:nvPr/>
        </p:nvSpPr>
        <p:spPr>
          <a:xfrm>
            <a:off x="822960" y="3959352"/>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4041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4041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Eaton Corporation plc</a:t>
            </a:r>
          </a:p>
        </p:txBody>
      </p:sp>
      <p:sp>
        <p:nvSpPr>
          <p:cNvPr id="30" name="TextBox 29"/>
          <p:cNvSpPr txBox="1"/>
          <p:nvPr/>
        </p:nvSpPr>
        <p:spPr>
          <a:xfrm>
            <a:off x="1024128" y="4279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愛 ETN</a:t>
            </a:r>
          </a:p>
        </p:txBody>
      </p:sp>
      <p:sp>
        <p:nvSpPr>
          <p:cNvPr id="31" name="TextBox 30"/>
          <p:cNvSpPr txBox="1"/>
          <p:nvPr/>
        </p:nvSpPr>
        <p:spPr>
          <a:xfrm>
            <a:off x="3566160" y="4041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データセンター向けUPS・バスウェイ・PDU等の電源機器需要急増によりElectrical Americas部門のデータセンター受注が前年比約240%増、部門バックログが過去最高水準に拡大。</a:t>
            </a:r>
          </a:p>
        </p:txBody>
      </p:sp>
      <p:sp>
        <p:nvSpPr>
          <p:cNvPr id="32" name="Rectangle 31"/>
          <p:cNvSpPr/>
          <p:nvPr/>
        </p:nvSpPr>
        <p:spPr>
          <a:xfrm>
            <a:off x="822960" y="464515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70915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709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台達電子工業</a:t>
            </a:r>
          </a:p>
        </p:txBody>
      </p:sp>
      <p:sp>
        <p:nvSpPr>
          <p:cNvPr id="35" name="TextBox 34"/>
          <p:cNvSpPr txBox="1"/>
          <p:nvPr/>
        </p:nvSpPr>
        <p:spPr>
          <a:xfrm>
            <a:off x="1024128" y="4946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台 2308</a:t>
            </a:r>
          </a:p>
        </p:txBody>
      </p:sp>
      <p:sp>
        <p:nvSpPr>
          <p:cNvPr id="36" name="TextBox 35"/>
          <p:cNvSpPr txBox="1"/>
          <p:nvPr/>
        </p:nvSpPr>
        <p:spPr>
          <a:xfrm>
            <a:off x="3566160" y="4709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AIデータセンター向け電源（UPS含む）需要拡大により電源部門売上に占めるAI関連比率が上昇し、桃園・観音の新工場建設に約120億台湾元を投じ増産体制を強化。</a:t>
            </a:r>
          </a:p>
        </p:txBody>
      </p:sp>
      <p:sp>
        <p:nvSpPr>
          <p:cNvPr id="37" name="Rectangle 36"/>
          <p:cNvSpPr/>
          <p:nvPr/>
        </p:nvSpPr>
        <p:spPr>
          <a:xfrm>
            <a:off x="822960" y="5312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537667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5376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Piller Power Systems</a:t>
            </a:r>
          </a:p>
        </p:txBody>
      </p:sp>
      <p:sp>
        <p:nvSpPr>
          <p:cNvPr id="40" name="TextBox 39"/>
          <p:cNvSpPr txBox="1"/>
          <p:nvPr/>
        </p:nvSpPr>
        <p:spPr>
          <a:xfrm>
            <a:off x="1024128" y="5614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41" name="TextBox 40"/>
          <p:cNvSpPr txBox="1"/>
          <p:nvPr/>
        </p:nvSpPr>
        <p:spPr>
          <a:xfrm>
            <a:off x="3566160" y="5376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フライホイール式（キネティック）DRUPSの世界最大手として、AIデータセンター向け需要拡大により受注残高が1年で2倍超に拡大。</a:t>
            </a:r>
          </a:p>
        </p:txBody>
      </p:sp>
      <p:sp>
        <p:nvSpPr>
          <p:cNvPr id="42" name="Rectangle 41"/>
          <p:cNvSpPr/>
          <p:nvPr/>
        </p:nvSpPr>
        <p:spPr>
          <a:xfrm>
            <a:off x="822960" y="5980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6044184"/>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604418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ジーエス・ユアサ コーポレーション</a:t>
            </a:r>
          </a:p>
        </p:txBody>
      </p:sp>
      <p:sp>
        <p:nvSpPr>
          <p:cNvPr id="45" name="TextBox 44"/>
          <p:cNvSpPr txBox="1"/>
          <p:nvPr/>
        </p:nvSpPr>
        <p:spPr>
          <a:xfrm>
            <a:off x="1024128" y="628192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6674</a:t>
            </a:r>
          </a:p>
        </p:txBody>
      </p:sp>
      <p:sp>
        <p:nvSpPr>
          <p:cNvPr id="46" name="TextBox 45"/>
          <p:cNvSpPr txBox="1"/>
          <p:nvPr/>
        </p:nvSpPr>
        <p:spPr>
          <a:xfrm>
            <a:off x="3566160" y="604418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データセンター・半導体工場向け非常用電池電源（UPS用蓄電池含む）の大型受注獲得により産業電池電源事業が増収増益を継続。</a:t>
            </a:r>
          </a:p>
        </p:txBody>
      </p:sp>
      <p:sp>
        <p:nvSpPr>
          <p:cNvPr id="47" name="Rectangle 46"/>
          <p:cNvSpPr/>
          <p:nvPr/>
        </p:nvSpPr>
        <p:spPr>
          <a:xfrm>
            <a:off x="822960" y="645109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17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12  </a:t>
            </a:r>
            <a:r>
              <a:rPr sz="1250" b="1">
                <a:solidFill>
                  <a:srgbClr val="373C43"/>
                </a:solidFill>
                <a:latin typeface="Noto Sans JP"/>
                <a:ea typeface="Noto Sans JP"/>
              </a:rPr>
              <a:t>非常用発電機・UPS</a:t>
            </a:r>
            <a:r>
              <a:rPr sz="900" b="1">
                <a:solidFill>
                  <a:srgbClr val="9AA1A9"/>
                </a:solidFill>
                <a:latin typeface="Consolas"/>
                <a:ea typeface="Consolas"/>
              </a:rPr>
              <a:t>　8社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EnerSys</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米 ENS</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データセンター向け鉛蓄電池バックアップ電源で米国市場シェア50%超を握り、AI負荷急増を背景にデータセンター向け売上高が前年比28%増加。</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エア・ウォーター</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4088</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子会社Hitec Power Protection（オランダ）を中核とする高出力UPS事業がデータセンター・半導体工場向け需要拡大でアジア・北米の受注を伸ばし増収増益に貢献。</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科華數據</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中 002335</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大型インターネット企業・AI半導体メーカー向けの智算（AIコンピューティング）関連データセンター・UPS事業に経営資源を集中し増収増益。</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566159"/>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566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科士達</a:t>
            </a:r>
          </a:p>
        </p:txBody>
      </p:sp>
      <p:sp>
        <p:nvSpPr>
          <p:cNvPr id="27" name="TextBox 26"/>
          <p:cNvSpPr txBox="1"/>
          <p:nvPr/>
        </p:nvSpPr>
        <p:spPr>
          <a:xfrm>
            <a:off x="1024128" y="3803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中 002518</a:t>
            </a:r>
          </a:p>
        </p:txBody>
      </p:sp>
      <p:sp>
        <p:nvSpPr>
          <p:cNvPr id="28" name="TextBox 27"/>
          <p:cNvSpPr txBox="1"/>
          <p:nvPr/>
        </p:nvSpPr>
        <p:spPr>
          <a:xfrm>
            <a:off x="3566160" y="356615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UPS・精密空調・マイクロモジュール等のデータセンター基幹製品事業が牽引し増収増益が加速、海外売上高が初めて国内を上回った。</a:t>
            </a:r>
          </a:p>
        </p:txBody>
      </p:sp>
      <p:sp>
        <p:nvSpPr>
          <p:cNvPr id="29" name="Rectangle 28"/>
          <p:cNvSpPr/>
          <p:nvPr/>
        </p:nvSpPr>
        <p:spPr>
          <a:xfrm>
            <a:off x="822960" y="397306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10108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8992" y="4037075"/>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13  </a:t>
            </a:r>
            <a:r>
              <a:rPr sz="1250" b="1">
                <a:solidFill>
                  <a:srgbClr val="15181C"/>
                </a:solidFill>
                <a:latin typeface="Noto Sans JP"/>
                <a:ea typeface="Noto Sans JP"/>
              </a:rPr>
              <a:t>防音・免震・セキュリティ</a:t>
            </a:r>
            <a:r>
              <a:rPr sz="900" b="1">
                <a:solidFill>
                  <a:srgbClr val="9AA1A9"/>
                </a:solidFill>
                <a:latin typeface="Consolas"/>
                <a:ea typeface="Consolas"/>
              </a:rPr>
              <a:t>　3社 ・ 優先度 低</a:t>
            </a:r>
          </a:p>
        </p:txBody>
      </p:sp>
      <p:sp>
        <p:nvSpPr>
          <p:cNvPr id="32" name="Rectangle 31"/>
          <p:cNvSpPr/>
          <p:nvPr/>
        </p:nvSpPr>
        <p:spPr>
          <a:xfrm>
            <a:off x="822960" y="4430267"/>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512564"/>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51256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オイレス工業株式会社</a:t>
            </a:r>
          </a:p>
        </p:txBody>
      </p:sp>
      <p:sp>
        <p:nvSpPr>
          <p:cNvPr id="35" name="TextBox 34"/>
          <p:cNvSpPr txBox="1"/>
          <p:nvPr/>
        </p:nvSpPr>
        <p:spPr>
          <a:xfrm>
            <a:off x="1024128" y="475030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6282</a:t>
            </a:r>
          </a:p>
        </p:txBody>
      </p:sp>
      <p:sp>
        <p:nvSpPr>
          <p:cNvPr id="36" name="TextBox 35"/>
          <p:cNvSpPr txBox="1"/>
          <p:nvPr/>
        </p:nvSpPr>
        <p:spPr>
          <a:xfrm>
            <a:off x="3566160" y="451256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都市型データセンター・物流施設向け免震装置のスペックイン提案を構造機器事業の重点領域と位置づけ、大型案件の受注確保に注力している。</a:t>
            </a:r>
          </a:p>
        </p:txBody>
      </p:sp>
      <p:sp>
        <p:nvSpPr>
          <p:cNvPr id="37" name="Rectangle 36"/>
          <p:cNvSpPr/>
          <p:nvPr/>
        </p:nvSpPr>
        <p:spPr>
          <a:xfrm>
            <a:off x="822960" y="511606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5180076"/>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518007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日創グループ株式会社</a:t>
            </a:r>
          </a:p>
        </p:txBody>
      </p:sp>
      <p:sp>
        <p:nvSpPr>
          <p:cNvPr id="40" name="TextBox 39"/>
          <p:cNvSpPr txBox="1"/>
          <p:nvPr/>
        </p:nvSpPr>
        <p:spPr>
          <a:xfrm>
            <a:off x="1024128" y="541782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3440</a:t>
            </a:r>
          </a:p>
        </p:txBody>
      </p:sp>
      <p:sp>
        <p:nvSpPr>
          <p:cNvPr id="41" name="TextBox 40"/>
          <p:cNvSpPr txBox="1"/>
          <p:nvPr/>
        </p:nvSpPr>
        <p:spPr>
          <a:xfrm>
            <a:off x="3566160" y="5180076"/>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子会社ワタナベテクノスが製造するデータセンター向け非常用発電機用防音筐体・消音ダクトの受注が、生成AI需要によるデータセンター建設急増を背景に拡大し、金属加工事業の増収要因となっている。</a:t>
            </a:r>
          </a:p>
        </p:txBody>
      </p:sp>
      <p:sp>
        <p:nvSpPr>
          <p:cNvPr id="42" name="Rectangle 41"/>
          <p:cNvSpPr/>
          <p:nvPr/>
        </p:nvSpPr>
        <p:spPr>
          <a:xfrm>
            <a:off x="822960" y="578358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847588"/>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84758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オプテックスグループ株式会社</a:t>
            </a:r>
          </a:p>
        </p:txBody>
      </p:sp>
      <p:sp>
        <p:nvSpPr>
          <p:cNvPr id="45" name="TextBox 44"/>
          <p:cNvSpPr txBox="1"/>
          <p:nvPr/>
        </p:nvSpPr>
        <p:spPr>
          <a:xfrm>
            <a:off x="1024128" y="608533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6914</a:t>
            </a:r>
          </a:p>
        </p:txBody>
      </p:sp>
      <p:sp>
        <p:nvSpPr>
          <p:cNvPr id="46" name="TextBox 45"/>
          <p:cNvSpPr txBox="1"/>
          <p:nvPr/>
        </p:nvSpPr>
        <p:spPr>
          <a:xfrm>
            <a:off x="3566160" y="5847588"/>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AI・データセンター向けインフラ投資拡大を背景に、北米を中心にデータセンター等重要施設向け防犯センサー（レーザースキャンセンサー等の高収益製品）の受注・需要が拡大している。</a:t>
            </a:r>
          </a:p>
        </p:txBody>
      </p:sp>
      <p:sp>
        <p:nvSpPr>
          <p:cNvPr id="47" name="Rectangle 46"/>
          <p:cNvSpPr/>
          <p:nvPr/>
        </p:nvSpPr>
        <p:spPr>
          <a:xfrm>
            <a:off x="822960" y="645109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18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14  </a:t>
            </a:r>
            <a:r>
              <a:rPr sz="1250" b="1">
                <a:solidFill>
                  <a:srgbClr val="15181C"/>
                </a:solidFill>
                <a:latin typeface="Noto Sans JP"/>
                <a:ea typeface="Noto Sans JP"/>
              </a:rPr>
              <a:t>建設資材・特殊建材</a:t>
            </a:r>
            <a:r>
              <a:rPr sz="900" b="1">
                <a:solidFill>
                  <a:srgbClr val="9AA1A9"/>
                </a:solidFill>
                <a:latin typeface="Consolas"/>
                <a:ea typeface="Consolas"/>
              </a:rPr>
              <a:t>　1社 ・ 優先度 低</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ヤマックス</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5285</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熊本県内の半導体関連産業集積による工場建設需要でコンクリート二次製品（プレキャスト）の受注が想定超で拡大し、TSMC熊本工場のクリーンルーム床材にも採用。</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95144"/>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2231135"/>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15  </a:t>
            </a:r>
            <a:r>
              <a:rPr sz="1250" b="1">
                <a:solidFill>
                  <a:srgbClr val="15181C"/>
                </a:solidFill>
                <a:latin typeface="Noto Sans JP"/>
                <a:ea typeface="Noto Sans JP"/>
              </a:rPr>
              <a:t>半導体装置 部品・サブシステム</a:t>
            </a:r>
            <a:r>
              <a:rPr sz="900" b="1">
                <a:solidFill>
                  <a:srgbClr val="9AA1A9"/>
                </a:solidFill>
                <a:latin typeface="Consolas"/>
                <a:ea typeface="Consolas"/>
              </a:rPr>
              <a:t>　9社 ・ 優先度 中</a:t>
            </a:r>
          </a:p>
        </p:txBody>
      </p:sp>
      <p:sp>
        <p:nvSpPr>
          <p:cNvPr id="17" name="Rectangle 16"/>
          <p:cNvSpPr/>
          <p:nvPr/>
        </p:nvSpPr>
        <p:spPr>
          <a:xfrm>
            <a:off x="822960" y="2624327"/>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2706623"/>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270662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SMC</a:t>
            </a:r>
          </a:p>
        </p:txBody>
      </p:sp>
      <p:sp>
        <p:nvSpPr>
          <p:cNvPr id="20" name="TextBox 19"/>
          <p:cNvSpPr txBox="1"/>
          <p:nvPr/>
        </p:nvSpPr>
        <p:spPr>
          <a:xfrm>
            <a:off x="1024128" y="2944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6273</a:t>
            </a:r>
          </a:p>
        </p:txBody>
      </p:sp>
      <p:sp>
        <p:nvSpPr>
          <p:cNvPr id="21" name="TextBox 20"/>
          <p:cNvSpPr txBox="1"/>
          <p:nvPr/>
        </p:nvSpPr>
        <p:spPr>
          <a:xfrm>
            <a:off x="3566160" y="2706623"/>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空気圧制御機器の世界トップ（グローバルシェア約4割）として半導体製造装置に多用され、AI半導体の前工程投資回復を背景に2026年3月期は売上高8425億円（+6.4%）・経常利益2356億円（+12.2%）と半導体関連需要回復で増収増益。</a:t>
            </a:r>
          </a:p>
        </p:txBody>
      </p:sp>
      <p:sp>
        <p:nvSpPr>
          <p:cNvPr id="22" name="Rectangle 21"/>
          <p:cNvSpPr/>
          <p:nvPr/>
        </p:nvSpPr>
        <p:spPr>
          <a:xfrm>
            <a:off x="822960" y="3310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3374135"/>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3374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CKD</a:t>
            </a:r>
          </a:p>
        </p:txBody>
      </p:sp>
      <p:sp>
        <p:nvSpPr>
          <p:cNvPr id="25" name="TextBox 24"/>
          <p:cNvSpPr txBox="1"/>
          <p:nvPr/>
        </p:nvSpPr>
        <p:spPr>
          <a:xfrm>
            <a:off x="1024128" y="3611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6407</a:t>
            </a:r>
          </a:p>
        </p:txBody>
      </p:sp>
      <p:sp>
        <p:nvSpPr>
          <p:cNvPr id="26" name="TextBox 25"/>
          <p:cNvSpPr txBox="1"/>
          <p:nvPr/>
        </p:nvSpPr>
        <p:spPr>
          <a:xfrm>
            <a:off x="3566160" y="3374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空気圧・流体制御機器および半導体製造装置向けコンポーネント（薬液用バルブ等）が主力で、半導体関連需要は堅調に推移し海外向け販売が伸長。全社では自動機械の反動減で2026年3月期は減益だが半導体部品事業はAI投資を追い風に底堅い。</a:t>
            </a:r>
          </a:p>
        </p:txBody>
      </p:sp>
      <p:sp>
        <p:nvSpPr>
          <p:cNvPr id="27" name="Rectangle 26"/>
          <p:cNvSpPr/>
          <p:nvPr/>
        </p:nvSpPr>
        <p:spPr>
          <a:xfrm>
            <a:off x="822960" y="3977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4041647"/>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4041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日本ピラー工業</a:t>
            </a:r>
          </a:p>
        </p:txBody>
      </p:sp>
      <p:sp>
        <p:nvSpPr>
          <p:cNvPr id="30" name="TextBox 29"/>
          <p:cNvSpPr txBox="1"/>
          <p:nvPr/>
        </p:nvSpPr>
        <p:spPr>
          <a:xfrm>
            <a:off x="1024128" y="4279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6490</a:t>
            </a:r>
          </a:p>
        </p:txBody>
      </p:sp>
      <p:sp>
        <p:nvSpPr>
          <p:cNvPr id="31" name="TextBox 30"/>
          <p:cNvSpPr txBox="1"/>
          <p:nvPr/>
        </p:nvSpPr>
        <p:spPr>
          <a:xfrm>
            <a:off x="3566160" y="4041647"/>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向け超純水・薬液用フッ素樹脂継手/メカニカルシールで高シェアを持ち、AI半導体の微細化・洗浄工程増で需要拡大。2026年3月期は売上高594.8億円・営業利益121.1億円と増収増益、2027年3月期は売上高700億円・営業利益155億円へ大幅拡大を計画。</a:t>
            </a:r>
          </a:p>
        </p:txBody>
      </p:sp>
      <p:sp>
        <p:nvSpPr>
          <p:cNvPr id="32" name="Rectangle 31"/>
          <p:cNvSpPr/>
          <p:nvPr/>
        </p:nvSpPr>
        <p:spPr>
          <a:xfrm>
            <a:off x="822960" y="48417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905755"/>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90575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イーグル工業</a:t>
            </a:r>
          </a:p>
        </p:txBody>
      </p:sp>
      <p:sp>
        <p:nvSpPr>
          <p:cNvPr id="35" name="TextBox 34"/>
          <p:cNvSpPr txBox="1"/>
          <p:nvPr/>
        </p:nvSpPr>
        <p:spPr>
          <a:xfrm>
            <a:off x="1024128" y="514349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6486</a:t>
            </a:r>
          </a:p>
        </p:txBody>
      </p:sp>
      <p:sp>
        <p:nvSpPr>
          <p:cNvPr id="36" name="TextBox 35"/>
          <p:cNvSpPr txBox="1"/>
          <p:nvPr/>
        </p:nvSpPr>
        <p:spPr>
          <a:xfrm>
            <a:off x="3566160" y="4905755"/>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製造装置向けメカニカルシールが下期以降に生成AI関連分野中心に回復し、2026年3月期は売上高1774.9億円・営業利益134.7億円（+58.6%）で売上高・経常利益とも過去最高。2027年3月期も生成AI普及を背景に半導体向け販売増を見込む。</a:t>
            </a:r>
          </a:p>
        </p:txBody>
      </p:sp>
      <p:sp>
        <p:nvSpPr>
          <p:cNvPr id="37" name="Rectangle 36"/>
          <p:cNvSpPr/>
          <p:nvPr/>
        </p:nvSpPr>
        <p:spPr>
          <a:xfrm>
            <a:off x="822960" y="57058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19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15  </a:t>
            </a:r>
            <a:r>
              <a:rPr sz="1250" b="1">
                <a:solidFill>
                  <a:srgbClr val="373C43"/>
                </a:solidFill>
                <a:latin typeface="Noto Sans JP"/>
                <a:ea typeface="Noto Sans JP"/>
              </a:rPr>
              <a:t>半導体装置 部品・サブシステム</a:t>
            </a:r>
            <a:r>
              <a:rPr sz="900" b="1">
                <a:solidFill>
                  <a:srgbClr val="9AA1A9"/>
                </a:solidFill>
                <a:latin typeface="Consolas"/>
                <a:ea typeface="Consolas"/>
              </a:rPr>
              <a:t>　9社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堀場製作所</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6856</a:t>
            </a:r>
          </a:p>
        </p:txBody>
      </p:sp>
      <p:sp>
        <p:nvSpPr>
          <p:cNvPr id="13" name="TextBox 12"/>
          <p:cNvSpPr txBox="1"/>
          <p:nvPr/>
        </p:nvSpPr>
        <p:spPr>
          <a:xfrm>
            <a:off x="3566160" y="156362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製造装置向けマスフローコントローラ（世界シェア約6割）が主力で、AI・データセンター需要を背景にアジアの半導体装置メーカー向け販売が拡大。半導体セグメントの好調で2026年12月期通期見通しを売上高3730億円・営業利益680億円（+28.2%）へ上方修正。</a:t>
            </a:r>
          </a:p>
        </p:txBody>
      </p:sp>
      <p:sp>
        <p:nvSpPr>
          <p:cNvPr id="14" name="Rectangle 13"/>
          <p:cNvSpPr/>
          <p:nvPr/>
        </p:nvSpPr>
        <p:spPr>
          <a:xfrm>
            <a:off x="822960" y="236372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427732"/>
            <a:ext cx="50292" cy="73609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42773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ローツェ</a:t>
            </a:r>
          </a:p>
        </p:txBody>
      </p:sp>
      <p:sp>
        <p:nvSpPr>
          <p:cNvPr id="17" name="TextBox 16"/>
          <p:cNvSpPr txBox="1"/>
          <p:nvPr/>
        </p:nvSpPr>
        <p:spPr>
          <a:xfrm>
            <a:off x="1024128" y="266547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6323</a:t>
            </a:r>
          </a:p>
        </p:txBody>
      </p:sp>
      <p:sp>
        <p:nvSpPr>
          <p:cNvPr id="18" name="TextBox 17"/>
          <p:cNvSpPr txBox="1"/>
          <p:nvPr/>
        </p:nvSpPr>
        <p:spPr>
          <a:xfrm>
            <a:off x="3566160" y="2427732"/>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半導体搬送ロボット・EFEM・ロードポートで世界シェア25〜35%の隠れたニッチトップ。Applied Materials・TSMCが主要顧客で、AI半導体の前工程装置需要拡大が追い風。2026年2月期は売上高1287.9億円（+3.5%）と増収だが訴訟引当等で減益。</a:t>
            </a:r>
          </a:p>
        </p:txBody>
      </p:sp>
      <p:sp>
        <p:nvSpPr>
          <p:cNvPr id="19" name="Rectangle 18"/>
          <p:cNvSpPr/>
          <p:nvPr/>
        </p:nvSpPr>
        <p:spPr>
          <a:xfrm>
            <a:off x="822960" y="322783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3291839"/>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32918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アドバンテスト</a:t>
            </a:r>
          </a:p>
        </p:txBody>
      </p:sp>
      <p:sp>
        <p:nvSpPr>
          <p:cNvPr id="22" name="TextBox 21"/>
          <p:cNvSpPr txBox="1"/>
          <p:nvPr/>
        </p:nvSpPr>
        <p:spPr>
          <a:xfrm>
            <a:off x="1024128" y="35295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6857</a:t>
            </a:r>
          </a:p>
        </p:txBody>
      </p:sp>
      <p:sp>
        <p:nvSpPr>
          <p:cNvPr id="23" name="TextBox 22"/>
          <p:cNvSpPr txBox="1"/>
          <p:nvPr/>
        </p:nvSpPr>
        <p:spPr>
          <a:xfrm>
            <a:off x="3566160" y="3291839"/>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向け高性能半導体（GPU/HBM/SoC）向け半導体テスタ需要の急拡大により2026年3月期は売上高1兆1286億円（+44.7%）・営業利益4991億円（+118.8%）と過去最高を更新し、2027年3月期は売上高1兆4200億円へさらに拡大を計画。</a:t>
            </a:r>
          </a:p>
        </p:txBody>
      </p:sp>
      <p:sp>
        <p:nvSpPr>
          <p:cNvPr id="24" name="Rectangle 23"/>
          <p:cNvSpPr/>
          <p:nvPr/>
        </p:nvSpPr>
        <p:spPr>
          <a:xfrm>
            <a:off x="822960" y="409194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4155948"/>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415594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ダイフク</a:t>
            </a:r>
          </a:p>
        </p:txBody>
      </p:sp>
      <p:sp>
        <p:nvSpPr>
          <p:cNvPr id="27" name="TextBox 26"/>
          <p:cNvSpPr txBox="1"/>
          <p:nvPr/>
        </p:nvSpPr>
        <p:spPr>
          <a:xfrm>
            <a:off x="1024128" y="439369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6383</a:t>
            </a:r>
          </a:p>
        </p:txBody>
      </p:sp>
      <p:sp>
        <p:nvSpPr>
          <p:cNvPr id="28" name="TextBox 27"/>
          <p:cNvSpPr txBox="1"/>
          <p:nvPr/>
        </p:nvSpPr>
        <p:spPr>
          <a:xfrm>
            <a:off x="3566160" y="4155948"/>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半導体クリーンルーム向けAMHS（自動搬送システム）で世界大手。生成AIによる先端半導体投資拡大を背景に2026年3月期第1四半期の受注高が2213億円（+54.7%）と過去最高を更新し、売上・営業利益とも増加。</a:t>
            </a:r>
          </a:p>
        </p:txBody>
      </p:sp>
      <p:sp>
        <p:nvSpPr>
          <p:cNvPr id="29" name="Rectangle 28"/>
          <p:cNvSpPr/>
          <p:nvPr/>
        </p:nvSpPr>
        <p:spPr>
          <a:xfrm>
            <a:off x="822960" y="475945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823459"/>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8234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フェローテックホールディングス</a:t>
            </a:r>
          </a:p>
        </p:txBody>
      </p:sp>
      <p:sp>
        <p:nvSpPr>
          <p:cNvPr id="32" name="TextBox 31"/>
          <p:cNvSpPr txBox="1"/>
          <p:nvPr/>
        </p:nvSpPr>
        <p:spPr>
          <a:xfrm>
            <a:off x="1024128" y="50612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6890</a:t>
            </a:r>
          </a:p>
        </p:txBody>
      </p:sp>
      <p:sp>
        <p:nvSpPr>
          <p:cNvPr id="33" name="TextBox 32"/>
          <p:cNvSpPr txBox="1"/>
          <p:nvPr/>
        </p:nvSpPr>
        <p:spPr>
          <a:xfrm>
            <a:off x="3566160" y="48234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製造装置向け真空シール・石英/セラミック等の部品・消耗品事業が主力で、生成AIサーバー投資・メモリ製造装置投資の拡大が追い風。2026年3月期は半導体等装置関連事業が好調で増収増益、部品加工能力の増強を推進。</a:t>
            </a:r>
          </a:p>
        </p:txBody>
      </p:sp>
      <p:sp>
        <p:nvSpPr>
          <p:cNvPr id="34" name="Rectangle 33"/>
          <p:cNvSpPr/>
          <p:nvPr/>
        </p:nvSpPr>
        <p:spPr>
          <a:xfrm>
            <a:off x="822960" y="54269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20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16  </a:t>
            </a:r>
            <a:r>
              <a:rPr sz="1250" b="1">
                <a:solidFill>
                  <a:srgbClr val="15181C"/>
                </a:solidFill>
                <a:latin typeface="Noto Sans JP"/>
                <a:ea typeface="Noto Sans JP"/>
              </a:rPr>
              <a:t>電子部品・基板・産業ガス</a:t>
            </a:r>
            <a:r>
              <a:rPr sz="900" b="1">
                <a:solidFill>
                  <a:srgbClr val="9AA1A9"/>
                </a:solidFill>
                <a:latin typeface="Consolas"/>
                <a:ea typeface="Consolas"/>
              </a:rPr>
              <a:t>　8社 ・ 優先度 中</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イビデン</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4062</a:t>
            </a:r>
          </a:p>
        </p:txBody>
      </p:sp>
      <p:sp>
        <p:nvSpPr>
          <p:cNvPr id="13" name="TextBox 12"/>
          <p:cNvSpPr txBox="1"/>
          <p:nvPr/>
        </p:nvSpPr>
        <p:spPr>
          <a:xfrm>
            <a:off x="3566160" y="156362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サーバー向けICパッケージ基板の受注が堅調で2026年3月期は売上高4162億円（+12.7%）・営業利益620億円（+30.3%）と増収増益。2026年度から3年間で総額5000億円を投じAIサーバー向け基板の生産能力を2028年3月期に2.5倍へ拡大する計画。</a:t>
            </a:r>
          </a:p>
        </p:txBody>
      </p:sp>
      <p:sp>
        <p:nvSpPr>
          <p:cNvPr id="14" name="Rectangle 13"/>
          <p:cNvSpPr/>
          <p:nvPr/>
        </p:nvSpPr>
        <p:spPr>
          <a:xfrm>
            <a:off x="822960" y="236372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427732"/>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42773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新光電気工業</a:t>
            </a:r>
          </a:p>
        </p:txBody>
      </p:sp>
      <p:sp>
        <p:nvSpPr>
          <p:cNvPr id="17" name="TextBox 16"/>
          <p:cNvSpPr txBox="1"/>
          <p:nvPr/>
        </p:nvSpPr>
        <p:spPr>
          <a:xfrm>
            <a:off x="1024128" y="266547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6967</a:t>
            </a:r>
          </a:p>
        </p:txBody>
      </p:sp>
      <p:sp>
        <p:nvSpPr>
          <p:cNvPr id="18" name="TextBox 17"/>
          <p:cNvSpPr txBox="1"/>
          <p:nvPr/>
        </p:nvSpPr>
        <p:spPr>
          <a:xfrm>
            <a:off x="3566160" y="242773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CPU/GPU向け高性能半導体パッケージ基板（FC-BGA）大手で、AI向け半導体需要の拡大がメタルパッケージ事業等を牽引。JIC傘下で非上場化し、AIパッケージング需要を背景に成長投資を進める。</a:t>
            </a:r>
          </a:p>
        </p:txBody>
      </p:sp>
      <p:sp>
        <p:nvSpPr>
          <p:cNvPr id="19" name="Rectangle 18"/>
          <p:cNvSpPr/>
          <p:nvPr/>
        </p:nvSpPr>
        <p:spPr>
          <a:xfrm>
            <a:off x="822960" y="303123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309524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309524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村田製作所</a:t>
            </a:r>
          </a:p>
        </p:txBody>
      </p:sp>
      <p:sp>
        <p:nvSpPr>
          <p:cNvPr id="22" name="TextBox 21"/>
          <p:cNvSpPr txBox="1"/>
          <p:nvPr/>
        </p:nvSpPr>
        <p:spPr>
          <a:xfrm>
            <a:off x="1024128" y="333298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6981</a:t>
            </a:r>
          </a:p>
        </p:txBody>
      </p:sp>
      <p:sp>
        <p:nvSpPr>
          <p:cNvPr id="23" name="TextBox 22"/>
          <p:cNvSpPr txBox="1"/>
          <p:nvPr/>
        </p:nvSpPr>
        <p:spPr>
          <a:xfrm>
            <a:off x="3566160" y="309524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MLCCで世界シェア4割強の首位。AIサーバー1台に約3万個のMLCCが必要（従来サーバーの5〜10倍）で需要が急拡大し、2026年4月から15〜35%の価格改定を実施。2027年3月期はAIサーバー需要を背景に増収・営業利益+34.8%を見込む。</a:t>
            </a:r>
          </a:p>
        </p:txBody>
      </p:sp>
      <p:sp>
        <p:nvSpPr>
          <p:cNvPr id="24" name="Rectangle 23"/>
          <p:cNvSpPr/>
          <p:nvPr/>
        </p:nvSpPr>
        <p:spPr>
          <a:xfrm>
            <a:off x="822960" y="36987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762755"/>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76275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TDK</a:t>
            </a:r>
          </a:p>
        </p:txBody>
      </p:sp>
      <p:sp>
        <p:nvSpPr>
          <p:cNvPr id="27" name="TextBox 26"/>
          <p:cNvSpPr txBox="1"/>
          <p:nvPr/>
        </p:nvSpPr>
        <p:spPr>
          <a:xfrm>
            <a:off x="1024128" y="400049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6762</a:t>
            </a:r>
          </a:p>
        </p:txBody>
      </p:sp>
      <p:sp>
        <p:nvSpPr>
          <p:cNvPr id="28" name="TextBox 27"/>
          <p:cNvSpPr txBox="1"/>
          <p:nvPr/>
        </p:nvSpPr>
        <p:spPr>
          <a:xfrm>
            <a:off x="3566160" y="3762755"/>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向けニアラインHDD用部品・パッシブ部品が牽引し2026年3月期は売上高2兆5048億円（+13.6%）・営業利益2724億円（+21.5%）と過去最高。経営陣はAIデータセンター向けパッシブ部品売上を約10倍に拡大する方針を表明。</a:t>
            </a:r>
          </a:p>
        </p:txBody>
      </p:sp>
      <p:sp>
        <p:nvSpPr>
          <p:cNvPr id="29" name="Rectangle 28"/>
          <p:cNvSpPr/>
          <p:nvPr/>
        </p:nvSpPr>
        <p:spPr>
          <a:xfrm>
            <a:off x="822960" y="45628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626864"/>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62686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日本酸素ホールディングス</a:t>
            </a:r>
          </a:p>
        </p:txBody>
      </p:sp>
      <p:sp>
        <p:nvSpPr>
          <p:cNvPr id="32" name="TextBox 31"/>
          <p:cNvSpPr txBox="1"/>
          <p:nvPr/>
        </p:nvSpPr>
        <p:spPr>
          <a:xfrm>
            <a:off x="1024128" y="486460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4091</a:t>
            </a:r>
          </a:p>
        </p:txBody>
      </p:sp>
      <p:sp>
        <p:nvSpPr>
          <p:cNvPr id="33" name="TextBox 32"/>
          <p:cNvSpPr txBox="1"/>
          <p:nvPr/>
        </p:nvSpPr>
        <p:spPr>
          <a:xfrm>
            <a:off x="3566160" y="462686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産業ガス国内首位・エレクトロニクス向け特殊ガスで世界3強。半導体向け特殊ガス・オンサイトガス供給がAI半導体増産を背景に堅調で、2026年3月期第3四半期累計は売上収益9977億円（+2.7%）・営業利益1461億円（+13.5%）と増収増益。</a:t>
            </a:r>
          </a:p>
        </p:txBody>
      </p:sp>
      <p:sp>
        <p:nvSpPr>
          <p:cNvPr id="34" name="Rectangle 33"/>
          <p:cNvSpPr/>
          <p:nvPr/>
        </p:nvSpPr>
        <p:spPr>
          <a:xfrm>
            <a:off x="822960" y="523036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5294376"/>
            <a:ext cx="50292" cy="73609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529437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関東電化工業</a:t>
            </a:r>
          </a:p>
        </p:txBody>
      </p:sp>
      <p:sp>
        <p:nvSpPr>
          <p:cNvPr id="37" name="TextBox 36"/>
          <p:cNvSpPr txBox="1"/>
          <p:nvPr/>
        </p:nvSpPr>
        <p:spPr>
          <a:xfrm>
            <a:off x="1024128" y="553212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4047</a:t>
            </a:r>
          </a:p>
        </p:txBody>
      </p:sp>
      <p:sp>
        <p:nvSpPr>
          <p:cNvPr id="38" name="TextBox 37"/>
          <p:cNvSpPr txBox="1"/>
          <p:nvPr/>
        </p:nvSpPr>
        <p:spPr>
          <a:xfrm>
            <a:off x="3566160" y="5294376"/>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エッチング・クリーニング用含フッ素特殊ガス等の精密化学品が主力で、AI半導体増産を背景に需要拡大。2026年3月期は売上高654億円（+4.9%）・経常利益66.3億円（+47.1%）と大幅増益、2027年3月期は売上高950億円・経常利益100億円へ拡大を計画。</a:t>
            </a:r>
          </a:p>
        </p:txBody>
      </p:sp>
      <p:sp>
        <p:nvSpPr>
          <p:cNvPr id="39" name="Rectangle 38"/>
          <p:cNvSpPr/>
          <p:nvPr/>
        </p:nvSpPr>
        <p:spPr>
          <a:xfrm>
            <a:off x="822960" y="60944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21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16  </a:t>
            </a:r>
            <a:r>
              <a:rPr sz="1250" b="1">
                <a:solidFill>
                  <a:srgbClr val="373C43"/>
                </a:solidFill>
                <a:latin typeface="Noto Sans JP"/>
                <a:ea typeface="Noto Sans JP"/>
              </a:rPr>
              <a:t>電子部品・基板・産業ガス</a:t>
            </a:r>
            <a:r>
              <a:rPr sz="900" b="1">
                <a:solidFill>
                  <a:srgbClr val="9AA1A9"/>
                </a:solidFill>
                <a:latin typeface="Consolas"/>
                <a:ea typeface="Consolas"/>
              </a:rPr>
              <a:t>　8社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トリケミカル研究所</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4369</a:t>
            </a:r>
          </a:p>
        </p:txBody>
      </p:sp>
      <p:sp>
        <p:nvSpPr>
          <p:cNvPr id="13" name="TextBox 12"/>
          <p:cNvSpPr txBox="1"/>
          <p:nvPr/>
        </p:nvSpPr>
        <p:spPr>
          <a:xfrm>
            <a:off x="3566160" y="156362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微細化に不可欠なHigh-k材料等の超高純度前駆体材料で高シェア。生成AI需要を背景に2026年1月期第3四半期累計は売上高180.1億円（+37.4%）・営業利益45.6億円（+30.2%）と増収増益、2027年1月期もAI半導体向け需要増が続く。</a:t>
            </a:r>
          </a:p>
        </p:txBody>
      </p:sp>
      <p:sp>
        <p:nvSpPr>
          <p:cNvPr id="14" name="Rectangle 13"/>
          <p:cNvSpPr/>
          <p:nvPr/>
        </p:nvSpPr>
        <p:spPr>
          <a:xfrm>
            <a:off x="822960" y="236372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427732"/>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42773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太陽誘電</a:t>
            </a:r>
          </a:p>
        </p:txBody>
      </p:sp>
      <p:sp>
        <p:nvSpPr>
          <p:cNvPr id="17" name="TextBox 16"/>
          <p:cNvSpPr txBox="1"/>
          <p:nvPr/>
        </p:nvSpPr>
        <p:spPr>
          <a:xfrm>
            <a:off x="1024128" y="266547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6976</a:t>
            </a:r>
          </a:p>
        </p:txBody>
      </p:sp>
      <p:sp>
        <p:nvSpPr>
          <p:cNvPr id="18" name="TextBox 17"/>
          <p:cNvSpPr txBox="1"/>
          <p:nvPr/>
        </p:nvSpPr>
        <p:spPr>
          <a:xfrm>
            <a:off x="3566160" y="2427732"/>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サーバー向けMLCC需要（1台あたり約2.8万個、従来サーバーの約10倍超）が急拡大し2026年3月期は営業利益200億円（+91.2%）・純利益は前年の5.4倍。2027年3月期は営業利益300億円（+50%）を計画し受注のブック・ツー・ビルは1.25と高水準。</a:t>
            </a:r>
          </a:p>
        </p:txBody>
      </p:sp>
      <p:sp>
        <p:nvSpPr>
          <p:cNvPr id="19" name="Rectangle 18"/>
          <p:cNvSpPr/>
          <p:nvPr/>
        </p:nvSpPr>
        <p:spPr>
          <a:xfrm>
            <a:off x="822960" y="322783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3355848"/>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3291839"/>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17  </a:t>
            </a:r>
            <a:r>
              <a:rPr sz="1250" b="1">
                <a:solidFill>
                  <a:srgbClr val="15181C"/>
                </a:solidFill>
                <a:latin typeface="Noto Sans JP"/>
                <a:ea typeface="Noto Sans JP"/>
              </a:rPr>
              <a:t>DC構築SI・DC運営</a:t>
            </a:r>
            <a:r>
              <a:rPr sz="900" b="1">
                <a:solidFill>
                  <a:srgbClr val="9AA1A9"/>
                </a:solidFill>
                <a:latin typeface="Consolas"/>
                <a:ea typeface="Consolas"/>
              </a:rPr>
              <a:t>　8社 ・ 優先度 中</a:t>
            </a:r>
          </a:p>
        </p:txBody>
      </p:sp>
      <p:sp>
        <p:nvSpPr>
          <p:cNvPr id="22" name="Rectangle 21"/>
          <p:cNvSpPr/>
          <p:nvPr/>
        </p:nvSpPr>
        <p:spPr>
          <a:xfrm>
            <a:off x="822960" y="3685031"/>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3767328"/>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376732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さくらインターネット</a:t>
            </a:r>
          </a:p>
        </p:txBody>
      </p:sp>
      <p:sp>
        <p:nvSpPr>
          <p:cNvPr id="25" name="TextBox 24"/>
          <p:cNvSpPr txBox="1"/>
          <p:nvPr/>
        </p:nvSpPr>
        <p:spPr>
          <a:xfrm>
            <a:off x="1024128" y="400507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3778</a:t>
            </a:r>
          </a:p>
        </p:txBody>
      </p:sp>
      <p:sp>
        <p:nvSpPr>
          <p:cNvPr id="26" name="TextBox 25"/>
          <p:cNvSpPr txBox="1"/>
          <p:nvPr/>
        </p:nvSpPr>
        <p:spPr>
          <a:xfrm>
            <a:off x="3566160" y="3767328"/>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生成AI向けGPUインフラ拡大に向け石狩DCの拡張・液冷導入を進めコンテナ型DCでNVIDIA Blackwell GPU約1100基を稼働。2026年3月期のDC設備投資は668億円規模でGPUインフラ売上は前期比+20.3%（発注者A：自社DC新設・GPU据付を発注）。</a:t>
            </a:r>
          </a:p>
        </p:txBody>
      </p:sp>
      <p:sp>
        <p:nvSpPr>
          <p:cNvPr id="27" name="Rectangle 26"/>
          <p:cNvSpPr/>
          <p:nvPr/>
        </p:nvSpPr>
        <p:spPr>
          <a:xfrm>
            <a:off x="822960" y="456742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4631436"/>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463143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インターネットイニシアティブ</a:t>
            </a:r>
          </a:p>
        </p:txBody>
      </p:sp>
      <p:sp>
        <p:nvSpPr>
          <p:cNvPr id="30" name="TextBox 29"/>
          <p:cNvSpPr txBox="1"/>
          <p:nvPr/>
        </p:nvSpPr>
        <p:spPr>
          <a:xfrm>
            <a:off x="1024128" y="486918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3774</a:t>
            </a:r>
          </a:p>
        </p:txBody>
      </p:sp>
      <p:sp>
        <p:nvSpPr>
          <p:cNvPr id="31" name="TextBox 30"/>
          <p:cNvSpPr txBox="1"/>
          <p:nvPr/>
        </p:nvSpPr>
        <p:spPr>
          <a:xfrm>
            <a:off x="3566160" y="4631436"/>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自社サービス需要拡大で白井DCキャンパス3期棟（約1000ラック規模・投資額約300億円）を増設し2026年度運用開始。AI用GPUサーバーの高発熱に備え直接水冷（DLC）対応の水冷Ready設計を採用（発注者A：DC新設・水冷配管/AIサーバー据付を発注）。</a:t>
            </a:r>
          </a:p>
        </p:txBody>
      </p:sp>
      <p:sp>
        <p:nvSpPr>
          <p:cNvPr id="32" name="Rectangle 31"/>
          <p:cNvSpPr/>
          <p:nvPr/>
        </p:nvSpPr>
        <p:spPr>
          <a:xfrm>
            <a:off x="822960" y="543153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549554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549554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NTTデータグループ</a:t>
            </a:r>
          </a:p>
        </p:txBody>
      </p:sp>
      <p:sp>
        <p:nvSpPr>
          <p:cNvPr id="35" name="TextBox 34"/>
          <p:cNvSpPr txBox="1"/>
          <p:nvPr/>
        </p:nvSpPr>
        <p:spPr>
          <a:xfrm>
            <a:off x="1024128" y="573328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9613</a:t>
            </a:r>
          </a:p>
        </p:txBody>
      </p:sp>
      <p:sp>
        <p:nvSpPr>
          <p:cNvPr id="36" name="TextBox 35"/>
          <p:cNvSpPr txBox="1"/>
          <p:nvPr/>
        </p:nvSpPr>
        <p:spPr>
          <a:xfrm>
            <a:off x="3566160" y="549554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DCをAI時代の中核インフラと位置づけ2030年度に3ギガワット超の提供規模を目標。外部ファンドと共同出資会社を設立し今後5年でDC投資を数千億円積み増す計画でAIを成長エンジンに営業収益は初の5兆円超（発注者A：ハイパースケールDC新設を発注）。</a:t>
            </a:r>
          </a:p>
        </p:txBody>
      </p:sp>
      <p:sp>
        <p:nvSpPr>
          <p:cNvPr id="37" name="Rectangle 36"/>
          <p:cNvSpPr/>
          <p:nvPr/>
        </p:nvSpPr>
        <p:spPr>
          <a:xfrm>
            <a:off x="822960" y="60990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22 / 22</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17  </a:t>
            </a:r>
            <a:r>
              <a:rPr sz="1250" b="1">
                <a:solidFill>
                  <a:srgbClr val="373C43"/>
                </a:solidFill>
                <a:latin typeface="Noto Sans JP"/>
                <a:ea typeface="Noto Sans JP"/>
              </a:rPr>
              <a:t>DC構築SI・DC運営</a:t>
            </a:r>
            <a:r>
              <a:rPr sz="900" b="1">
                <a:solidFill>
                  <a:srgbClr val="9AA1A9"/>
                </a:solidFill>
                <a:latin typeface="Consolas"/>
                <a:ea typeface="Consolas"/>
              </a:rPr>
              <a:t>　8社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アイネット</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9600</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横浜の自社DCと連携する新DC「inet annex」を2026年1月に開所しDC・クラウド事業で増収増益を継続。生成AI・GPU需要の受け皿を拡張（発注者A：自社DC新設・増床を発注／上場廃止予定）。</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兼松エレクトロニクス</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8096</a:t>
            </a:r>
          </a:p>
        </p:txBody>
      </p:sp>
      <p:sp>
        <p:nvSpPr>
          <p:cNvPr id="18" name="TextBox 17"/>
          <p:cNvSpPr txBox="1"/>
          <p:nvPr/>
        </p:nvSpPr>
        <p:spPr>
          <a:xfrm>
            <a:off x="3566160" y="2231135"/>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ネットワーク機器・生成AI関連機器の需要とDCインフラ構築需要で3期ぶり増収増益。2026年3月期は売上収益1073億円（+9.7%）・営業利益108億円（+37.2%）2027年3月期は売上1288億円（+20.0%）で過去最高益計画（請負B：サーバー/NW機器の設計・構築・据付を担うITファシリティSIer）。</a:t>
            </a:r>
          </a:p>
        </p:txBody>
      </p:sp>
      <p:sp>
        <p:nvSpPr>
          <p:cNvPr id="19" name="Rectangle 18"/>
          <p:cNvSpPr/>
          <p:nvPr/>
        </p:nvSpPr>
        <p:spPr>
          <a:xfrm>
            <a:off x="822960" y="303123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3095244"/>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309524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伊藤忠テクノソリューションズ</a:t>
            </a:r>
          </a:p>
        </p:txBody>
      </p:sp>
      <p:sp>
        <p:nvSpPr>
          <p:cNvPr id="22" name="TextBox 21"/>
          <p:cNvSpPr txBox="1"/>
          <p:nvPr/>
        </p:nvSpPr>
        <p:spPr>
          <a:xfrm>
            <a:off x="1024128" y="333298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4739</a:t>
            </a:r>
          </a:p>
        </p:txBody>
      </p:sp>
      <p:sp>
        <p:nvSpPr>
          <p:cNvPr id="23" name="TextBox 22"/>
          <p:cNvSpPr txBox="1"/>
          <p:nvPr/>
        </p:nvSpPr>
        <p:spPr>
          <a:xfrm>
            <a:off x="3566160" y="309524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クラウド・GPU基盤サービスが牽引し2026年3月期は売上収益7937億円（+9%）・営業利益804億円（+19%）2027年3月期も増益計画。オンプレ生成AI基盤「CUVIC GPU Zero」等を展開（A＋Bハイブリッド：自社DC発注＋顧客DC/GPU基盤の構築・据付を請負）。</a:t>
            </a:r>
          </a:p>
        </p:txBody>
      </p:sp>
      <p:sp>
        <p:nvSpPr>
          <p:cNvPr id="24" name="Rectangle 23"/>
          <p:cNvSpPr/>
          <p:nvPr/>
        </p:nvSpPr>
        <p:spPr>
          <a:xfrm>
            <a:off x="822960" y="38953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959352"/>
            <a:ext cx="50292" cy="73609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95935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NECネッツエスアイ</a:t>
            </a:r>
          </a:p>
        </p:txBody>
      </p:sp>
      <p:sp>
        <p:nvSpPr>
          <p:cNvPr id="27" name="TextBox 26"/>
          <p:cNvSpPr txBox="1"/>
          <p:nvPr/>
        </p:nvSpPr>
        <p:spPr>
          <a:xfrm>
            <a:off x="1024128" y="41970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8" name="TextBox 27"/>
          <p:cNvSpPr txBox="1"/>
          <p:nvPr/>
        </p:nvSpPr>
        <p:spPr>
          <a:xfrm>
            <a:off x="3566160" y="3959352"/>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企業のAIエージェント/AIインフラ（NW・セキュリティ・コンピューティング）の設計・構築を提供しシスコと連携しCisco AI PODs等を活用した最先端AIインフラ構築・実証を推進（請負B：NW・通信設備・DCファシリティの物理構築/据付を担うエンジニアリング系SIer）。</a:t>
            </a:r>
          </a:p>
        </p:txBody>
      </p:sp>
      <p:sp>
        <p:nvSpPr>
          <p:cNvPr id="29" name="Rectangle 28"/>
          <p:cNvSpPr/>
          <p:nvPr/>
        </p:nvSpPr>
        <p:spPr>
          <a:xfrm>
            <a:off x="822960" y="475945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823460"/>
            <a:ext cx="50292" cy="73609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82346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NTTファシリティーズ</a:t>
            </a:r>
          </a:p>
        </p:txBody>
      </p:sp>
      <p:sp>
        <p:nvSpPr>
          <p:cNvPr id="32" name="TextBox 31"/>
          <p:cNvSpPr txBox="1"/>
          <p:nvPr/>
        </p:nvSpPr>
        <p:spPr>
          <a:xfrm>
            <a:off x="1024128" y="506120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33" name="TextBox 32"/>
          <p:cNvSpPr txBox="1"/>
          <p:nvPr/>
        </p:nvSpPr>
        <p:spPr>
          <a:xfrm>
            <a:off x="3566160" y="4823460"/>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時代の高発熱GPUサーバー対応のDC冷却（液冷・チラーレス液冷空調含む）の設計・施工力を強化し武蔵野に空調実機と模擬負荷（空冷420kW・液冷216kW）を備えた検証施設を構築（請負B：電源・空調・液冷設備の据付/試運転を担うDC設計施工大手）。</a:t>
            </a:r>
          </a:p>
        </p:txBody>
      </p:sp>
      <p:sp>
        <p:nvSpPr>
          <p:cNvPr id="34" name="Rectangle 33"/>
          <p:cNvSpPr/>
          <p:nvPr/>
        </p:nvSpPr>
        <p:spPr>
          <a:xfrm>
            <a:off x="822960" y="562356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