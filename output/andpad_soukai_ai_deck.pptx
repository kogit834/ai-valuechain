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46304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0704" y="1389888"/>
            <a:ext cx="9601200" cy="274320"/>
          </a:xfrm>
          <a:prstGeom prst="rect">
            <a:avLst/>
          </a:prstGeom>
          <a:noFill/>
        </p:spPr>
        <p:txBody>
          <a:bodyPr wrap="square" anchor="t" lIns="0" rIns="0" tIns="0" bIns="0">
            <a:spAutoFit/>
          </a:bodyPr>
          <a:lstStyle/>
          <a:p>
            <a:pPr algn="l">
              <a:lnSpc>
                <a:spcPct val="110000"/>
              </a:lnSpc>
              <a:spcBef>
                <a:spcPts val="0"/>
              </a:spcBef>
              <a:spcAft>
                <a:spcPts val="400"/>
              </a:spcAft>
            </a:pPr>
            <a:r>
              <a:rPr sz="1300" b="1" spc="200">
                <a:solidFill>
                  <a:srgbClr val="E60012"/>
                </a:solidFill>
                <a:latin typeface="Consolas"/>
                <a:ea typeface="Consolas"/>
              </a:rPr>
              <a:t>ANDPAD 本部総会   ·   WHY MANUFACTURING NOW</a:t>
            </a:r>
          </a:p>
        </p:txBody>
      </p:sp>
      <p:sp>
        <p:nvSpPr>
          <p:cNvPr id="5" name="TextBox 4"/>
          <p:cNvSpPr txBox="1"/>
          <p:nvPr/>
        </p:nvSpPr>
        <p:spPr>
          <a:xfrm>
            <a:off x="786384" y="2240280"/>
            <a:ext cx="10789920" cy="2011680"/>
          </a:xfrm>
          <a:prstGeom prst="rect">
            <a:avLst/>
          </a:prstGeom>
          <a:noFill/>
        </p:spPr>
        <p:txBody>
          <a:bodyPr wrap="square" anchor="t" lIns="0" rIns="0" tIns="0" bIns="0">
            <a:spAutoFit/>
          </a:bodyPr>
          <a:lstStyle/>
          <a:p>
            <a:pPr algn="l">
              <a:lnSpc>
                <a:spcPct val="112000"/>
              </a:lnSpc>
              <a:spcBef>
                <a:spcPts val="0"/>
              </a:spcBef>
              <a:spcAft>
                <a:spcPts val="400"/>
              </a:spcAft>
            </a:pPr>
            <a:r>
              <a:rPr sz="4600" b="1">
                <a:solidFill>
                  <a:srgbClr val="15181C"/>
                </a:solidFill>
                <a:latin typeface="Noto Sans JP"/>
                <a:ea typeface="Noto Sans JP"/>
              </a:rPr>
              <a:t>建設SaaSの我々が、</a:t>
            </a:r>
          </a:p>
          <a:p>
            <a:pPr algn="l">
              <a:lnSpc>
                <a:spcPct val="112000"/>
              </a:lnSpc>
              <a:spcBef>
                <a:spcPts val="0"/>
              </a:spcBef>
              <a:spcAft>
                <a:spcPts val="400"/>
              </a:spcAft>
            </a:pPr>
            <a:r>
              <a:rPr sz="4600" b="1">
                <a:solidFill>
                  <a:srgbClr val="15181C"/>
                </a:solidFill>
                <a:latin typeface="Noto Sans JP"/>
                <a:ea typeface="Noto Sans JP"/>
              </a:rPr>
              <a:t>なぜ、いま</a:t>
            </a:r>
            <a:r>
              <a:rPr sz="4600" b="1">
                <a:solidFill>
                  <a:srgbClr val="E60012"/>
                </a:solidFill>
                <a:latin typeface="Noto Sans JP"/>
                <a:ea typeface="Noto Sans JP"/>
              </a:rPr>
              <a:t>製造業</a:t>
            </a:r>
            <a:r>
              <a:rPr sz="4600" b="1">
                <a:solidFill>
                  <a:srgbClr val="15181C"/>
                </a:solidFill>
                <a:latin typeface="Noto Sans JP"/>
                <a:ea typeface="Noto Sans JP"/>
              </a:rPr>
              <a:t>なのか。</a:t>
            </a:r>
          </a:p>
        </p:txBody>
      </p:sp>
      <p:sp>
        <p:nvSpPr>
          <p:cNvPr id="6" name="Rectangle 5"/>
          <p:cNvSpPr/>
          <p:nvPr/>
        </p:nvSpPr>
        <p:spPr>
          <a:xfrm>
            <a:off x="822960" y="4434840"/>
            <a:ext cx="2926080"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709160"/>
            <a:ext cx="10698480" cy="1005840"/>
          </a:xfrm>
          <a:prstGeom prst="rect">
            <a:avLst/>
          </a:prstGeom>
          <a:noFill/>
        </p:spPr>
        <p:txBody>
          <a:bodyPr wrap="square" anchor="t" lIns="0" rIns="0" tIns="0" bIns="0">
            <a:spAutoFit/>
          </a:bodyPr>
          <a:lstStyle/>
          <a:p>
            <a:pPr algn="l">
              <a:lnSpc>
                <a:spcPct val="150000"/>
              </a:lnSpc>
              <a:spcBef>
                <a:spcPts val="0"/>
              </a:spcBef>
              <a:spcAft>
                <a:spcPts val="400"/>
              </a:spcAft>
            </a:pPr>
            <a:r>
              <a:rPr sz="1700" b="0">
                <a:solidFill>
                  <a:srgbClr val="373C43"/>
                </a:solidFill>
                <a:latin typeface="Noto Sans JP"/>
                <a:ea typeface="Noto Sans JP"/>
              </a:rPr>
              <a:t>AIをはじめ世界のメガトレンドは、膨大な“設備”を必要とする。</a:t>
            </a:r>
          </a:p>
          <a:p>
            <a:pPr algn="l">
              <a:lnSpc>
                <a:spcPct val="150000"/>
              </a:lnSpc>
              <a:spcBef>
                <a:spcPts val="0"/>
              </a:spcBef>
              <a:spcAft>
                <a:spcPts val="400"/>
              </a:spcAft>
            </a:pPr>
            <a:r>
              <a:rPr sz="1700" b="0">
                <a:solidFill>
                  <a:srgbClr val="373C43"/>
                </a:solidFill>
                <a:latin typeface="Noto Sans JP"/>
                <a:ea typeface="Noto Sans JP"/>
              </a:rPr>
              <a:t>それを作り・建てるのは、建設業だけでなく製造業がコア——その市場が、いま圧倒的に広がっている。</a:t>
            </a:r>
          </a:p>
        </p:txBody>
      </p:sp>
      <p:sp>
        <p:nvSpPr>
          <p:cNvPr id="8" name="Rectangle 7"/>
          <p:cNvSpPr/>
          <p:nvPr/>
        </p:nvSpPr>
        <p:spPr>
          <a:xfrm>
            <a:off x="822960" y="635508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6455664"/>
            <a:ext cx="1069848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0">
                <a:solidFill>
                  <a:srgbClr val="9AA1A9"/>
                </a:solidFill>
                <a:latin typeface="Consolas"/>
                <a:ea typeface="Consolas"/>
              </a:rPr>
              <a:t>2026-07   /   AIインフラ・バリューチェーン調査（国内外174社・決算/IR一次情報）＋公開データ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世界のメガトレンドと、その“共通の土台”</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01</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世界が動く先には、必ず「設備」がいる。その主役は、製造業だ。</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572768"/>
            <a:ext cx="10543032"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6E767F"/>
                </a:solidFill>
                <a:latin typeface="Noto Sans JP"/>
                <a:ea typeface="Noto Sans JP"/>
              </a:rPr>
              <a:t>いま世界を動かす3つのメガトレンド。どれも、実現するには物理的な“設備”が要る。</a:t>
            </a:r>
          </a:p>
        </p:txBody>
      </p:sp>
      <p:sp>
        <p:nvSpPr>
          <p:cNvPr id="9" name="Rectangle 8"/>
          <p:cNvSpPr/>
          <p:nvPr/>
        </p:nvSpPr>
        <p:spPr>
          <a:xfrm>
            <a:off x="822960" y="2048256"/>
            <a:ext cx="3112008" cy="6400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249424"/>
            <a:ext cx="3112008" cy="219456"/>
          </a:xfrm>
          <a:prstGeom prst="rect">
            <a:avLst/>
          </a:prstGeom>
          <a:noFill/>
        </p:spPr>
        <p:txBody>
          <a:bodyPr wrap="square" anchor="t" lIns="0" rIns="0" tIns="0" bIns="0">
            <a:spAutoFit/>
          </a:bodyPr>
          <a:lstStyle/>
          <a:p>
            <a:pPr algn="l">
              <a:lnSpc>
                <a:spcPct val="110000"/>
              </a:lnSpc>
              <a:spcBef>
                <a:spcPts val="0"/>
              </a:spcBef>
              <a:spcAft>
                <a:spcPts val="400"/>
              </a:spcAft>
            </a:pPr>
            <a:r>
              <a:rPr sz="1100" b="1" spc="100">
                <a:solidFill>
                  <a:srgbClr val="9AA1A9"/>
                </a:solidFill>
                <a:latin typeface="Consolas"/>
                <a:ea typeface="Consolas"/>
              </a:rPr>
              <a:t>01</a:t>
            </a:r>
          </a:p>
        </p:txBody>
      </p:sp>
      <p:sp>
        <p:nvSpPr>
          <p:cNvPr id="11" name="TextBox 10"/>
          <p:cNvSpPr txBox="1"/>
          <p:nvPr/>
        </p:nvSpPr>
        <p:spPr>
          <a:xfrm>
            <a:off x="822960" y="2231136"/>
            <a:ext cx="3112008" cy="219456"/>
          </a:xfrm>
          <a:prstGeom prst="rect">
            <a:avLst/>
          </a:prstGeom>
          <a:noFill/>
        </p:spPr>
        <p:txBody>
          <a:bodyPr wrap="square" anchor="t" lIns="0" rIns="0" tIns="0" bIns="0">
            <a:spAutoFit/>
          </a:bodyPr>
          <a:lstStyle/>
          <a:p>
            <a:pPr algn="r">
              <a:lnSpc>
                <a:spcPct val="110000"/>
              </a:lnSpc>
              <a:spcBef>
                <a:spcPts val="0"/>
              </a:spcBef>
              <a:spcAft>
                <a:spcPts val="400"/>
              </a:spcAft>
            </a:pPr>
            <a:r>
              <a:rPr sz="1000" b="1">
                <a:solidFill>
                  <a:srgbClr val="E60012"/>
                </a:solidFill>
                <a:latin typeface="Consolas"/>
                <a:ea typeface="Consolas"/>
              </a:rPr>
              <a:t>● 本日フォーカス</a:t>
            </a:r>
          </a:p>
        </p:txBody>
      </p:sp>
      <p:sp>
        <p:nvSpPr>
          <p:cNvPr id="12" name="TextBox 11"/>
          <p:cNvSpPr txBox="1"/>
          <p:nvPr/>
        </p:nvSpPr>
        <p:spPr>
          <a:xfrm>
            <a:off x="822960" y="2505456"/>
            <a:ext cx="3112008" cy="457200"/>
          </a:xfrm>
          <a:prstGeom prst="rect">
            <a:avLst/>
          </a:prstGeom>
          <a:noFill/>
        </p:spPr>
        <p:txBody>
          <a:bodyPr wrap="square" anchor="t" lIns="0" rIns="0" tIns="0" bIns="0">
            <a:spAutoFit/>
          </a:bodyPr>
          <a:lstStyle/>
          <a:p>
            <a:pPr algn="l">
              <a:lnSpc>
                <a:spcPct val="110000"/>
              </a:lnSpc>
              <a:spcBef>
                <a:spcPts val="0"/>
              </a:spcBef>
              <a:spcAft>
                <a:spcPts val="400"/>
              </a:spcAft>
            </a:pPr>
            <a:r>
              <a:rPr sz="2200" b="1">
                <a:solidFill>
                  <a:srgbClr val="E60012"/>
                </a:solidFill>
                <a:latin typeface="Noto Sans JP"/>
                <a:ea typeface="Noto Sans JP"/>
              </a:rPr>
              <a:t>AI</a:t>
            </a:r>
          </a:p>
        </p:txBody>
      </p:sp>
      <p:sp>
        <p:nvSpPr>
          <p:cNvPr id="13" name="TextBox 12"/>
          <p:cNvSpPr txBox="1"/>
          <p:nvPr/>
        </p:nvSpPr>
        <p:spPr>
          <a:xfrm>
            <a:off x="822960" y="3017520"/>
            <a:ext cx="3112008" cy="274320"/>
          </a:xfrm>
          <a:prstGeom prst="rect">
            <a:avLst/>
          </a:prstGeom>
          <a:noFill/>
        </p:spPr>
        <p:txBody>
          <a:bodyPr wrap="square" anchor="t" lIns="0" rIns="0" tIns="0" bIns="0">
            <a:spAutoFit/>
          </a:bodyPr>
          <a:lstStyle/>
          <a:p>
            <a:pPr algn="l">
              <a:lnSpc>
                <a:spcPct val="116000"/>
              </a:lnSpc>
              <a:spcBef>
                <a:spcPts val="0"/>
              </a:spcBef>
              <a:spcAft>
                <a:spcPts val="400"/>
              </a:spcAft>
            </a:pPr>
            <a:r>
              <a:rPr sz="1300" b="1">
                <a:solidFill>
                  <a:srgbClr val="6E767F"/>
                </a:solidFill>
                <a:latin typeface="Noto Sans JP"/>
                <a:ea typeface="Noto Sans JP"/>
              </a:rPr>
              <a:t>生成AI・データセンター・半導体</a:t>
            </a:r>
          </a:p>
        </p:txBody>
      </p:sp>
      <p:sp>
        <p:nvSpPr>
          <p:cNvPr id="14" name="TextBox 13"/>
          <p:cNvSpPr txBox="1"/>
          <p:nvPr/>
        </p:nvSpPr>
        <p:spPr>
          <a:xfrm>
            <a:off x="822960" y="3364992"/>
            <a:ext cx="3112008" cy="548640"/>
          </a:xfrm>
          <a:prstGeom prst="rect">
            <a:avLst/>
          </a:prstGeom>
          <a:noFill/>
        </p:spPr>
        <p:txBody>
          <a:bodyPr wrap="square" anchor="t" lIns="0" rIns="0" tIns="0" bIns="0">
            <a:spAutoFit/>
          </a:bodyPr>
          <a:lstStyle/>
          <a:p>
            <a:pPr algn="l">
              <a:lnSpc>
                <a:spcPct val="120000"/>
              </a:lnSpc>
              <a:spcBef>
                <a:spcPts val="0"/>
              </a:spcBef>
              <a:spcAft>
                <a:spcPts val="200"/>
              </a:spcAft>
            </a:pPr>
            <a:r>
              <a:rPr sz="950" b="1" spc="100">
                <a:solidFill>
                  <a:srgbClr val="9AA1A9"/>
                </a:solidFill>
                <a:latin typeface="Consolas"/>
                <a:ea typeface="Consolas"/>
              </a:rPr>
              <a:t>要る設備</a:t>
            </a:r>
          </a:p>
          <a:p>
            <a:pPr algn="l">
              <a:lnSpc>
                <a:spcPct val="120000"/>
              </a:lnSpc>
              <a:spcBef>
                <a:spcPts val="0"/>
              </a:spcBef>
              <a:spcAft>
                <a:spcPts val="200"/>
              </a:spcAft>
            </a:pPr>
            <a:r>
              <a:rPr sz="1350" b="1">
                <a:solidFill>
                  <a:srgbClr val="E60012"/>
                </a:solidFill>
                <a:latin typeface="Noto Sans JP"/>
                <a:ea typeface="Noto Sans JP"/>
              </a:rPr>
              <a:t>→ </a:t>
            </a:r>
            <a:r>
              <a:rPr sz="1350" b="1">
                <a:solidFill>
                  <a:srgbClr val="373C43"/>
                </a:solidFill>
                <a:latin typeface="Noto Sans JP"/>
                <a:ea typeface="Noto Sans JP"/>
              </a:rPr>
              <a:t>電源・冷却・建屋・チップ工場</a:t>
            </a:r>
          </a:p>
        </p:txBody>
      </p:sp>
      <p:sp>
        <p:nvSpPr>
          <p:cNvPr id="15" name="Rectangle 14"/>
          <p:cNvSpPr/>
          <p:nvPr/>
        </p:nvSpPr>
        <p:spPr>
          <a:xfrm>
            <a:off x="4117847" y="2066544"/>
            <a:ext cx="12700" cy="1810512"/>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7304" y="2048256"/>
            <a:ext cx="3112008" cy="64008"/>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37304" y="2249424"/>
            <a:ext cx="3112008" cy="219456"/>
          </a:xfrm>
          <a:prstGeom prst="rect">
            <a:avLst/>
          </a:prstGeom>
          <a:noFill/>
        </p:spPr>
        <p:txBody>
          <a:bodyPr wrap="square" anchor="t" lIns="0" rIns="0" tIns="0" bIns="0">
            <a:spAutoFit/>
          </a:bodyPr>
          <a:lstStyle/>
          <a:p>
            <a:pPr algn="l">
              <a:lnSpc>
                <a:spcPct val="110000"/>
              </a:lnSpc>
              <a:spcBef>
                <a:spcPts val="0"/>
              </a:spcBef>
              <a:spcAft>
                <a:spcPts val="400"/>
              </a:spcAft>
            </a:pPr>
            <a:r>
              <a:rPr sz="1100" b="1" spc="100">
                <a:solidFill>
                  <a:srgbClr val="9AA1A9"/>
                </a:solidFill>
                <a:latin typeface="Consolas"/>
                <a:ea typeface="Consolas"/>
              </a:rPr>
              <a:t>02</a:t>
            </a:r>
          </a:p>
        </p:txBody>
      </p:sp>
      <p:sp>
        <p:nvSpPr>
          <p:cNvPr id="18" name="TextBox 17"/>
          <p:cNvSpPr txBox="1"/>
          <p:nvPr/>
        </p:nvSpPr>
        <p:spPr>
          <a:xfrm>
            <a:off x="4337304" y="2505456"/>
            <a:ext cx="3112008" cy="457200"/>
          </a:xfrm>
          <a:prstGeom prst="rect">
            <a:avLst/>
          </a:prstGeom>
          <a:noFill/>
        </p:spPr>
        <p:txBody>
          <a:bodyPr wrap="square" anchor="t" lIns="0" rIns="0" tIns="0" bIns="0">
            <a:spAutoFit/>
          </a:bodyPr>
          <a:lstStyle/>
          <a:p>
            <a:pPr algn="l">
              <a:lnSpc>
                <a:spcPct val="110000"/>
              </a:lnSpc>
              <a:spcBef>
                <a:spcPts val="0"/>
              </a:spcBef>
              <a:spcAft>
                <a:spcPts val="400"/>
              </a:spcAft>
            </a:pPr>
            <a:r>
              <a:rPr sz="2200" b="1">
                <a:solidFill>
                  <a:srgbClr val="15181C"/>
                </a:solidFill>
                <a:latin typeface="Noto Sans JP"/>
                <a:ea typeface="Noto Sans JP"/>
              </a:rPr>
              <a:t>脱炭素（GX）</a:t>
            </a:r>
          </a:p>
        </p:txBody>
      </p:sp>
      <p:sp>
        <p:nvSpPr>
          <p:cNvPr id="19" name="TextBox 18"/>
          <p:cNvSpPr txBox="1"/>
          <p:nvPr/>
        </p:nvSpPr>
        <p:spPr>
          <a:xfrm>
            <a:off x="4337304" y="3017520"/>
            <a:ext cx="3112008" cy="274320"/>
          </a:xfrm>
          <a:prstGeom prst="rect">
            <a:avLst/>
          </a:prstGeom>
          <a:noFill/>
        </p:spPr>
        <p:txBody>
          <a:bodyPr wrap="square" anchor="t" lIns="0" rIns="0" tIns="0" bIns="0">
            <a:spAutoFit/>
          </a:bodyPr>
          <a:lstStyle/>
          <a:p>
            <a:pPr algn="l">
              <a:lnSpc>
                <a:spcPct val="116000"/>
              </a:lnSpc>
              <a:spcBef>
                <a:spcPts val="0"/>
              </a:spcBef>
              <a:spcAft>
                <a:spcPts val="400"/>
              </a:spcAft>
            </a:pPr>
            <a:r>
              <a:rPr sz="1300" b="1">
                <a:solidFill>
                  <a:srgbClr val="6E767F"/>
                </a:solidFill>
                <a:latin typeface="Noto Sans JP"/>
                <a:ea typeface="Noto Sans JP"/>
              </a:rPr>
              <a:t>再エネ・送電網・電化・蓄電池</a:t>
            </a:r>
          </a:p>
        </p:txBody>
      </p:sp>
      <p:sp>
        <p:nvSpPr>
          <p:cNvPr id="20" name="TextBox 19"/>
          <p:cNvSpPr txBox="1"/>
          <p:nvPr/>
        </p:nvSpPr>
        <p:spPr>
          <a:xfrm>
            <a:off x="4337304" y="3364992"/>
            <a:ext cx="3112008" cy="548640"/>
          </a:xfrm>
          <a:prstGeom prst="rect">
            <a:avLst/>
          </a:prstGeom>
          <a:noFill/>
        </p:spPr>
        <p:txBody>
          <a:bodyPr wrap="square" anchor="t" lIns="0" rIns="0" tIns="0" bIns="0">
            <a:spAutoFit/>
          </a:bodyPr>
          <a:lstStyle/>
          <a:p>
            <a:pPr algn="l">
              <a:lnSpc>
                <a:spcPct val="120000"/>
              </a:lnSpc>
              <a:spcBef>
                <a:spcPts val="0"/>
              </a:spcBef>
              <a:spcAft>
                <a:spcPts val="200"/>
              </a:spcAft>
            </a:pPr>
            <a:r>
              <a:rPr sz="950" b="1" spc="100">
                <a:solidFill>
                  <a:srgbClr val="9AA1A9"/>
                </a:solidFill>
                <a:latin typeface="Consolas"/>
                <a:ea typeface="Consolas"/>
              </a:rPr>
              <a:t>要る設備</a:t>
            </a:r>
          </a:p>
          <a:p>
            <a:pPr algn="l">
              <a:lnSpc>
                <a:spcPct val="120000"/>
              </a:lnSpc>
              <a:spcBef>
                <a:spcPts val="0"/>
              </a:spcBef>
              <a:spcAft>
                <a:spcPts val="200"/>
              </a:spcAft>
            </a:pPr>
            <a:r>
              <a:rPr sz="1350" b="1">
                <a:solidFill>
                  <a:srgbClr val="E60012"/>
                </a:solidFill>
                <a:latin typeface="Noto Sans JP"/>
                <a:ea typeface="Noto Sans JP"/>
              </a:rPr>
              <a:t>→ </a:t>
            </a:r>
            <a:r>
              <a:rPr sz="1350" b="1">
                <a:solidFill>
                  <a:srgbClr val="373C43"/>
                </a:solidFill>
                <a:latin typeface="Noto Sans JP"/>
                <a:ea typeface="Noto Sans JP"/>
              </a:rPr>
              <a:t>発電・変電・ケーブル・電池／EV工場</a:t>
            </a:r>
          </a:p>
        </p:txBody>
      </p:sp>
      <p:sp>
        <p:nvSpPr>
          <p:cNvPr id="21" name="Rectangle 20"/>
          <p:cNvSpPr/>
          <p:nvPr/>
        </p:nvSpPr>
        <p:spPr>
          <a:xfrm>
            <a:off x="7632191" y="2066544"/>
            <a:ext cx="12700" cy="1810512"/>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51647" y="2048256"/>
            <a:ext cx="3112008" cy="64008"/>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51647" y="2249424"/>
            <a:ext cx="3112008" cy="219456"/>
          </a:xfrm>
          <a:prstGeom prst="rect">
            <a:avLst/>
          </a:prstGeom>
          <a:noFill/>
        </p:spPr>
        <p:txBody>
          <a:bodyPr wrap="square" anchor="t" lIns="0" rIns="0" tIns="0" bIns="0">
            <a:spAutoFit/>
          </a:bodyPr>
          <a:lstStyle/>
          <a:p>
            <a:pPr algn="l">
              <a:lnSpc>
                <a:spcPct val="110000"/>
              </a:lnSpc>
              <a:spcBef>
                <a:spcPts val="0"/>
              </a:spcBef>
              <a:spcAft>
                <a:spcPts val="400"/>
              </a:spcAft>
            </a:pPr>
            <a:r>
              <a:rPr sz="1100" b="1" spc="100">
                <a:solidFill>
                  <a:srgbClr val="9AA1A9"/>
                </a:solidFill>
                <a:latin typeface="Consolas"/>
                <a:ea typeface="Consolas"/>
              </a:rPr>
              <a:t>03</a:t>
            </a:r>
          </a:p>
        </p:txBody>
      </p:sp>
      <p:sp>
        <p:nvSpPr>
          <p:cNvPr id="24" name="TextBox 23"/>
          <p:cNvSpPr txBox="1"/>
          <p:nvPr/>
        </p:nvSpPr>
        <p:spPr>
          <a:xfrm>
            <a:off x="7851647" y="2505456"/>
            <a:ext cx="3112008" cy="457200"/>
          </a:xfrm>
          <a:prstGeom prst="rect">
            <a:avLst/>
          </a:prstGeom>
          <a:noFill/>
        </p:spPr>
        <p:txBody>
          <a:bodyPr wrap="square" anchor="t" lIns="0" rIns="0" tIns="0" bIns="0">
            <a:spAutoFit/>
          </a:bodyPr>
          <a:lstStyle/>
          <a:p>
            <a:pPr algn="l">
              <a:lnSpc>
                <a:spcPct val="110000"/>
              </a:lnSpc>
              <a:spcBef>
                <a:spcPts val="0"/>
              </a:spcBef>
              <a:spcAft>
                <a:spcPts val="400"/>
              </a:spcAft>
            </a:pPr>
            <a:r>
              <a:rPr sz="2200" b="1">
                <a:solidFill>
                  <a:srgbClr val="15181C"/>
                </a:solidFill>
                <a:latin typeface="Noto Sans JP"/>
                <a:ea typeface="Noto Sans JP"/>
              </a:rPr>
              <a:t>経済安保・国内回帰</a:t>
            </a:r>
          </a:p>
        </p:txBody>
      </p:sp>
      <p:sp>
        <p:nvSpPr>
          <p:cNvPr id="25" name="TextBox 24"/>
          <p:cNvSpPr txBox="1"/>
          <p:nvPr/>
        </p:nvSpPr>
        <p:spPr>
          <a:xfrm>
            <a:off x="7851647" y="3017520"/>
            <a:ext cx="3112008" cy="274320"/>
          </a:xfrm>
          <a:prstGeom prst="rect">
            <a:avLst/>
          </a:prstGeom>
          <a:noFill/>
        </p:spPr>
        <p:txBody>
          <a:bodyPr wrap="square" anchor="t" lIns="0" rIns="0" tIns="0" bIns="0">
            <a:spAutoFit/>
          </a:bodyPr>
          <a:lstStyle/>
          <a:p>
            <a:pPr algn="l">
              <a:lnSpc>
                <a:spcPct val="116000"/>
              </a:lnSpc>
              <a:spcBef>
                <a:spcPts val="0"/>
              </a:spcBef>
              <a:spcAft>
                <a:spcPts val="400"/>
              </a:spcAft>
            </a:pPr>
            <a:r>
              <a:rPr sz="1300" b="1">
                <a:solidFill>
                  <a:srgbClr val="6E767F"/>
                </a:solidFill>
                <a:latin typeface="Noto Sans JP"/>
                <a:ea typeface="Noto Sans JP"/>
              </a:rPr>
              <a:t>半導体・重要物資の国産化</a:t>
            </a:r>
          </a:p>
        </p:txBody>
      </p:sp>
      <p:sp>
        <p:nvSpPr>
          <p:cNvPr id="26" name="TextBox 25"/>
          <p:cNvSpPr txBox="1"/>
          <p:nvPr/>
        </p:nvSpPr>
        <p:spPr>
          <a:xfrm>
            <a:off x="7851647" y="3364992"/>
            <a:ext cx="3112008" cy="548640"/>
          </a:xfrm>
          <a:prstGeom prst="rect">
            <a:avLst/>
          </a:prstGeom>
          <a:noFill/>
        </p:spPr>
        <p:txBody>
          <a:bodyPr wrap="square" anchor="t" lIns="0" rIns="0" tIns="0" bIns="0">
            <a:spAutoFit/>
          </a:bodyPr>
          <a:lstStyle/>
          <a:p>
            <a:pPr algn="l">
              <a:lnSpc>
                <a:spcPct val="120000"/>
              </a:lnSpc>
              <a:spcBef>
                <a:spcPts val="0"/>
              </a:spcBef>
              <a:spcAft>
                <a:spcPts val="200"/>
              </a:spcAft>
            </a:pPr>
            <a:r>
              <a:rPr sz="950" b="1" spc="100">
                <a:solidFill>
                  <a:srgbClr val="9AA1A9"/>
                </a:solidFill>
                <a:latin typeface="Consolas"/>
                <a:ea typeface="Consolas"/>
              </a:rPr>
              <a:t>要る設備</a:t>
            </a:r>
          </a:p>
          <a:p>
            <a:pPr algn="l">
              <a:lnSpc>
                <a:spcPct val="120000"/>
              </a:lnSpc>
              <a:spcBef>
                <a:spcPts val="0"/>
              </a:spcBef>
              <a:spcAft>
                <a:spcPts val="200"/>
              </a:spcAft>
            </a:pPr>
            <a:r>
              <a:rPr sz="1350" b="1">
                <a:solidFill>
                  <a:srgbClr val="E60012"/>
                </a:solidFill>
                <a:latin typeface="Noto Sans JP"/>
                <a:ea typeface="Noto Sans JP"/>
              </a:rPr>
              <a:t>→ </a:t>
            </a:r>
            <a:r>
              <a:rPr sz="1350" b="1">
                <a:solidFill>
                  <a:srgbClr val="373C43"/>
                </a:solidFill>
                <a:latin typeface="Noto Sans JP"/>
                <a:ea typeface="Noto Sans JP"/>
              </a:rPr>
              <a:t>国内に工場を新設・供給網を再構築</a:t>
            </a:r>
          </a:p>
        </p:txBody>
      </p:sp>
      <p:sp>
        <p:nvSpPr>
          <p:cNvPr id="27" name="TextBox 26"/>
          <p:cNvSpPr txBox="1"/>
          <p:nvPr/>
        </p:nvSpPr>
        <p:spPr>
          <a:xfrm>
            <a:off x="822960" y="3968496"/>
            <a:ext cx="3112008" cy="274320"/>
          </a:xfrm>
          <a:prstGeom prst="rect">
            <a:avLst/>
          </a:prstGeom>
          <a:noFill/>
        </p:spPr>
        <p:txBody>
          <a:bodyPr wrap="square" anchor="t" lIns="0" rIns="0" tIns="0" bIns="0">
            <a:spAutoFit/>
          </a:bodyPr>
          <a:lstStyle/>
          <a:p>
            <a:pPr algn="ctr">
              <a:lnSpc>
                <a:spcPct val="110000"/>
              </a:lnSpc>
              <a:spcBef>
                <a:spcPts val="0"/>
              </a:spcBef>
              <a:spcAft>
                <a:spcPts val="400"/>
              </a:spcAft>
            </a:pPr>
            <a:r>
              <a:rPr sz="1300" b="1">
                <a:solidFill>
                  <a:srgbClr val="E60012"/>
                </a:solidFill>
                <a:latin typeface="Noto Sans JP"/>
                <a:ea typeface="Noto Sans JP"/>
              </a:rPr>
              <a:t>▼</a:t>
            </a:r>
          </a:p>
        </p:txBody>
      </p:sp>
      <p:sp>
        <p:nvSpPr>
          <p:cNvPr id="28" name="TextBox 27"/>
          <p:cNvSpPr txBox="1"/>
          <p:nvPr/>
        </p:nvSpPr>
        <p:spPr>
          <a:xfrm>
            <a:off x="4337304" y="3968496"/>
            <a:ext cx="3112008" cy="274320"/>
          </a:xfrm>
          <a:prstGeom prst="rect">
            <a:avLst/>
          </a:prstGeom>
          <a:noFill/>
        </p:spPr>
        <p:txBody>
          <a:bodyPr wrap="square" anchor="t" lIns="0" rIns="0" tIns="0" bIns="0">
            <a:spAutoFit/>
          </a:bodyPr>
          <a:lstStyle/>
          <a:p>
            <a:pPr algn="ctr">
              <a:lnSpc>
                <a:spcPct val="110000"/>
              </a:lnSpc>
              <a:spcBef>
                <a:spcPts val="0"/>
              </a:spcBef>
              <a:spcAft>
                <a:spcPts val="400"/>
              </a:spcAft>
            </a:pPr>
            <a:r>
              <a:rPr sz="1300" b="1">
                <a:solidFill>
                  <a:srgbClr val="E60012"/>
                </a:solidFill>
                <a:latin typeface="Noto Sans JP"/>
                <a:ea typeface="Noto Sans JP"/>
              </a:rPr>
              <a:t>▼</a:t>
            </a:r>
          </a:p>
        </p:txBody>
      </p:sp>
      <p:sp>
        <p:nvSpPr>
          <p:cNvPr id="29" name="TextBox 28"/>
          <p:cNvSpPr txBox="1"/>
          <p:nvPr/>
        </p:nvSpPr>
        <p:spPr>
          <a:xfrm>
            <a:off x="7851647" y="3968496"/>
            <a:ext cx="3112008" cy="274320"/>
          </a:xfrm>
          <a:prstGeom prst="rect">
            <a:avLst/>
          </a:prstGeom>
          <a:noFill/>
        </p:spPr>
        <p:txBody>
          <a:bodyPr wrap="square" anchor="t" lIns="0" rIns="0" tIns="0" bIns="0">
            <a:spAutoFit/>
          </a:bodyPr>
          <a:lstStyle/>
          <a:p>
            <a:pPr algn="ctr">
              <a:lnSpc>
                <a:spcPct val="110000"/>
              </a:lnSpc>
              <a:spcBef>
                <a:spcPts val="0"/>
              </a:spcBef>
              <a:spcAft>
                <a:spcPts val="400"/>
              </a:spcAft>
            </a:pPr>
            <a:r>
              <a:rPr sz="1300" b="1">
                <a:solidFill>
                  <a:srgbClr val="E60012"/>
                </a:solidFill>
                <a:latin typeface="Noto Sans JP"/>
                <a:ea typeface="Noto Sans JP"/>
              </a:rPr>
              <a:t>▼</a:t>
            </a:r>
          </a:p>
        </p:txBody>
      </p:sp>
      <p:sp>
        <p:nvSpPr>
          <p:cNvPr id="30" name="Rectangle 29"/>
          <p:cNvSpPr/>
          <p:nvPr/>
        </p:nvSpPr>
        <p:spPr>
          <a:xfrm>
            <a:off x="822960" y="4261104"/>
            <a:ext cx="10543032" cy="102412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3610" y="4425696"/>
            <a:ext cx="18288"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4261104"/>
            <a:ext cx="4301154" cy="1024128"/>
          </a:xfrm>
          <a:prstGeom prst="rect">
            <a:avLst/>
          </a:prstGeom>
          <a:noFill/>
        </p:spPr>
        <p:txBody>
          <a:bodyPr wrap="square" anchor="ctr" lIns="0" rIns="0" tIns="0" bIns="0">
            <a:spAutoFit/>
          </a:bodyPr>
          <a:lstStyle/>
          <a:p>
            <a:pPr algn="l">
              <a:lnSpc>
                <a:spcPct val="110000"/>
              </a:lnSpc>
              <a:spcBef>
                <a:spcPts val="0"/>
              </a:spcBef>
              <a:spcAft>
                <a:spcPts val="300"/>
              </a:spcAft>
            </a:pPr>
            <a:r>
              <a:rPr sz="1050" b="1" spc="100">
                <a:solidFill>
                  <a:srgbClr val="FFCFD3"/>
                </a:solidFill>
                <a:latin typeface="Consolas"/>
                <a:ea typeface="Consolas"/>
              </a:rPr>
              <a:t>3つに共通する“土台”</a:t>
            </a:r>
          </a:p>
          <a:p>
            <a:pPr algn="l">
              <a:lnSpc>
                <a:spcPct val="110000"/>
              </a:lnSpc>
              <a:spcBef>
                <a:spcPts val="0"/>
              </a:spcBef>
              <a:spcAft>
                <a:spcPts val="300"/>
              </a:spcAft>
            </a:pPr>
            <a:r>
              <a:rPr sz="2300" b="1">
                <a:solidFill>
                  <a:srgbClr val="FFFFFF"/>
                </a:solidFill>
                <a:latin typeface="Noto Sans JP"/>
                <a:ea typeface="Noto Sans JP"/>
              </a:rPr>
              <a:t>膨大な“設備”がいる。</a:t>
            </a:r>
          </a:p>
        </p:txBody>
      </p:sp>
      <p:sp>
        <p:nvSpPr>
          <p:cNvPr id="33" name="TextBox 32"/>
          <p:cNvSpPr txBox="1"/>
          <p:nvPr/>
        </p:nvSpPr>
        <p:spPr>
          <a:xfrm>
            <a:off x="6129954" y="4261104"/>
            <a:ext cx="4870277" cy="1024128"/>
          </a:xfrm>
          <a:prstGeom prst="rect">
            <a:avLst/>
          </a:prstGeom>
          <a:noFill/>
        </p:spPr>
        <p:txBody>
          <a:bodyPr wrap="square" anchor="ctr" lIns="0" rIns="0" tIns="0" bIns="0">
            <a:spAutoFit/>
          </a:bodyPr>
          <a:lstStyle/>
          <a:p>
            <a:pPr algn="l">
              <a:lnSpc>
                <a:spcPct val="114000"/>
              </a:lnSpc>
              <a:spcBef>
                <a:spcPts val="0"/>
              </a:spcBef>
              <a:spcAft>
                <a:spcPts val="300"/>
              </a:spcAft>
            </a:pPr>
            <a:r>
              <a:rPr sz="1050" b="1" spc="100">
                <a:solidFill>
                  <a:srgbClr val="FFCFD3"/>
                </a:solidFill>
                <a:latin typeface="Consolas"/>
                <a:ea typeface="Consolas"/>
              </a:rPr>
              <a:t>作る・建てる主役は</a:t>
            </a:r>
          </a:p>
          <a:p>
            <a:pPr algn="l">
              <a:lnSpc>
                <a:spcPct val="114000"/>
              </a:lnSpc>
              <a:spcBef>
                <a:spcPts val="0"/>
              </a:spcBef>
              <a:spcAft>
                <a:spcPts val="300"/>
              </a:spcAft>
            </a:pPr>
            <a:r>
              <a:rPr sz="1800" b="1">
                <a:solidFill>
                  <a:srgbClr val="FFFFFF"/>
                </a:solidFill>
                <a:latin typeface="Noto Sans JP"/>
                <a:ea typeface="Noto Sans JP"/>
              </a:rPr>
              <a:t>重電・機械・電機など、“製造業”がコア。</a:t>
            </a:r>
          </a:p>
        </p:txBody>
      </p:sp>
      <p:sp>
        <p:nvSpPr>
          <p:cNvPr id="34" name="Rectangle 33"/>
          <p:cNvSpPr/>
          <p:nvPr/>
        </p:nvSpPr>
        <p:spPr>
          <a:xfrm>
            <a:off x="822960" y="5696712"/>
            <a:ext cx="82296" cy="47548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8992" y="5650992"/>
            <a:ext cx="10268711" cy="566928"/>
          </a:xfrm>
          <a:prstGeom prst="rect">
            <a:avLst/>
          </a:prstGeom>
          <a:noFill/>
        </p:spPr>
        <p:txBody>
          <a:bodyPr wrap="square" anchor="ctr" lIns="0" rIns="0" tIns="0" bIns="0">
            <a:spAutoFit/>
          </a:bodyPr>
          <a:lstStyle/>
          <a:p>
            <a:pPr algn="l">
              <a:lnSpc>
                <a:spcPct val="116000"/>
              </a:lnSpc>
              <a:spcBef>
                <a:spcPts val="0"/>
              </a:spcBef>
              <a:spcAft>
                <a:spcPts val="400"/>
              </a:spcAft>
            </a:pPr>
            <a:r>
              <a:rPr sz="1900" b="1">
                <a:solidFill>
                  <a:srgbClr val="15181C"/>
                </a:solidFill>
                <a:latin typeface="Noto Sans JP"/>
                <a:ea typeface="Noto Sans JP"/>
              </a:rPr>
              <a:t>→ 今日はその中で、最も勢いのある「</a:t>
            </a:r>
            <a:r>
              <a:rPr sz="1900" b="1">
                <a:solidFill>
                  <a:srgbClr val="E60012"/>
                </a:solidFill>
                <a:latin typeface="Noto Sans JP"/>
                <a:ea typeface="Noto Sans JP"/>
              </a:rPr>
              <a:t>AI</a:t>
            </a:r>
            <a:r>
              <a:rPr sz="1900" b="1">
                <a:solidFill>
                  <a:srgbClr val="15181C"/>
                </a:solidFill>
                <a:latin typeface="Noto Sans JP"/>
                <a:ea typeface="Noto Sans JP"/>
              </a:rPr>
              <a:t>」に絞って話す。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規模より“勢い”——トレンドとして、どれだけ急か</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02</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AI投資は“大きい”だけじゃない。数年で“何倍”に跳ねている。</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2834640" cy="777240"/>
          </a:xfrm>
          <a:prstGeom prst="rect">
            <a:avLst/>
          </a:prstGeom>
          <a:noFill/>
        </p:spPr>
        <p:txBody>
          <a:bodyPr wrap="square" anchor="t"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AIチップの需要</a:t>
            </a:r>
          </a:p>
          <a:p>
            <a:pPr algn="l">
              <a:lnSpc>
                <a:spcPct val="116000"/>
              </a:lnSpc>
              <a:spcBef>
                <a:spcPts val="0"/>
              </a:spcBef>
              <a:spcAft>
                <a:spcPts val="400"/>
              </a:spcAft>
            </a:pPr>
            <a:r>
              <a:rPr sz="1050" b="1">
                <a:solidFill>
                  <a:srgbClr val="6E767F"/>
                </a:solidFill>
                <a:latin typeface="Consolas"/>
                <a:ea typeface="Consolas"/>
              </a:rPr>
              <a:t>NVIDIA データセンター売上</a:t>
            </a:r>
          </a:p>
        </p:txBody>
      </p:sp>
      <p:sp>
        <p:nvSpPr>
          <p:cNvPr id="9" name="Rectangle 8"/>
          <p:cNvSpPr/>
          <p:nvPr/>
        </p:nvSpPr>
        <p:spPr>
          <a:xfrm>
            <a:off x="3794760" y="2432304"/>
            <a:ext cx="3566160"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11930" y="2386117"/>
            <a:ext cx="457200" cy="4618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FY23</a:t>
            </a:r>
          </a:p>
        </p:txBody>
      </p:sp>
      <p:sp>
        <p:nvSpPr>
          <p:cNvPr id="12" name="Rectangle 11"/>
          <p:cNvSpPr/>
          <p:nvPr/>
        </p:nvSpPr>
        <p:spPr>
          <a:xfrm>
            <a:off x="4903470" y="2284507"/>
            <a:ext cx="457200" cy="14779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630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FY24</a:t>
            </a:r>
          </a:p>
        </p:txBody>
      </p:sp>
      <p:sp>
        <p:nvSpPr>
          <p:cNvPr id="14" name="Rectangle 13"/>
          <p:cNvSpPr/>
          <p:nvPr/>
        </p:nvSpPr>
        <p:spPr>
          <a:xfrm>
            <a:off x="5795010" y="2078207"/>
            <a:ext cx="457200" cy="35409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FY25</a:t>
            </a:r>
          </a:p>
        </p:txBody>
      </p:sp>
      <p:sp>
        <p:nvSpPr>
          <p:cNvPr id="16" name="Rectangle 15"/>
          <p:cNvSpPr/>
          <p:nvPr/>
        </p:nvSpPr>
        <p:spPr>
          <a:xfrm>
            <a:off x="6686550" y="1828800"/>
            <a:ext cx="457200" cy="60350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9380" y="249631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FY26</a:t>
            </a:r>
          </a:p>
        </p:txBody>
      </p:sp>
      <p:sp>
        <p:nvSpPr>
          <p:cNvPr id="18" name="TextBox 17"/>
          <p:cNvSpPr txBox="1"/>
          <p:nvPr/>
        </p:nvSpPr>
        <p:spPr>
          <a:xfrm>
            <a:off x="6137910" y="1591056"/>
            <a:ext cx="1554480"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6E767F"/>
                </a:solidFill>
                <a:latin typeface="Consolas"/>
                <a:ea typeface="Consolas"/>
              </a:rPr>
              <a:t>約2,000億ドル</a:t>
            </a:r>
          </a:p>
        </p:txBody>
      </p:sp>
      <p:sp>
        <p:nvSpPr>
          <p:cNvPr id="19" name="TextBox 18"/>
          <p:cNvSpPr txBox="1"/>
          <p:nvPr/>
        </p:nvSpPr>
        <p:spPr>
          <a:xfrm>
            <a:off x="7909560" y="1810512"/>
            <a:ext cx="1600200" cy="777240"/>
          </a:xfrm>
          <a:prstGeom prst="rect">
            <a:avLst/>
          </a:prstGeom>
          <a:noFill/>
        </p:spPr>
        <p:txBody>
          <a:bodyPr wrap="square" anchor="ctr" lIns="0" rIns="0" tIns="0" bIns="0">
            <a:spAutoFit/>
          </a:bodyPr>
          <a:lstStyle/>
          <a:p>
            <a:pPr algn="l">
              <a:lnSpc>
                <a:spcPct val="110000"/>
              </a:lnSpc>
              <a:spcBef>
                <a:spcPts val="0"/>
              </a:spcBef>
              <a:spcAft>
                <a:spcPts val="400"/>
              </a:spcAft>
            </a:pPr>
            <a:r>
              <a:rPr sz="3800" b="1">
                <a:solidFill>
                  <a:srgbClr val="E60012"/>
                </a:solidFill>
                <a:latin typeface="Noto Sans JP"/>
                <a:ea typeface="Noto Sans JP"/>
              </a:rPr>
              <a:t>約13倍</a:t>
            </a:r>
          </a:p>
        </p:txBody>
      </p:sp>
      <p:sp>
        <p:nvSpPr>
          <p:cNvPr id="20" name="TextBox 19"/>
          <p:cNvSpPr txBox="1"/>
          <p:nvPr/>
        </p:nvSpPr>
        <p:spPr>
          <a:xfrm>
            <a:off x="9555480" y="1810512"/>
            <a:ext cx="1828800" cy="777240"/>
          </a:xfrm>
          <a:prstGeom prst="rect">
            <a:avLst/>
          </a:prstGeom>
          <a:noFill/>
        </p:spPr>
        <p:txBody>
          <a:bodyPr wrap="square" anchor="ctr" lIns="0" rIns="0" tIns="0" bIns="0">
            <a:spAutoFit/>
          </a:bodyPr>
          <a:lstStyle/>
          <a:p>
            <a:pPr algn="l">
              <a:lnSpc>
                <a:spcPct val="110000"/>
              </a:lnSpc>
              <a:spcBef>
                <a:spcPts val="0"/>
              </a:spcBef>
              <a:spcAft>
                <a:spcPts val="400"/>
              </a:spcAft>
            </a:pPr>
            <a:r>
              <a:rPr sz="1300" b="1">
                <a:solidFill>
                  <a:srgbClr val="6E767F"/>
                </a:solidFill>
                <a:latin typeface="Noto Sans JP"/>
                <a:ea typeface="Noto Sans JP"/>
              </a:rPr>
              <a:t>に伸びた</a:t>
            </a:r>
          </a:p>
        </p:txBody>
      </p:sp>
      <p:sp>
        <p:nvSpPr>
          <p:cNvPr id="21" name="Rectangle 20"/>
          <p:cNvSpPr/>
          <p:nvPr/>
        </p:nvSpPr>
        <p:spPr>
          <a:xfrm>
            <a:off x="822960" y="278892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072384"/>
            <a:ext cx="2834640" cy="777240"/>
          </a:xfrm>
          <a:prstGeom prst="rect">
            <a:avLst/>
          </a:prstGeom>
          <a:noFill/>
        </p:spPr>
        <p:txBody>
          <a:bodyPr wrap="square" anchor="t"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AIインフラ投資</a:t>
            </a:r>
          </a:p>
          <a:p>
            <a:pPr algn="l">
              <a:lnSpc>
                <a:spcPct val="116000"/>
              </a:lnSpc>
              <a:spcBef>
                <a:spcPts val="0"/>
              </a:spcBef>
              <a:spcAft>
                <a:spcPts val="400"/>
              </a:spcAft>
            </a:pPr>
            <a:r>
              <a:rPr sz="1050" b="1">
                <a:solidFill>
                  <a:srgbClr val="6E767F"/>
                </a:solidFill>
                <a:latin typeface="Consolas"/>
                <a:ea typeface="Consolas"/>
              </a:rPr>
              <a:t>Big Tech 4社の設備投資（年間）</a:t>
            </a:r>
          </a:p>
        </p:txBody>
      </p:sp>
      <p:sp>
        <p:nvSpPr>
          <p:cNvPr id="23" name="Rectangle 22"/>
          <p:cNvSpPr/>
          <p:nvPr/>
        </p:nvSpPr>
        <p:spPr>
          <a:xfrm>
            <a:off x="3794760" y="3621024"/>
            <a:ext cx="3566160"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011930" y="3471188"/>
            <a:ext cx="457200" cy="149835"/>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9476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’23</a:t>
            </a:r>
          </a:p>
        </p:txBody>
      </p:sp>
      <p:sp>
        <p:nvSpPr>
          <p:cNvPr id="26" name="Rectangle 25"/>
          <p:cNvSpPr/>
          <p:nvPr/>
        </p:nvSpPr>
        <p:spPr>
          <a:xfrm>
            <a:off x="4903470" y="3429567"/>
            <a:ext cx="457200" cy="191456"/>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630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’24</a:t>
            </a:r>
          </a:p>
        </p:txBody>
      </p:sp>
      <p:sp>
        <p:nvSpPr>
          <p:cNvPr id="28" name="Rectangle 27"/>
          <p:cNvSpPr/>
          <p:nvPr/>
        </p:nvSpPr>
        <p:spPr>
          <a:xfrm>
            <a:off x="5795010" y="3279732"/>
            <a:ext cx="457200" cy="341291"/>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’25</a:t>
            </a:r>
          </a:p>
        </p:txBody>
      </p:sp>
      <p:sp>
        <p:nvSpPr>
          <p:cNvPr id="30" name="Rectangle 29"/>
          <p:cNvSpPr/>
          <p:nvPr/>
        </p:nvSpPr>
        <p:spPr>
          <a:xfrm>
            <a:off x="6686550" y="3017520"/>
            <a:ext cx="457200" cy="60350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69380" y="3685032"/>
            <a:ext cx="89154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’26</a:t>
            </a:r>
          </a:p>
        </p:txBody>
      </p:sp>
      <p:sp>
        <p:nvSpPr>
          <p:cNvPr id="32" name="TextBox 31"/>
          <p:cNvSpPr txBox="1"/>
          <p:nvPr/>
        </p:nvSpPr>
        <p:spPr>
          <a:xfrm>
            <a:off x="6137910" y="2779776"/>
            <a:ext cx="1554480"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6E767F"/>
                </a:solidFill>
                <a:latin typeface="Consolas"/>
                <a:ea typeface="Consolas"/>
              </a:rPr>
              <a:t>7,250億ドル</a:t>
            </a:r>
          </a:p>
        </p:txBody>
      </p:sp>
      <p:sp>
        <p:nvSpPr>
          <p:cNvPr id="33" name="TextBox 32"/>
          <p:cNvSpPr txBox="1"/>
          <p:nvPr/>
        </p:nvSpPr>
        <p:spPr>
          <a:xfrm>
            <a:off x="7909560" y="2999232"/>
            <a:ext cx="1600200" cy="777240"/>
          </a:xfrm>
          <a:prstGeom prst="rect">
            <a:avLst/>
          </a:prstGeom>
          <a:noFill/>
        </p:spPr>
        <p:txBody>
          <a:bodyPr wrap="square" anchor="ctr" lIns="0" rIns="0" tIns="0" bIns="0">
            <a:spAutoFit/>
          </a:bodyPr>
          <a:lstStyle/>
          <a:p>
            <a:pPr algn="l">
              <a:lnSpc>
                <a:spcPct val="110000"/>
              </a:lnSpc>
              <a:spcBef>
                <a:spcPts val="0"/>
              </a:spcBef>
              <a:spcAft>
                <a:spcPts val="400"/>
              </a:spcAft>
            </a:pPr>
            <a:r>
              <a:rPr sz="3800" b="1">
                <a:solidFill>
                  <a:srgbClr val="E60012"/>
                </a:solidFill>
                <a:latin typeface="Noto Sans JP"/>
                <a:ea typeface="Noto Sans JP"/>
              </a:rPr>
              <a:t>約4倍</a:t>
            </a:r>
          </a:p>
        </p:txBody>
      </p:sp>
      <p:sp>
        <p:nvSpPr>
          <p:cNvPr id="34" name="TextBox 33"/>
          <p:cNvSpPr txBox="1"/>
          <p:nvPr/>
        </p:nvSpPr>
        <p:spPr>
          <a:xfrm>
            <a:off x="9555480" y="2999232"/>
            <a:ext cx="1828800" cy="777240"/>
          </a:xfrm>
          <a:prstGeom prst="rect">
            <a:avLst/>
          </a:prstGeom>
          <a:noFill/>
        </p:spPr>
        <p:txBody>
          <a:bodyPr wrap="square" anchor="ctr" lIns="0" rIns="0" tIns="0" bIns="0">
            <a:spAutoFit/>
          </a:bodyPr>
          <a:lstStyle/>
          <a:p>
            <a:pPr algn="l">
              <a:lnSpc>
                <a:spcPct val="110000"/>
              </a:lnSpc>
              <a:spcBef>
                <a:spcPts val="0"/>
              </a:spcBef>
              <a:spcAft>
                <a:spcPts val="400"/>
              </a:spcAft>
            </a:pPr>
            <a:r>
              <a:rPr sz="1300" b="1">
                <a:solidFill>
                  <a:srgbClr val="6E767F"/>
                </a:solidFill>
                <a:latin typeface="Noto Sans JP"/>
                <a:ea typeface="Noto Sans JP"/>
              </a:rPr>
              <a:t>に伸びた</a:t>
            </a:r>
          </a:p>
        </p:txBody>
      </p:sp>
      <p:sp>
        <p:nvSpPr>
          <p:cNvPr id="35" name="Rectangle 34"/>
          <p:cNvSpPr/>
          <p:nvPr/>
        </p:nvSpPr>
        <p:spPr>
          <a:xfrm>
            <a:off x="822960" y="3977639"/>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261104"/>
            <a:ext cx="2834640" cy="777240"/>
          </a:xfrm>
          <a:prstGeom prst="rect">
            <a:avLst/>
          </a:prstGeom>
          <a:noFill/>
        </p:spPr>
        <p:txBody>
          <a:bodyPr wrap="square" anchor="t"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国内DC建設投資</a:t>
            </a:r>
          </a:p>
          <a:p>
            <a:pPr algn="l">
              <a:lnSpc>
                <a:spcPct val="116000"/>
              </a:lnSpc>
              <a:spcBef>
                <a:spcPts val="0"/>
              </a:spcBef>
              <a:spcAft>
                <a:spcPts val="400"/>
              </a:spcAft>
            </a:pPr>
            <a:r>
              <a:rPr sz="1050" b="1">
                <a:solidFill>
                  <a:srgbClr val="6E767F"/>
                </a:solidFill>
                <a:latin typeface="Consolas"/>
                <a:ea typeface="Consolas"/>
              </a:rPr>
              <a:t>日本のデータセンター建設（年間）</a:t>
            </a:r>
          </a:p>
        </p:txBody>
      </p:sp>
      <p:sp>
        <p:nvSpPr>
          <p:cNvPr id="37" name="Rectangle 36"/>
          <p:cNvSpPr/>
          <p:nvPr/>
        </p:nvSpPr>
        <p:spPr>
          <a:xfrm>
            <a:off x="3794760" y="4809744"/>
            <a:ext cx="3566160"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60520" y="4615295"/>
            <a:ext cx="457200" cy="194448"/>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94760" y="4873752"/>
            <a:ext cx="118872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’23</a:t>
            </a:r>
          </a:p>
        </p:txBody>
      </p:sp>
      <p:sp>
        <p:nvSpPr>
          <p:cNvPr id="40" name="Rectangle 39"/>
          <p:cNvSpPr/>
          <p:nvPr/>
        </p:nvSpPr>
        <p:spPr>
          <a:xfrm>
            <a:off x="5349240" y="4507992"/>
            <a:ext cx="457200" cy="301752"/>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83480" y="4873752"/>
            <a:ext cx="118872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’24</a:t>
            </a:r>
          </a:p>
        </p:txBody>
      </p:sp>
      <p:sp>
        <p:nvSpPr>
          <p:cNvPr id="42" name="Rectangle 41"/>
          <p:cNvSpPr/>
          <p:nvPr/>
        </p:nvSpPr>
        <p:spPr>
          <a:xfrm>
            <a:off x="6537960" y="4206240"/>
            <a:ext cx="457200" cy="60350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72200" y="4873752"/>
            <a:ext cx="1188720" cy="219456"/>
          </a:xfrm>
          <a:prstGeom prst="rect">
            <a:avLst/>
          </a:prstGeom>
          <a:noFill/>
        </p:spPr>
        <p:txBody>
          <a:bodyPr wrap="square" anchor="t" lIns="0" rIns="0" tIns="0" bIns="0">
            <a:spAutoFit/>
          </a:bodyPr>
          <a:lstStyle/>
          <a:p>
            <a:pPr algn="ctr">
              <a:lnSpc>
                <a:spcPct val="110000"/>
              </a:lnSpc>
              <a:spcBef>
                <a:spcPts val="0"/>
              </a:spcBef>
              <a:spcAft>
                <a:spcPts val="400"/>
              </a:spcAft>
            </a:pPr>
            <a:r>
              <a:rPr sz="950" b="1">
                <a:solidFill>
                  <a:srgbClr val="6E767F"/>
                </a:solidFill>
                <a:latin typeface="Consolas"/>
                <a:ea typeface="Consolas"/>
              </a:rPr>
              <a:t>’28</a:t>
            </a:r>
          </a:p>
        </p:txBody>
      </p:sp>
      <p:sp>
        <p:nvSpPr>
          <p:cNvPr id="44" name="TextBox 43"/>
          <p:cNvSpPr txBox="1"/>
          <p:nvPr/>
        </p:nvSpPr>
        <p:spPr>
          <a:xfrm>
            <a:off x="5989320" y="3968496"/>
            <a:ext cx="1554480"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6E767F"/>
                </a:solidFill>
                <a:latin typeface="Consolas"/>
                <a:ea typeface="Consolas"/>
              </a:rPr>
              <a:t>1兆円超</a:t>
            </a:r>
          </a:p>
        </p:txBody>
      </p:sp>
      <p:sp>
        <p:nvSpPr>
          <p:cNvPr id="45" name="TextBox 44"/>
          <p:cNvSpPr txBox="1"/>
          <p:nvPr/>
        </p:nvSpPr>
        <p:spPr>
          <a:xfrm>
            <a:off x="7909560" y="4187952"/>
            <a:ext cx="1600200" cy="777240"/>
          </a:xfrm>
          <a:prstGeom prst="rect">
            <a:avLst/>
          </a:prstGeom>
          <a:noFill/>
        </p:spPr>
        <p:txBody>
          <a:bodyPr wrap="square" anchor="ctr" lIns="0" rIns="0" tIns="0" bIns="0">
            <a:spAutoFit/>
          </a:bodyPr>
          <a:lstStyle/>
          <a:p>
            <a:pPr algn="l">
              <a:lnSpc>
                <a:spcPct val="110000"/>
              </a:lnSpc>
              <a:spcBef>
                <a:spcPts val="0"/>
              </a:spcBef>
              <a:spcAft>
                <a:spcPts val="400"/>
              </a:spcAft>
            </a:pPr>
            <a:r>
              <a:rPr sz="3800" b="1">
                <a:solidFill>
                  <a:srgbClr val="E60012"/>
                </a:solidFill>
                <a:latin typeface="Noto Sans JP"/>
                <a:ea typeface="Noto Sans JP"/>
              </a:rPr>
              <a:t>約3倍</a:t>
            </a:r>
          </a:p>
        </p:txBody>
      </p:sp>
      <p:sp>
        <p:nvSpPr>
          <p:cNvPr id="46" name="TextBox 45"/>
          <p:cNvSpPr txBox="1"/>
          <p:nvPr/>
        </p:nvSpPr>
        <p:spPr>
          <a:xfrm>
            <a:off x="9555480" y="4187952"/>
            <a:ext cx="1828800" cy="777240"/>
          </a:xfrm>
          <a:prstGeom prst="rect">
            <a:avLst/>
          </a:prstGeom>
          <a:noFill/>
        </p:spPr>
        <p:txBody>
          <a:bodyPr wrap="square" anchor="ctr" lIns="0" rIns="0" tIns="0" bIns="0">
            <a:spAutoFit/>
          </a:bodyPr>
          <a:lstStyle/>
          <a:p>
            <a:pPr algn="l">
              <a:lnSpc>
                <a:spcPct val="110000"/>
              </a:lnSpc>
              <a:spcBef>
                <a:spcPts val="0"/>
              </a:spcBef>
              <a:spcAft>
                <a:spcPts val="400"/>
              </a:spcAft>
            </a:pPr>
            <a:r>
              <a:rPr sz="1300" b="1">
                <a:solidFill>
                  <a:srgbClr val="6E767F"/>
                </a:solidFill>
                <a:latin typeface="Noto Sans JP"/>
                <a:ea typeface="Noto Sans JP"/>
              </a:rPr>
              <a:t>に伸びた</a:t>
            </a:r>
          </a:p>
        </p:txBody>
      </p:sp>
      <p:sp>
        <p:nvSpPr>
          <p:cNvPr id="47" name="Rectangle 46"/>
          <p:cNvSpPr/>
          <p:nvPr/>
        </p:nvSpPr>
        <p:spPr>
          <a:xfrm>
            <a:off x="822960" y="5486400"/>
            <a:ext cx="82296" cy="475488"/>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78992" y="5440680"/>
            <a:ext cx="10268711" cy="566928"/>
          </a:xfrm>
          <a:prstGeom prst="rect">
            <a:avLst/>
          </a:prstGeom>
          <a:noFill/>
        </p:spPr>
        <p:txBody>
          <a:bodyPr wrap="square" anchor="ctr" lIns="0" rIns="0" tIns="0" bIns="0">
            <a:spAutoFit/>
          </a:bodyPr>
          <a:lstStyle/>
          <a:p>
            <a:pPr algn="l">
              <a:lnSpc>
                <a:spcPct val="116000"/>
              </a:lnSpc>
              <a:spcBef>
                <a:spcPts val="0"/>
              </a:spcBef>
              <a:spcAft>
                <a:spcPts val="400"/>
              </a:spcAft>
            </a:pPr>
            <a:r>
              <a:rPr sz="1900" b="1">
                <a:solidFill>
                  <a:srgbClr val="15181C"/>
                </a:solidFill>
                <a:latin typeface="Noto Sans JP"/>
                <a:ea typeface="Noto Sans JP"/>
              </a:rPr>
              <a:t>投資のピークは2027〜2028年。この波は、まだ“</a:t>
            </a:r>
            <a:r>
              <a:rPr sz="1900" b="1">
                <a:solidFill>
                  <a:srgbClr val="E60012"/>
                </a:solidFill>
                <a:latin typeface="Noto Sans JP"/>
                <a:ea typeface="Noto Sans JP"/>
              </a:rPr>
              <a:t>序盤</a:t>
            </a:r>
            <a:r>
              <a:rPr sz="1900" b="1">
                <a:solidFill>
                  <a:srgbClr val="15181C"/>
                </a:solidFill>
                <a:latin typeface="Noto Sans JP"/>
                <a:ea typeface="Noto Sans JP"/>
              </a:rPr>
              <a:t>”だ。</a:t>
            </a:r>
          </a:p>
        </p:txBody>
      </p:sp>
      <p:sp>
        <p:nvSpPr>
          <p:cNvPr id="49" name="TextBox 48"/>
          <p:cNvSpPr txBox="1"/>
          <p:nvPr/>
        </p:nvSpPr>
        <p:spPr>
          <a:xfrm>
            <a:off x="822960" y="6236208"/>
            <a:ext cx="10607040" cy="256032"/>
          </a:xfrm>
          <a:prstGeom prst="rect">
            <a:avLst/>
          </a:prstGeom>
          <a:noFill/>
        </p:spPr>
        <p:txBody>
          <a:bodyPr wrap="square" anchor="t" lIns="0" rIns="0" tIns="0" bIns="0">
            <a:spAutoFit/>
          </a:bodyPr>
          <a:lstStyle/>
          <a:p>
            <a:pPr algn="l">
              <a:lnSpc>
                <a:spcPct val="110000"/>
              </a:lnSpc>
              <a:spcBef>
                <a:spcPts val="0"/>
              </a:spcBef>
              <a:spcAft>
                <a:spcPts val="400"/>
              </a:spcAft>
            </a:pPr>
            <a:r>
              <a:rPr sz="900" b="0">
                <a:solidFill>
                  <a:srgbClr val="9AA1A9"/>
                </a:solidFill>
                <a:latin typeface="Consolas"/>
                <a:ea typeface="Consolas"/>
              </a:rPr>
              <a:t>出典：NVIDIA IR／Big Tech各社IR・報道／IDC Japan（国内DC建設投資）。</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AI需要 → 連鎖して伸びる、日本のバリューチェーン</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03</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AIが伸びれば、この“川”がまるごと潤う。</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64208"/>
            <a:ext cx="7772400" cy="310896"/>
          </a:xfrm>
          <a:prstGeom prst="rect">
            <a:avLst/>
          </a:prstGeom>
          <a:noFill/>
        </p:spPr>
        <p:txBody>
          <a:bodyPr wrap="square" anchor="t" lIns="0" rIns="0" tIns="0" bIns="0">
            <a:spAutoFit/>
          </a:bodyPr>
          <a:lstStyle/>
          <a:p>
            <a:pPr algn="l">
              <a:lnSpc>
                <a:spcPct val="110000"/>
              </a:lnSpc>
              <a:spcBef>
                <a:spcPts val="0"/>
              </a:spcBef>
              <a:spcAft>
                <a:spcPts val="400"/>
              </a:spcAft>
            </a:pPr>
            <a:r>
              <a:rPr sz="1500" b="1">
                <a:solidFill>
                  <a:srgbClr val="E60012"/>
                </a:solidFill>
                <a:latin typeface="Noto Sans JP"/>
                <a:ea typeface="Noto Sans JP"/>
              </a:rPr>
              <a:t>AI・DC需要の拡大</a:t>
            </a:r>
            <a:r>
              <a:rPr sz="1100" b="1">
                <a:solidFill>
                  <a:srgbClr val="6E767F"/>
                </a:solidFill>
                <a:latin typeface="Noto Sans JP"/>
                <a:ea typeface="Noto Sans JP"/>
              </a:rPr>
              <a:t>　この一手が、川上から川下までまるごと波及する</a:t>
            </a:r>
          </a:p>
        </p:txBody>
      </p:sp>
      <p:sp>
        <p:nvSpPr>
          <p:cNvPr id="9" name="TextBox 8"/>
          <p:cNvSpPr txBox="1"/>
          <p:nvPr/>
        </p:nvSpPr>
        <p:spPr>
          <a:xfrm>
            <a:off x="822960" y="2103120"/>
            <a:ext cx="3657600" cy="201168"/>
          </a:xfrm>
          <a:prstGeom prst="rect">
            <a:avLst/>
          </a:prstGeom>
          <a:noFill/>
        </p:spPr>
        <p:txBody>
          <a:bodyPr wrap="square" anchor="t" lIns="0" rIns="0" tIns="0" bIns="0">
            <a:spAutoFit/>
          </a:bodyPr>
          <a:lstStyle/>
          <a:p>
            <a:pPr algn="l">
              <a:lnSpc>
                <a:spcPct val="110000"/>
              </a:lnSpc>
              <a:spcBef>
                <a:spcPts val="0"/>
              </a:spcBef>
              <a:spcAft>
                <a:spcPts val="400"/>
              </a:spcAft>
            </a:pPr>
            <a:r>
              <a:rPr sz="950" b="1" spc="100">
                <a:solidFill>
                  <a:srgbClr val="9AA1A9"/>
                </a:solidFill>
                <a:latin typeface="Consolas"/>
                <a:ea typeface="Consolas"/>
              </a:rPr>
              <a:t>川上（源流）</a:t>
            </a:r>
          </a:p>
        </p:txBody>
      </p:sp>
      <p:sp>
        <p:nvSpPr>
          <p:cNvPr id="10" name="TextBox 9"/>
          <p:cNvSpPr txBox="1"/>
          <p:nvPr/>
        </p:nvSpPr>
        <p:spPr>
          <a:xfrm>
            <a:off x="7708392" y="2103120"/>
            <a:ext cx="3657600" cy="201168"/>
          </a:xfrm>
          <a:prstGeom prst="rect">
            <a:avLst/>
          </a:prstGeom>
          <a:noFill/>
        </p:spPr>
        <p:txBody>
          <a:bodyPr wrap="square" anchor="t" lIns="0" rIns="0" tIns="0" bIns="0">
            <a:spAutoFit/>
          </a:bodyPr>
          <a:lstStyle/>
          <a:p>
            <a:pPr algn="r">
              <a:lnSpc>
                <a:spcPct val="110000"/>
              </a:lnSpc>
              <a:spcBef>
                <a:spcPts val="0"/>
              </a:spcBef>
              <a:spcAft>
                <a:spcPts val="400"/>
              </a:spcAft>
            </a:pPr>
            <a:r>
              <a:rPr sz="950" b="1" spc="100">
                <a:solidFill>
                  <a:srgbClr val="9AA1A9"/>
                </a:solidFill>
                <a:latin typeface="Consolas"/>
                <a:ea typeface="Consolas"/>
              </a:rPr>
              <a:t>川下（据付・保守の現場）</a:t>
            </a:r>
          </a:p>
        </p:txBody>
      </p:sp>
      <p:sp>
        <p:nvSpPr>
          <p:cNvPr id="11" name="Rectangle 10"/>
          <p:cNvSpPr/>
          <p:nvPr/>
        </p:nvSpPr>
        <p:spPr>
          <a:xfrm>
            <a:off x="822960" y="2340864"/>
            <a:ext cx="10232136"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36808" y="2240280"/>
            <a:ext cx="365760" cy="237744"/>
          </a:xfrm>
          <a:prstGeom prst="rect">
            <a:avLst/>
          </a:prstGeom>
          <a:noFill/>
        </p:spPr>
        <p:txBody>
          <a:bodyPr wrap="square" anchor="t" lIns="0" rIns="0" tIns="0" bIns="0">
            <a:spAutoFit/>
          </a:bodyPr>
          <a:lstStyle/>
          <a:p>
            <a:pPr algn="l">
              <a:lnSpc>
                <a:spcPct val="110000"/>
              </a:lnSpc>
              <a:spcBef>
                <a:spcPts val="0"/>
              </a:spcBef>
              <a:spcAft>
                <a:spcPts val="400"/>
              </a:spcAft>
            </a:pPr>
            <a:r>
              <a:rPr sz="1400" b="1">
                <a:solidFill>
                  <a:srgbClr val="E60012"/>
                </a:solidFill>
                <a:latin typeface="Noto Sans JP"/>
                <a:ea typeface="Noto Sans JP"/>
              </a:rPr>
              <a:t>▶</a:t>
            </a:r>
          </a:p>
        </p:txBody>
      </p:sp>
      <p:sp>
        <p:nvSpPr>
          <p:cNvPr id="13" name="Rectangle 12"/>
          <p:cNvSpPr/>
          <p:nvPr/>
        </p:nvSpPr>
        <p:spPr>
          <a:xfrm>
            <a:off x="822960"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01</a:t>
            </a:r>
          </a:p>
        </p:txBody>
      </p:sp>
      <p:sp>
        <p:nvSpPr>
          <p:cNvPr id="15" name="TextBox 14"/>
          <p:cNvSpPr txBox="1"/>
          <p:nvPr/>
        </p:nvSpPr>
        <p:spPr>
          <a:xfrm>
            <a:off x="822960"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発電・電源</a:t>
            </a:r>
          </a:p>
        </p:txBody>
      </p:sp>
      <p:sp>
        <p:nvSpPr>
          <p:cNvPr id="16" name="TextBox 15"/>
          <p:cNvSpPr txBox="1"/>
          <p:nvPr/>
        </p:nvSpPr>
        <p:spPr>
          <a:xfrm>
            <a:off x="822960"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電気をつくる</a:t>
            </a:r>
          </a:p>
        </p:txBody>
      </p:sp>
      <p:sp>
        <p:nvSpPr>
          <p:cNvPr id="17" name="TextBox 16"/>
          <p:cNvSpPr txBox="1"/>
          <p:nvPr/>
        </p:nvSpPr>
        <p:spPr>
          <a:xfrm>
            <a:off x="822960"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三菱重工</a:t>
            </a:r>
          </a:p>
        </p:txBody>
      </p:sp>
      <p:sp>
        <p:nvSpPr>
          <p:cNvPr id="18" name="TextBox 17"/>
          <p:cNvSpPr txBox="1"/>
          <p:nvPr/>
        </p:nvSpPr>
        <p:spPr>
          <a:xfrm>
            <a:off x="822960"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川崎重工</a:t>
            </a:r>
          </a:p>
        </p:txBody>
      </p:sp>
      <p:sp>
        <p:nvSpPr>
          <p:cNvPr id="19" name="TextBox 18"/>
          <p:cNvSpPr txBox="1"/>
          <p:nvPr/>
        </p:nvSpPr>
        <p:spPr>
          <a:xfrm>
            <a:off x="822960"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IHI</a:t>
            </a:r>
          </a:p>
        </p:txBody>
      </p:sp>
      <p:sp>
        <p:nvSpPr>
          <p:cNvPr id="20" name="TextBox 19"/>
          <p:cNvSpPr txBox="1"/>
          <p:nvPr/>
        </p:nvSpPr>
        <p:spPr>
          <a:xfrm>
            <a:off x="822960"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デンヨー</a:t>
            </a:r>
          </a:p>
        </p:txBody>
      </p:sp>
      <p:sp>
        <p:nvSpPr>
          <p:cNvPr id="21" name="Rectangle 20"/>
          <p:cNvSpPr/>
          <p:nvPr/>
        </p:nvSpPr>
        <p:spPr>
          <a:xfrm>
            <a:off x="2821838"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31566"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31566"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02</a:t>
            </a:r>
          </a:p>
        </p:txBody>
      </p:sp>
      <p:sp>
        <p:nvSpPr>
          <p:cNvPr id="24" name="TextBox 23"/>
          <p:cNvSpPr txBox="1"/>
          <p:nvPr/>
        </p:nvSpPr>
        <p:spPr>
          <a:xfrm>
            <a:off x="2931566"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送変電・電線</a:t>
            </a:r>
          </a:p>
        </p:txBody>
      </p:sp>
      <p:sp>
        <p:nvSpPr>
          <p:cNvPr id="25" name="TextBox 24"/>
          <p:cNvSpPr txBox="1"/>
          <p:nvPr/>
        </p:nvSpPr>
        <p:spPr>
          <a:xfrm>
            <a:off x="2931566"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送る・変える</a:t>
            </a:r>
          </a:p>
        </p:txBody>
      </p:sp>
      <p:sp>
        <p:nvSpPr>
          <p:cNvPr id="26" name="TextBox 25"/>
          <p:cNvSpPr txBox="1"/>
          <p:nvPr/>
        </p:nvSpPr>
        <p:spPr>
          <a:xfrm>
            <a:off x="2931566"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日立</a:t>
            </a:r>
          </a:p>
        </p:txBody>
      </p:sp>
      <p:sp>
        <p:nvSpPr>
          <p:cNvPr id="27" name="TextBox 26"/>
          <p:cNvSpPr txBox="1"/>
          <p:nvPr/>
        </p:nvSpPr>
        <p:spPr>
          <a:xfrm>
            <a:off x="2931566"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三菱電機</a:t>
            </a:r>
          </a:p>
        </p:txBody>
      </p:sp>
      <p:sp>
        <p:nvSpPr>
          <p:cNvPr id="28" name="TextBox 27"/>
          <p:cNvSpPr txBox="1"/>
          <p:nvPr/>
        </p:nvSpPr>
        <p:spPr>
          <a:xfrm>
            <a:off x="2931566"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ダイヘン</a:t>
            </a:r>
          </a:p>
        </p:txBody>
      </p:sp>
      <p:sp>
        <p:nvSpPr>
          <p:cNvPr id="29" name="TextBox 28"/>
          <p:cNvSpPr txBox="1"/>
          <p:nvPr/>
        </p:nvSpPr>
        <p:spPr>
          <a:xfrm>
            <a:off x="2931566"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フジクラ</a:t>
            </a:r>
          </a:p>
        </p:txBody>
      </p:sp>
      <p:sp>
        <p:nvSpPr>
          <p:cNvPr id="30" name="Rectangle 29"/>
          <p:cNvSpPr/>
          <p:nvPr/>
        </p:nvSpPr>
        <p:spPr>
          <a:xfrm>
            <a:off x="4930444"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40172"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0172"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03</a:t>
            </a:r>
          </a:p>
        </p:txBody>
      </p:sp>
      <p:sp>
        <p:nvSpPr>
          <p:cNvPr id="33" name="TextBox 32"/>
          <p:cNvSpPr txBox="1"/>
          <p:nvPr/>
        </p:nvSpPr>
        <p:spPr>
          <a:xfrm>
            <a:off x="5040172"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DC建設・設備</a:t>
            </a:r>
          </a:p>
        </p:txBody>
      </p:sp>
      <p:sp>
        <p:nvSpPr>
          <p:cNvPr id="34" name="TextBox 33"/>
          <p:cNvSpPr txBox="1"/>
          <p:nvPr/>
        </p:nvSpPr>
        <p:spPr>
          <a:xfrm>
            <a:off x="5040172"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箱を建てる</a:t>
            </a:r>
          </a:p>
        </p:txBody>
      </p:sp>
      <p:sp>
        <p:nvSpPr>
          <p:cNvPr id="35" name="TextBox 34"/>
          <p:cNvSpPr txBox="1"/>
          <p:nvPr/>
        </p:nvSpPr>
        <p:spPr>
          <a:xfrm>
            <a:off x="5040172"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鹿島建設</a:t>
            </a:r>
          </a:p>
        </p:txBody>
      </p:sp>
      <p:sp>
        <p:nvSpPr>
          <p:cNvPr id="36" name="TextBox 35"/>
          <p:cNvSpPr txBox="1"/>
          <p:nvPr/>
        </p:nvSpPr>
        <p:spPr>
          <a:xfrm>
            <a:off x="5040172"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大林組</a:t>
            </a:r>
          </a:p>
        </p:txBody>
      </p:sp>
      <p:sp>
        <p:nvSpPr>
          <p:cNvPr id="37" name="TextBox 36"/>
          <p:cNvSpPr txBox="1"/>
          <p:nvPr/>
        </p:nvSpPr>
        <p:spPr>
          <a:xfrm>
            <a:off x="5040172"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きんでん</a:t>
            </a:r>
          </a:p>
        </p:txBody>
      </p:sp>
      <p:sp>
        <p:nvSpPr>
          <p:cNvPr id="38" name="TextBox 37"/>
          <p:cNvSpPr txBox="1"/>
          <p:nvPr/>
        </p:nvSpPr>
        <p:spPr>
          <a:xfrm>
            <a:off x="5040172"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高砂熱学</a:t>
            </a:r>
          </a:p>
        </p:txBody>
      </p:sp>
      <p:sp>
        <p:nvSpPr>
          <p:cNvPr id="39" name="Rectangle 38"/>
          <p:cNvSpPr/>
          <p:nvPr/>
        </p:nvSpPr>
        <p:spPr>
          <a:xfrm>
            <a:off x="7039051"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148779"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48779"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04</a:t>
            </a:r>
          </a:p>
        </p:txBody>
      </p:sp>
      <p:sp>
        <p:nvSpPr>
          <p:cNvPr id="42" name="TextBox 41"/>
          <p:cNvSpPr txBox="1"/>
          <p:nvPr/>
        </p:nvSpPr>
        <p:spPr>
          <a:xfrm>
            <a:off x="7148779"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冷却・電源保護</a:t>
            </a:r>
          </a:p>
        </p:txBody>
      </p:sp>
      <p:sp>
        <p:nvSpPr>
          <p:cNvPr id="43" name="TextBox 42"/>
          <p:cNvSpPr txBox="1"/>
          <p:nvPr/>
        </p:nvSpPr>
        <p:spPr>
          <a:xfrm>
            <a:off x="7148779"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冷やす・止めない</a:t>
            </a:r>
          </a:p>
        </p:txBody>
      </p:sp>
      <p:sp>
        <p:nvSpPr>
          <p:cNvPr id="44" name="TextBox 43"/>
          <p:cNvSpPr txBox="1"/>
          <p:nvPr/>
        </p:nvSpPr>
        <p:spPr>
          <a:xfrm>
            <a:off x="7148779"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ダイキン</a:t>
            </a:r>
          </a:p>
        </p:txBody>
      </p:sp>
      <p:sp>
        <p:nvSpPr>
          <p:cNvPr id="45" name="TextBox 44"/>
          <p:cNvSpPr txBox="1"/>
          <p:nvPr/>
        </p:nvSpPr>
        <p:spPr>
          <a:xfrm>
            <a:off x="7148779"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GSユアサ</a:t>
            </a:r>
          </a:p>
        </p:txBody>
      </p:sp>
      <p:sp>
        <p:nvSpPr>
          <p:cNvPr id="46" name="TextBox 45"/>
          <p:cNvSpPr txBox="1"/>
          <p:nvPr/>
        </p:nvSpPr>
        <p:spPr>
          <a:xfrm>
            <a:off x="7148779"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荏原製作所</a:t>
            </a:r>
          </a:p>
        </p:txBody>
      </p:sp>
      <p:sp>
        <p:nvSpPr>
          <p:cNvPr id="47" name="Rectangle 46"/>
          <p:cNvSpPr/>
          <p:nvPr/>
        </p:nvSpPr>
        <p:spPr>
          <a:xfrm>
            <a:off x="9147657" y="2670048"/>
            <a:ext cx="12700" cy="23774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257385" y="2670048"/>
            <a:ext cx="1852574" cy="5486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257385" y="2816352"/>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05</a:t>
            </a:r>
          </a:p>
        </p:txBody>
      </p:sp>
      <p:sp>
        <p:nvSpPr>
          <p:cNvPr id="50" name="TextBox 49"/>
          <p:cNvSpPr txBox="1"/>
          <p:nvPr/>
        </p:nvSpPr>
        <p:spPr>
          <a:xfrm>
            <a:off x="9257385" y="3054096"/>
            <a:ext cx="1852574" cy="36576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半導体</a:t>
            </a:r>
          </a:p>
        </p:txBody>
      </p:sp>
      <p:sp>
        <p:nvSpPr>
          <p:cNvPr id="51" name="TextBox 50"/>
          <p:cNvSpPr txBox="1"/>
          <p:nvPr/>
        </p:nvSpPr>
        <p:spPr>
          <a:xfrm>
            <a:off x="9257385" y="3456432"/>
            <a:ext cx="1852574" cy="219456"/>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計算する頭脳</a:t>
            </a:r>
          </a:p>
        </p:txBody>
      </p:sp>
      <p:sp>
        <p:nvSpPr>
          <p:cNvPr id="52" name="TextBox 51"/>
          <p:cNvSpPr txBox="1"/>
          <p:nvPr/>
        </p:nvSpPr>
        <p:spPr>
          <a:xfrm>
            <a:off x="9257385" y="3822191"/>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東京エレクトロン</a:t>
            </a:r>
          </a:p>
        </p:txBody>
      </p:sp>
      <p:sp>
        <p:nvSpPr>
          <p:cNvPr id="53" name="TextBox 52"/>
          <p:cNvSpPr txBox="1"/>
          <p:nvPr/>
        </p:nvSpPr>
        <p:spPr>
          <a:xfrm>
            <a:off x="9257385" y="418795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ディスコ</a:t>
            </a:r>
          </a:p>
        </p:txBody>
      </p:sp>
      <p:sp>
        <p:nvSpPr>
          <p:cNvPr id="54" name="TextBox 53"/>
          <p:cNvSpPr txBox="1"/>
          <p:nvPr/>
        </p:nvSpPr>
        <p:spPr>
          <a:xfrm>
            <a:off x="9257385" y="455371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キオクシア</a:t>
            </a:r>
          </a:p>
        </p:txBody>
      </p:sp>
      <p:sp>
        <p:nvSpPr>
          <p:cNvPr id="55" name="TextBox 54"/>
          <p:cNvSpPr txBox="1"/>
          <p:nvPr/>
        </p:nvSpPr>
        <p:spPr>
          <a:xfrm>
            <a:off x="9257385" y="4919472"/>
            <a:ext cx="1852574" cy="310896"/>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Noto Sans JP"/>
                <a:ea typeface="Noto Sans JP"/>
              </a:rPr>
              <a:t>・</a:t>
            </a:r>
            <a:r>
              <a:rPr sz="1250" b="1">
                <a:solidFill>
                  <a:srgbClr val="373C43"/>
                </a:solidFill>
                <a:latin typeface="Noto Sans JP"/>
                <a:ea typeface="Noto Sans JP"/>
              </a:rPr>
              <a:t>信越化学</a:t>
            </a:r>
          </a:p>
        </p:txBody>
      </p:sp>
      <p:sp>
        <p:nvSpPr>
          <p:cNvPr id="56" name="Rectangle 55"/>
          <p:cNvSpPr/>
          <p:nvPr/>
        </p:nvSpPr>
        <p:spPr>
          <a:xfrm>
            <a:off x="822960" y="5294376"/>
            <a:ext cx="82296" cy="42062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8992" y="5248656"/>
            <a:ext cx="10268711" cy="512064"/>
          </a:xfrm>
          <a:prstGeom prst="rect">
            <a:avLst/>
          </a:prstGeom>
          <a:noFill/>
        </p:spPr>
        <p:txBody>
          <a:bodyPr wrap="square" anchor="ctr" lIns="0" rIns="0" tIns="0" bIns="0">
            <a:spAutoFit/>
          </a:bodyPr>
          <a:lstStyle/>
          <a:p>
            <a:pPr algn="l">
              <a:lnSpc>
                <a:spcPct val="116000"/>
              </a:lnSpc>
              <a:spcBef>
                <a:spcPts val="0"/>
              </a:spcBef>
              <a:spcAft>
                <a:spcPts val="400"/>
              </a:spcAft>
            </a:pPr>
            <a:r>
              <a:rPr sz="1900" b="1">
                <a:solidFill>
                  <a:srgbClr val="15181C"/>
                </a:solidFill>
                <a:latin typeface="Noto Sans JP"/>
                <a:ea typeface="Noto Sans JP"/>
              </a:rPr>
              <a:t>AIの“源流”が、川下の日本メーカーまで、</a:t>
            </a:r>
            <a:r>
              <a:rPr sz="1900" b="1">
                <a:solidFill>
                  <a:srgbClr val="E60012"/>
                </a:solidFill>
                <a:latin typeface="Noto Sans JP"/>
                <a:ea typeface="Noto Sans JP"/>
              </a:rPr>
              <a:t>まるごと潤す。</a:t>
            </a:r>
          </a:p>
        </p:txBody>
      </p:sp>
      <p:sp>
        <p:nvSpPr>
          <p:cNvPr id="58" name="TextBox 57"/>
          <p:cNvSpPr txBox="1"/>
          <p:nvPr/>
        </p:nvSpPr>
        <p:spPr>
          <a:xfrm>
            <a:off x="1078992" y="5852160"/>
            <a:ext cx="10332720" cy="310896"/>
          </a:xfrm>
          <a:prstGeom prst="rect">
            <a:avLst/>
          </a:prstGeom>
          <a:noFill/>
        </p:spPr>
        <p:txBody>
          <a:bodyPr wrap="square" anchor="t" lIns="0" rIns="0" tIns="0" bIns="0">
            <a:spAutoFit/>
          </a:bodyPr>
          <a:lstStyle/>
          <a:p>
            <a:pPr algn="l">
              <a:lnSpc>
                <a:spcPct val="110000"/>
              </a:lnSpc>
              <a:spcBef>
                <a:spcPts val="0"/>
              </a:spcBef>
              <a:spcAft>
                <a:spcPts val="400"/>
              </a:spcAft>
            </a:pPr>
            <a:r>
              <a:rPr sz="1400" b="1">
                <a:solidFill>
                  <a:srgbClr val="373C43"/>
                </a:solidFill>
                <a:latin typeface="Noto Sans JP"/>
                <a:ea typeface="Noto Sans JP"/>
              </a:rPr>
              <a:t>発電から半導体まで全段が同時に増収増益——狙える現場は、この一社一社にある。</a:t>
            </a:r>
          </a:p>
        </p:txBody>
      </p:sp>
      <p:sp>
        <p:nvSpPr>
          <p:cNvPr id="59" name="TextBox 58"/>
          <p:cNvSpPr txBox="1"/>
          <p:nvPr/>
        </p:nvSpPr>
        <p:spPr>
          <a:xfrm>
            <a:off x="822960" y="6345936"/>
            <a:ext cx="10607040" cy="256032"/>
          </a:xfrm>
          <a:prstGeom prst="rect">
            <a:avLst/>
          </a:prstGeom>
          <a:noFill/>
        </p:spPr>
        <p:txBody>
          <a:bodyPr wrap="square" anchor="t" lIns="0" rIns="0" tIns="0" bIns="0">
            <a:spAutoFit/>
          </a:bodyPr>
          <a:lstStyle/>
          <a:p>
            <a:pPr algn="l">
              <a:lnSpc>
                <a:spcPct val="110000"/>
              </a:lnSpc>
              <a:spcBef>
                <a:spcPts val="0"/>
              </a:spcBef>
              <a:spcAft>
                <a:spcPts val="400"/>
              </a:spcAft>
            </a:pPr>
            <a:r>
              <a:rPr sz="900" b="0">
                <a:solidFill>
                  <a:srgbClr val="9AA1A9"/>
                </a:solidFill>
                <a:latin typeface="Consolas"/>
                <a:ea typeface="Consolas"/>
              </a:rPr>
              <a:t>※ 各段階の代表企業を抜粋（社名表記＝ロゴのイメージ、実ロゴへ差し替え可）。数値・詳細は次頁以降。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建設費の中身：どこにANDPADの市場があるか</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04</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お金の3/4は設備。効くのは機器代ではなく“工”＝据付・試運転・保守。</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2635758" cy="89611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8718" y="2011680"/>
            <a:ext cx="5271516" cy="89611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730234" y="2011680"/>
            <a:ext cx="2635758" cy="896112"/>
          </a:xfrm>
          <a:prstGeom prst="rect">
            <a:avLst/>
          </a:prstGeom>
          <a:solidFill>
            <a:srgbClr val="F0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47745" y="2011680"/>
            <a:ext cx="21945" cy="8961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719261" y="2011680"/>
            <a:ext cx="21945" cy="8961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011680"/>
            <a:ext cx="2635758" cy="896112"/>
          </a:xfrm>
          <a:prstGeom prst="rect">
            <a:avLst/>
          </a:prstGeom>
          <a:noFill/>
        </p:spPr>
        <p:txBody>
          <a:bodyPr wrap="square" anchor="ctr" lIns="0" rIns="0" tIns="0" bIns="0">
            <a:spAutoFit/>
          </a:bodyPr>
          <a:lstStyle/>
          <a:p>
            <a:pPr algn="ctr">
              <a:lnSpc>
                <a:spcPct val="100000"/>
              </a:lnSpc>
              <a:spcBef>
                <a:spcPts val="0"/>
              </a:spcBef>
              <a:spcAft>
                <a:spcPts val="100"/>
              </a:spcAft>
            </a:pPr>
            <a:r>
              <a:rPr sz="1100" b="1">
                <a:solidFill>
                  <a:srgbClr val="FFFFFF"/>
                </a:solidFill>
                <a:latin typeface="Noto Sans JP"/>
                <a:ea typeface="Noto Sans JP"/>
              </a:rPr>
              <a:t>建築（躯体）</a:t>
            </a:r>
          </a:p>
          <a:p>
            <a:pPr algn="ctr">
              <a:lnSpc>
                <a:spcPct val="100000"/>
              </a:lnSpc>
              <a:spcBef>
                <a:spcPts val="0"/>
              </a:spcBef>
              <a:spcAft>
                <a:spcPts val="100"/>
              </a:spcAft>
            </a:pPr>
            <a:r>
              <a:rPr sz="1900" b="1">
                <a:solidFill>
                  <a:srgbClr val="FFFFFF"/>
                </a:solidFill>
                <a:latin typeface="Noto Sans JP"/>
                <a:ea typeface="Noto Sans JP"/>
              </a:rPr>
              <a:t>約25%</a:t>
            </a:r>
          </a:p>
        </p:txBody>
      </p:sp>
      <p:sp>
        <p:nvSpPr>
          <p:cNvPr id="14" name="TextBox 13"/>
          <p:cNvSpPr txBox="1"/>
          <p:nvPr/>
        </p:nvSpPr>
        <p:spPr>
          <a:xfrm>
            <a:off x="3458718" y="2011680"/>
            <a:ext cx="5271516" cy="896112"/>
          </a:xfrm>
          <a:prstGeom prst="rect">
            <a:avLst/>
          </a:prstGeom>
          <a:noFill/>
        </p:spPr>
        <p:txBody>
          <a:bodyPr wrap="square" anchor="ctr" lIns="0" rIns="0" tIns="0" bIns="0">
            <a:spAutoFit/>
          </a:bodyPr>
          <a:lstStyle/>
          <a:p>
            <a:pPr algn="ctr">
              <a:lnSpc>
                <a:spcPct val="100000"/>
              </a:lnSpc>
              <a:spcBef>
                <a:spcPts val="0"/>
              </a:spcBef>
              <a:spcAft>
                <a:spcPts val="100"/>
              </a:spcAft>
            </a:pPr>
            <a:r>
              <a:rPr sz="1200" b="1">
                <a:solidFill>
                  <a:srgbClr val="FFFFFF"/>
                </a:solidFill>
                <a:latin typeface="Noto Sans JP"/>
                <a:ea typeface="Noto Sans JP"/>
              </a:rPr>
              <a:t>電気設備</a:t>
            </a:r>
          </a:p>
          <a:p>
            <a:pPr algn="ctr">
              <a:lnSpc>
                <a:spcPct val="100000"/>
              </a:lnSpc>
              <a:spcBef>
                <a:spcPts val="0"/>
              </a:spcBef>
              <a:spcAft>
                <a:spcPts val="100"/>
              </a:spcAft>
            </a:pPr>
            <a:r>
              <a:rPr sz="2200" b="1">
                <a:solidFill>
                  <a:srgbClr val="FFFFFF"/>
                </a:solidFill>
                <a:latin typeface="Noto Sans JP"/>
                <a:ea typeface="Noto Sans JP"/>
              </a:rPr>
              <a:t>約50%</a:t>
            </a:r>
          </a:p>
        </p:txBody>
      </p:sp>
      <p:sp>
        <p:nvSpPr>
          <p:cNvPr id="15" name="TextBox 14"/>
          <p:cNvSpPr txBox="1"/>
          <p:nvPr/>
        </p:nvSpPr>
        <p:spPr>
          <a:xfrm>
            <a:off x="8730234" y="2011680"/>
            <a:ext cx="2635758" cy="896112"/>
          </a:xfrm>
          <a:prstGeom prst="rect">
            <a:avLst/>
          </a:prstGeom>
          <a:noFill/>
        </p:spPr>
        <p:txBody>
          <a:bodyPr wrap="square" anchor="ctr" lIns="0" rIns="0" tIns="0" bIns="0">
            <a:spAutoFit/>
          </a:bodyPr>
          <a:lstStyle/>
          <a:p>
            <a:pPr algn="ctr">
              <a:lnSpc>
                <a:spcPct val="100000"/>
              </a:lnSpc>
              <a:spcBef>
                <a:spcPts val="0"/>
              </a:spcBef>
              <a:spcAft>
                <a:spcPts val="100"/>
              </a:spcAft>
            </a:pPr>
            <a:r>
              <a:rPr sz="1100" b="1">
                <a:solidFill>
                  <a:srgbClr val="FFFFFF"/>
                </a:solidFill>
                <a:latin typeface="Noto Sans JP"/>
                <a:ea typeface="Noto Sans JP"/>
              </a:rPr>
              <a:t>空調・機械</a:t>
            </a:r>
          </a:p>
          <a:p>
            <a:pPr algn="ctr">
              <a:lnSpc>
                <a:spcPct val="100000"/>
              </a:lnSpc>
              <a:spcBef>
                <a:spcPts val="0"/>
              </a:spcBef>
              <a:spcAft>
                <a:spcPts val="100"/>
              </a:spcAft>
            </a:pPr>
            <a:r>
              <a:rPr sz="1900" b="1">
                <a:solidFill>
                  <a:srgbClr val="FFFFFF"/>
                </a:solidFill>
                <a:latin typeface="Noto Sans JP"/>
                <a:ea typeface="Noto Sans JP"/>
              </a:rPr>
              <a:t>約25%</a:t>
            </a:r>
          </a:p>
        </p:txBody>
      </p:sp>
      <p:sp>
        <p:nvSpPr>
          <p:cNvPr id="16" name="TextBox 15"/>
          <p:cNvSpPr txBox="1"/>
          <p:nvPr/>
        </p:nvSpPr>
        <p:spPr>
          <a:xfrm>
            <a:off x="822960" y="1719072"/>
            <a:ext cx="2635758"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Consolas"/>
                <a:ea typeface="Consolas"/>
              </a:rPr>
              <a:t>建設（ゼネコン）</a:t>
            </a:r>
          </a:p>
        </p:txBody>
      </p:sp>
      <p:sp>
        <p:nvSpPr>
          <p:cNvPr id="17" name="TextBox 16"/>
          <p:cNvSpPr txBox="1"/>
          <p:nvPr/>
        </p:nvSpPr>
        <p:spPr>
          <a:xfrm>
            <a:off x="3458718" y="1719072"/>
            <a:ext cx="7907273" cy="237744"/>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E60012"/>
                </a:solidFill>
                <a:latin typeface="Consolas"/>
                <a:ea typeface="Consolas"/>
              </a:rPr>
              <a:t>設備＝製造業（電気・機械）  約75%</a:t>
            </a:r>
          </a:p>
        </p:txBody>
      </p:sp>
      <p:sp>
        <p:nvSpPr>
          <p:cNvPr id="18" name="TextBox 17"/>
          <p:cNvSpPr txBox="1"/>
          <p:nvPr/>
        </p:nvSpPr>
        <p:spPr>
          <a:xfrm>
            <a:off x="822960" y="3154680"/>
            <a:ext cx="10543032" cy="256032"/>
          </a:xfrm>
          <a:prstGeom prst="rect">
            <a:avLst/>
          </a:prstGeom>
          <a:noFill/>
        </p:spPr>
        <p:txBody>
          <a:bodyPr wrap="square" anchor="t" lIns="0" rIns="0" tIns="0" bIns="0">
            <a:spAutoFit/>
          </a:bodyPr>
          <a:lstStyle/>
          <a:p>
            <a:pPr algn="l">
              <a:lnSpc>
                <a:spcPct val="110000"/>
              </a:lnSpc>
              <a:spcBef>
                <a:spcPts val="0"/>
              </a:spcBef>
              <a:spcAft>
                <a:spcPts val="400"/>
              </a:spcAft>
            </a:pPr>
            <a:r>
              <a:rPr sz="1250" b="1">
                <a:solidFill>
                  <a:srgbClr val="373C43"/>
                </a:solidFill>
                <a:latin typeface="Noto Sans JP"/>
                <a:ea typeface="Noto Sans JP"/>
              </a:rPr>
              <a:t>その「設備 約75%」を  </a:t>
            </a:r>
            <a:r>
              <a:rPr sz="1250" b="1">
                <a:solidFill>
                  <a:srgbClr val="6E767F"/>
                </a:solidFill>
                <a:latin typeface="Noto Sans JP"/>
                <a:ea typeface="Noto Sans JP"/>
              </a:rPr>
              <a:t>材（機器・材料）</a:t>
            </a:r>
            <a:r>
              <a:rPr sz="1250" b="0">
                <a:solidFill>
                  <a:srgbClr val="373C43"/>
                </a:solidFill>
                <a:latin typeface="Noto Sans JP"/>
                <a:ea typeface="Noto Sans JP"/>
              </a:rPr>
              <a:t>  と  </a:t>
            </a:r>
            <a:r>
              <a:rPr sz="1250" b="1">
                <a:solidFill>
                  <a:srgbClr val="E60012"/>
                </a:solidFill>
                <a:latin typeface="Noto Sans JP"/>
                <a:ea typeface="Noto Sans JP"/>
              </a:rPr>
              <a:t>工（据付・施工＝人が動く）</a:t>
            </a:r>
            <a:r>
              <a:rPr sz="1250" b="1">
                <a:solidFill>
                  <a:srgbClr val="373C43"/>
                </a:solidFill>
                <a:latin typeface="Noto Sans JP"/>
                <a:ea typeface="Noto Sans JP"/>
              </a:rPr>
              <a:t>  に分けると</a:t>
            </a:r>
          </a:p>
        </p:txBody>
      </p:sp>
      <p:sp>
        <p:nvSpPr>
          <p:cNvPr id="19" name="Rectangle 18"/>
          <p:cNvSpPr/>
          <p:nvPr/>
        </p:nvSpPr>
        <p:spPr>
          <a:xfrm>
            <a:off x="822960" y="3493008"/>
            <a:ext cx="6325819" cy="804672"/>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48779" y="3493008"/>
            <a:ext cx="4217212" cy="80467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7806" y="3493008"/>
            <a:ext cx="21945" cy="8046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493008"/>
            <a:ext cx="6325819" cy="804672"/>
          </a:xfrm>
          <a:prstGeom prst="rect">
            <a:avLst/>
          </a:prstGeom>
          <a:noFill/>
        </p:spPr>
        <p:txBody>
          <a:bodyPr wrap="square" anchor="ctr" lIns="0" rIns="0" tIns="0" bIns="0">
            <a:spAutoFit/>
          </a:bodyPr>
          <a:lstStyle/>
          <a:p>
            <a:pPr algn="ctr">
              <a:lnSpc>
                <a:spcPct val="110000"/>
              </a:lnSpc>
              <a:spcBef>
                <a:spcPts val="0"/>
              </a:spcBef>
              <a:spcAft>
                <a:spcPts val="400"/>
              </a:spcAft>
            </a:pPr>
            <a:r>
              <a:rPr sz="1250" b="1">
                <a:solidFill>
                  <a:srgbClr val="15181C"/>
                </a:solidFill>
                <a:latin typeface="Noto Sans JP"/>
                <a:ea typeface="Noto Sans JP"/>
              </a:rPr>
              <a:t>材：機器・材料（変圧器・冷凍機・UPS 等）  約6割</a:t>
            </a:r>
          </a:p>
        </p:txBody>
      </p:sp>
      <p:sp>
        <p:nvSpPr>
          <p:cNvPr id="23" name="TextBox 22"/>
          <p:cNvSpPr txBox="1"/>
          <p:nvPr/>
        </p:nvSpPr>
        <p:spPr>
          <a:xfrm>
            <a:off x="7148779" y="3493008"/>
            <a:ext cx="4217212" cy="804672"/>
          </a:xfrm>
          <a:prstGeom prst="rect">
            <a:avLst/>
          </a:prstGeom>
          <a:noFill/>
        </p:spPr>
        <p:txBody>
          <a:bodyPr wrap="square" anchor="ctr" lIns="0" rIns="0" tIns="0" bIns="0">
            <a:spAutoFit/>
          </a:bodyPr>
          <a:lstStyle/>
          <a:p>
            <a:pPr algn="ctr">
              <a:lnSpc>
                <a:spcPct val="110000"/>
              </a:lnSpc>
              <a:spcBef>
                <a:spcPts val="0"/>
              </a:spcBef>
              <a:spcAft>
                <a:spcPts val="400"/>
              </a:spcAft>
            </a:pPr>
            <a:r>
              <a:rPr sz="1250" b="1">
                <a:solidFill>
                  <a:srgbClr val="FFFFFF"/>
                </a:solidFill>
                <a:latin typeface="Noto Sans JP"/>
                <a:ea typeface="Noto Sans JP"/>
              </a:rPr>
              <a:t>工：据付・施工  約4割</a:t>
            </a:r>
          </a:p>
        </p:txBody>
      </p:sp>
      <p:sp>
        <p:nvSpPr>
          <p:cNvPr id="24" name="TextBox 23"/>
          <p:cNvSpPr txBox="1"/>
          <p:nvPr/>
        </p:nvSpPr>
        <p:spPr>
          <a:xfrm>
            <a:off x="7148779" y="4352544"/>
            <a:ext cx="4217212" cy="219456"/>
          </a:xfrm>
          <a:prstGeom prst="rect">
            <a:avLst/>
          </a:prstGeom>
          <a:noFill/>
        </p:spPr>
        <p:txBody>
          <a:bodyPr wrap="square" anchor="t" lIns="0" rIns="0" tIns="0" bIns="0">
            <a:spAutoFit/>
          </a:bodyPr>
          <a:lstStyle/>
          <a:p>
            <a:pPr algn="ctr">
              <a:lnSpc>
                <a:spcPct val="110000"/>
              </a:lnSpc>
              <a:spcBef>
                <a:spcPts val="0"/>
              </a:spcBef>
              <a:spcAft>
                <a:spcPts val="400"/>
              </a:spcAft>
            </a:pPr>
            <a:r>
              <a:rPr sz="1000" b="1">
                <a:solidFill>
                  <a:srgbClr val="E60012"/>
                </a:solidFill>
                <a:latin typeface="Consolas"/>
                <a:ea typeface="Consolas"/>
              </a:rPr>
              <a:t>↑ ここがANDPADの市場（工）</a:t>
            </a:r>
          </a:p>
        </p:txBody>
      </p:sp>
      <p:sp>
        <p:nvSpPr>
          <p:cNvPr id="25" name="TextBox 24"/>
          <p:cNvSpPr txBox="1"/>
          <p:nvPr/>
        </p:nvSpPr>
        <p:spPr>
          <a:xfrm>
            <a:off x="822960" y="4828032"/>
            <a:ext cx="3148584"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15181C"/>
                </a:solidFill>
                <a:latin typeface="Noto Sans JP"/>
                <a:ea typeface="Noto Sans JP"/>
              </a:rPr>
              <a:t>据付・施工</a:t>
            </a:r>
            <a:r>
              <a:rPr sz="1200" b="1">
                <a:solidFill>
                  <a:srgbClr val="E60012"/>
                </a:solidFill>
                <a:latin typeface="Noto Sans JP"/>
                <a:ea typeface="Noto Sans JP"/>
              </a:rPr>
              <a:t>  建設費の約3割</a:t>
            </a:r>
          </a:p>
        </p:txBody>
      </p:sp>
      <p:sp>
        <p:nvSpPr>
          <p:cNvPr id="26" name="TextBox 25"/>
          <p:cNvSpPr txBox="1"/>
          <p:nvPr/>
        </p:nvSpPr>
        <p:spPr>
          <a:xfrm>
            <a:off x="822960" y="5157216"/>
            <a:ext cx="3148584" cy="292608"/>
          </a:xfrm>
          <a:prstGeom prst="rect">
            <a:avLst/>
          </a:prstGeom>
          <a:noFill/>
        </p:spPr>
        <p:txBody>
          <a:bodyPr wrap="square" anchor="t" lIns="0" rIns="0" tIns="0" bIns="0">
            <a:spAutoFit/>
          </a:bodyPr>
          <a:lstStyle/>
          <a:p>
            <a:pPr algn="l">
              <a:lnSpc>
                <a:spcPct val="114000"/>
              </a:lnSpc>
              <a:spcBef>
                <a:spcPts val="0"/>
              </a:spcBef>
              <a:spcAft>
                <a:spcPts val="400"/>
              </a:spcAft>
            </a:pPr>
            <a:r>
              <a:rPr sz="1050" b="1">
                <a:solidFill>
                  <a:srgbClr val="6E767F"/>
                </a:solidFill>
                <a:latin typeface="Noto Sans JP"/>
                <a:ea typeface="Noto Sans JP"/>
              </a:rPr>
              <a:t>国内の設備工事そのもの＝中核市場</a:t>
            </a:r>
          </a:p>
        </p:txBody>
      </p:sp>
      <p:sp>
        <p:nvSpPr>
          <p:cNvPr id="27" name="Rectangle 26"/>
          <p:cNvSpPr/>
          <p:nvPr/>
        </p:nvSpPr>
        <p:spPr>
          <a:xfrm>
            <a:off x="4154423" y="4828032"/>
            <a:ext cx="15240" cy="6400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37304" y="4828032"/>
            <a:ext cx="3148584"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15181C"/>
                </a:solidFill>
                <a:latin typeface="Noto Sans JP"/>
                <a:ea typeface="Noto Sans JP"/>
              </a:rPr>
              <a:t>試運転</a:t>
            </a:r>
            <a:r>
              <a:rPr sz="1200" b="1">
                <a:solidFill>
                  <a:srgbClr val="E60012"/>
                </a:solidFill>
                <a:latin typeface="Noto Sans JP"/>
                <a:ea typeface="Noto Sans JP"/>
              </a:rPr>
              <a:t>  建設費の1〜3%</a:t>
            </a:r>
          </a:p>
        </p:txBody>
      </p:sp>
      <p:sp>
        <p:nvSpPr>
          <p:cNvPr id="29" name="TextBox 28"/>
          <p:cNvSpPr txBox="1"/>
          <p:nvPr/>
        </p:nvSpPr>
        <p:spPr>
          <a:xfrm>
            <a:off x="4337304" y="5157216"/>
            <a:ext cx="3148584" cy="292608"/>
          </a:xfrm>
          <a:prstGeom prst="rect">
            <a:avLst/>
          </a:prstGeom>
          <a:noFill/>
        </p:spPr>
        <p:txBody>
          <a:bodyPr wrap="square" anchor="t" lIns="0" rIns="0" tIns="0" bIns="0">
            <a:spAutoFit/>
          </a:bodyPr>
          <a:lstStyle/>
          <a:p>
            <a:pPr algn="l">
              <a:lnSpc>
                <a:spcPct val="114000"/>
              </a:lnSpc>
              <a:spcBef>
                <a:spcPts val="0"/>
              </a:spcBef>
              <a:spcAft>
                <a:spcPts val="400"/>
              </a:spcAft>
            </a:pPr>
            <a:r>
              <a:rPr sz="1050" b="1">
                <a:solidFill>
                  <a:srgbClr val="6E767F"/>
                </a:solidFill>
                <a:latin typeface="Noto Sans JP"/>
                <a:ea typeface="Noto Sans JP"/>
              </a:rPr>
              <a:t>世界の試運転市場 $2.1B → $4.3B</a:t>
            </a:r>
          </a:p>
        </p:txBody>
      </p:sp>
      <p:sp>
        <p:nvSpPr>
          <p:cNvPr id="30" name="Rectangle 29"/>
          <p:cNvSpPr/>
          <p:nvPr/>
        </p:nvSpPr>
        <p:spPr>
          <a:xfrm>
            <a:off x="7668768" y="4828032"/>
            <a:ext cx="15240" cy="6400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51647" y="4828032"/>
            <a:ext cx="3148584" cy="274320"/>
          </a:xfrm>
          <a:prstGeom prst="rect">
            <a:avLst/>
          </a:prstGeom>
          <a:noFill/>
        </p:spPr>
        <p:txBody>
          <a:bodyPr wrap="square" anchor="t" lIns="0" rIns="0" tIns="0" bIns="0">
            <a:spAutoFit/>
          </a:bodyPr>
          <a:lstStyle/>
          <a:p>
            <a:pPr algn="l">
              <a:lnSpc>
                <a:spcPct val="110000"/>
              </a:lnSpc>
              <a:spcBef>
                <a:spcPts val="0"/>
              </a:spcBef>
              <a:spcAft>
                <a:spcPts val="400"/>
              </a:spcAft>
            </a:pPr>
            <a:r>
              <a:rPr sz="1350" b="1">
                <a:solidFill>
                  <a:srgbClr val="15181C"/>
                </a:solidFill>
                <a:latin typeface="Noto Sans JP"/>
                <a:ea typeface="Noto Sans JP"/>
              </a:rPr>
              <a:t>保守・運用</a:t>
            </a:r>
            <a:r>
              <a:rPr sz="1200" b="1">
                <a:solidFill>
                  <a:srgbClr val="E60012"/>
                </a:solidFill>
                <a:latin typeface="Noto Sans JP"/>
                <a:ea typeface="Noto Sans JP"/>
              </a:rPr>
              <a:t>  毎年・運用費の約4割</a:t>
            </a:r>
          </a:p>
        </p:txBody>
      </p:sp>
      <p:sp>
        <p:nvSpPr>
          <p:cNvPr id="32" name="TextBox 31"/>
          <p:cNvSpPr txBox="1"/>
          <p:nvPr/>
        </p:nvSpPr>
        <p:spPr>
          <a:xfrm>
            <a:off x="7851647" y="5157216"/>
            <a:ext cx="3148584" cy="292608"/>
          </a:xfrm>
          <a:prstGeom prst="rect">
            <a:avLst/>
          </a:prstGeom>
          <a:noFill/>
        </p:spPr>
        <p:txBody>
          <a:bodyPr wrap="square" anchor="t" lIns="0" rIns="0" tIns="0" bIns="0">
            <a:spAutoFit/>
          </a:bodyPr>
          <a:lstStyle/>
          <a:p>
            <a:pPr algn="l">
              <a:lnSpc>
                <a:spcPct val="114000"/>
              </a:lnSpc>
              <a:spcBef>
                <a:spcPts val="0"/>
              </a:spcBef>
              <a:spcAft>
                <a:spcPts val="400"/>
              </a:spcAft>
            </a:pPr>
            <a:r>
              <a:rPr sz="1050" b="1">
                <a:solidFill>
                  <a:srgbClr val="6E767F"/>
                </a:solidFill>
                <a:latin typeface="Noto Sans JP"/>
                <a:ea typeface="Noto Sans JP"/>
              </a:rPr>
              <a:t>世界のDC運用保守 $15.8B → $45.6B</a:t>
            </a:r>
          </a:p>
        </p:txBody>
      </p:sp>
      <p:sp>
        <p:nvSpPr>
          <p:cNvPr id="33" name="Rectangle 32"/>
          <p:cNvSpPr/>
          <p:nvPr/>
        </p:nvSpPr>
        <p:spPr>
          <a:xfrm>
            <a:off x="822960" y="5824728"/>
            <a:ext cx="82296" cy="42062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779008"/>
            <a:ext cx="10268711" cy="512064"/>
          </a:xfrm>
          <a:prstGeom prst="rect">
            <a:avLst/>
          </a:prstGeom>
          <a:noFill/>
        </p:spPr>
        <p:txBody>
          <a:bodyPr wrap="square" anchor="ctr" lIns="0" rIns="0" tIns="0" bIns="0">
            <a:spAutoFit/>
          </a:bodyPr>
          <a:lstStyle/>
          <a:p>
            <a:pPr algn="l">
              <a:lnSpc>
                <a:spcPct val="116000"/>
              </a:lnSpc>
              <a:spcBef>
                <a:spcPts val="0"/>
              </a:spcBef>
              <a:spcAft>
                <a:spcPts val="400"/>
              </a:spcAft>
            </a:pPr>
            <a:r>
              <a:rPr sz="1600" b="1">
                <a:solidFill>
                  <a:srgbClr val="15181C"/>
                </a:solidFill>
                <a:latin typeface="Noto Sans JP"/>
                <a:ea typeface="Noto Sans JP"/>
              </a:rPr>
              <a:t>建設業だけを見てきた。その周辺の“工”（据付・試運転・保守）に、</a:t>
            </a:r>
            <a:r>
              <a:rPr sz="1600" b="1">
                <a:solidFill>
                  <a:srgbClr val="E60012"/>
                </a:solidFill>
                <a:latin typeface="Noto Sans JP"/>
                <a:ea typeface="Noto Sans JP"/>
              </a:rPr>
              <a:t>広大な市場</a:t>
            </a:r>
            <a:r>
              <a:rPr sz="1600" b="1">
                <a:solidFill>
                  <a:srgbClr val="15181C"/>
                </a:solidFill>
                <a:latin typeface="Noto Sans JP"/>
                <a:ea typeface="Noto Sans JP"/>
              </a:rPr>
              <a:t>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66928"/>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502920"/>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バリューチェーン別・国内主要プレーヤーと伸び</a:t>
            </a:r>
          </a:p>
        </p:txBody>
      </p:sp>
      <p:sp>
        <p:nvSpPr>
          <p:cNvPr id="5" name="TextBox 4"/>
          <p:cNvSpPr txBox="1"/>
          <p:nvPr/>
        </p:nvSpPr>
        <p:spPr>
          <a:xfrm>
            <a:off x="10725912" y="502920"/>
            <a:ext cx="64008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05</a:t>
            </a:r>
          </a:p>
        </p:txBody>
      </p:sp>
      <p:sp>
        <p:nvSpPr>
          <p:cNvPr id="6" name="TextBox 5"/>
          <p:cNvSpPr txBox="1"/>
          <p:nvPr/>
        </p:nvSpPr>
        <p:spPr>
          <a:xfrm>
            <a:off x="804672" y="841248"/>
            <a:ext cx="10543032" cy="502920"/>
          </a:xfrm>
          <a:prstGeom prst="rect">
            <a:avLst/>
          </a:prstGeom>
          <a:noFill/>
        </p:spPr>
        <p:txBody>
          <a:bodyPr wrap="square" anchor="t" lIns="0" rIns="0" tIns="0" bIns="0">
            <a:spAutoFit/>
          </a:bodyPr>
          <a:lstStyle/>
          <a:p>
            <a:pPr algn="l">
              <a:lnSpc>
                <a:spcPct val="110000"/>
              </a:lnSpc>
              <a:spcBef>
                <a:spcPts val="0"/>
              </a:spcBef>
              <a:spcAft>
                <a:spcPts val="400"/>
              </a:spcAft>
            </a:pPr>
            <a:r>
              <a:rPr sz="2400" b="1">
                <a:solidFill>
                  <a:srgbClr val="15181C"/>
                </a:solidFill>
                <a:latin typeface="Noto Sans JP"/>
                <a:ea typeface="Noto Sans JP"/>
              </a:rPr>
              <a:t>国内のAI投資は、製造業のこの現場に着地している。</a:t>
            </a:r>
          </a:p>
        </p:txBody>
      </p:sp>
      <p:sp>
        <p:nvSpPr>
          <p:cNvPr id="7" name="Rectangle 6"/>
          <p:cNvSpPr/>
          <p:nvPr/>
        </p:nvSpPr>
        <p:spPr>
          <a:xfrm>
            <a:off x="822960" y="1463040"/>
            <a:ext cx="10543032" cy="1778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01</a:t>
            </a:r>
          </a:p>
        </p:txBody>
      </p:sp>
      <p:sp>
        <p:nvSpPr>
          <p:cNvPr id="9" name="TextBox 8"/>
          <p:cNvSpPr txBox="1"/>
          <p:nvPr/>
        </p:nvSpPr>
        <p:spPr>
          <a:xfrm>
            <a:off x="822960"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発電・電源</a:t>
            </a:r>
          </a:p>
        </p:txBody>
      </p:sp>
      <p:sp>
        <p:nvSpPr>
          <p:cNvPr id="10" name="TextBox 9"/>
          <p:cNvSpPr txBox="1"/>
          <p:nvPr/>
        </p:nvSpPr>
        <p:spPr>
          <a:xfrm>
            <a:off x="822960"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電気をつくる</a:t>
            </a:r>
          </a:p>
        </p:txBody>
      </p:sp>
      <p:sp>
        <p:nvSpPr>
          <p:cNvPr id="11" name="TextBox 10"/>
          <p:cNvSpPr txBox="1"/>
          <p:nvPr/>
        </p:nvSpPr>
        <p:spPr>
          <a:xfrm>
            <a:off x="822960"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受注残 5兆円超</a:t>
            </a:r>
          </a:p>
        </p:txBody>
      </p:sp>
      <p:sp>
        <p:nvSpPr>
          <p:cNvPr id="12" name="TextBox 11"/>
          <p:cNvSpPr txBox="1"/>
          <p:nvPr/>
        </p:nvSpPr>
        <p:spPr>
          <a:xfrm>
            <a:off x="822960"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三菱重工</a:t>
            </a:r>
          </a:p>
        </p:txBody>
      </p:sp>
      <p:sp>
        <p:nvSpPr>
          <p:cNvPr id="13" name="Rectangle 12"/>
          <p:cNvSpPr/>
          <p:nvPr/>
        </p:nvSpPr>
        <p:spPr>
          <a:xfrm>
            <a:off x="2821838"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1566"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02</a:t>
            </a:r>
          </a:p>
        </p:txBody>
      </p:sp>
      <p:sp>
        <p:nvSpPr>
          <p:cNvPr id="15" name="TextBox 14"/>
          <p:cNvSpPr txBox="1"/>
          <p:nvPr/>
        </p:nvSpPr>
        <p:spPr>
          <a:xfrm>
            <a:off x="2931566"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送変電・電線</a:t>
            </a:r>
          </a:p>
        </p:txBody>
      </p:sp>
      <p:sp>
        <p:nvSpPr>
          <p:cNvPr id="16" name="TextBox 15"/>
          <p:cNvSpPr txBox="1"/>
          <p:nvPr/>
        </p:nvSpPr>
        <p:spPr>
          <a:xfrm>
            <a:off x="2931566"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電気を送る・変える</a:t>
            </a:r>
          </a:p>
        </p:txBody>
      </p:sp>
      <p:sp>
        <p:nvSpPr>
          <p:cNvPr id="17" name="TextBox 16"/>
          <p:cNvSpPr txBox="1"/>
          <p:nvPr/>
        </p:nvSpPr>
        <p:spPr>
          <a:xfrm>
            <a:off x="2931566"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変圧器 生産能力2倍</a:t>
            </a:r>
          </a:p>
        </p:txBody>
      </p:sp>
      <p:sp>
        <p:nvSpPr>
          <p:cNvPr id="18" name="TextBox 17"/>
          <p:cNvSpPr txBox="1"/>
          <p:nvPr/>
        </p:nvSpPr>
        <p:spPr>
          <a:xfrm>
            <a:off x="2931566"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日立・ダイヘン・フジクラ</a:t>
            </a:r>
          </a:p>
        </p:txBody>
      </p:sp>
      <p:sp>
        <p:nvSpPr>
          <p:cNvPr id="19" name="Rectangle 18"/>
          <p:cNvSpPr/>
          <p:nvPr/>
        </p:nvSpPr>
        <p:spPr>
          <a:xfrm>
            <a:off x="4930444"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0172"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03</a:t>
            </a:r>
          </a:p>
        </p:txBody>
      </p:sp>
      <p:sp>
        <p:nvSpPr>
          <p:cNvPr id="21" name="TextBox 20"/>
          <p:cNvSpPr txBox="1"/>
          <p:nvPr/>
        </p:nvSpPr>
        <p:spPr>
          <a:xfrm>
            <a:off x="5040172"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DC建設・設備工事</a:t>
            </a:r>
          </a:p>
        </p:txBody>
      </p:sp>
      <p:sp>
        <p:nvSpPr>
          <p:cNvPr id="22" name="TextBox 21"/>
          <p:cNvSpPr txBox="1"/>
          <p:nvPr/>
        </p:nvSpPr>
        <p:spPr>
          <a:xfrm>
            <a:off x="5040172"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箱を建てる</a:t>
            </a:r>
          </a:p>
        </p:txBody>
      </p:sp>
      <p:sp>
        <p:nvSpPr>
          <p:cNvPr id="23" name="TextBox 22"/>
          <p:cNvSpPr txBox="1"/>
          <p:nvPr/>
        </p:nvSpPr>
        <p:spPr>
          <a:xfrm>
            <a:off x="5040172"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空調工事 受注 +25.5%</a:t>
            </a:r>
          </a:p>
        </p:txBody>
      </p:sp>
      <p:sp>
        <p:nvSpPr>
          <p:cNvPr id="24" name="TextBox 23"/>
          <p:cNvSpPr txBox="1"/>
          <p:nvPr/>
        </p:nvSpPr>
        <p:spPr>
          <a:xfrm>
            <a:off x="5040172"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ダイダン・高砂熱学</a:t>
            </a:r>
          </a:p>
        </p:txBody>
      </p:sp>
      <p:sp>
        <p:nvSpPr>
          <p:cNvPr id="25" name="Rectangle 24"/>
          <p:cNvSpPr/>
          <p:nvPr/>
        </p:nvSpPr>
        <p:spPr>
          <a:xfrm>
            <a:off x="7039051"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48779"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04</a:t>
            </a:r>
          </a:p>
        </p:txBody>
      </p:sp>
      <p:sp>
        <p:nvSpPr>
          <p:cNvPr id="27" name="TextBox 26"/>
          <p:cNvSpPr txBox="1"/>
          <p:nvPr/>
        </p:nvSpPr>
        <p:spPr>
          <a:xfrm>
            <a:off x="7148779"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冷却・電源保護</a:t>
            </a:r>
          </a:p>
        </p:txBody>
      </p:sp>
      <p:sp>
        <p:nvSpPr>
          <p:cNvPr id="28" name="TextBox 27"/>
          <p:cNvSpPr txBox="1"/>
          <p:nvPr/>
        </p:nvSpPr>
        <p:spPr>
          <a:xfrm>
            <a:off x="7148779"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冷やす・止めない</a:t>
            </a:r>
          </a:p>
        </p:txBody>
      </p:sp>
      <p:sp>
        <p:nvSpPr>
          <p:cNvPr id="29" name="TextBox 28"/>
          <p:cNvSpPr txBox="1"/>
          <p:nvPr/>
        </p:nvSpPr>
        <p:spPr>
          <a:xfrm>
            <a:off x="7148779"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北米DC冷却 約13倍</a:t>
            </a:r>
          </a:p>
        </p:txBody>
      </p:sp>
      <p:sp>
        <p:nvSpPr>
          <p:cNvPr id="30" name="TextBox 29"/>
          <p:cNvSpPr txBox="1"/>
          <p:nvPr/>
        </p:nvSpPr>
        <p:spPr>
          <a:xfrm>
            <a:off x="7148779"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ダイキン・GSユアサ</a:t>
            </a:r>
          </a:p>
        </p:txBody>
      </p:sp>
      <p:sp>
        <p:nvSpPr>
          <p:cNvPr id="31" name="Rectangle 30"/>
          <p:cNvSpPr/>
          <p:nvPr/>
        </p:nvSpPr>
        <p:spPr>
          <a:xfrm>
            <a:off x="9147657" y="1828800"/>
            <a:ext cx="15240" cy="27432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7385" y="1828800"/>
            <a:ext cx="1852574" cy="201168"/>
          </a:xfrm>
          <a:prstGeom prst="rect">
            <a:avLst/>
          </a:prstGeom>
          <a:noFill/>
        </p:spPr>
        <p:txBody>
          <a:bodyPr wrap="square" anchor="t" lIns="0" rIns="0" tIns="0" bIns="0">
            <a:spAutoFit/>
          </a:bodyPr>
          <a:lstStyle/>
          <a:p>
            <a:pPr algn="l">
              <a:lnSpc>
                <a:spcPct val="110000"/>
              </a:lnSpc>
              <a:spcBef>
                <a:spcPts val="0"/>
              </a:spcBef>
              <a:spcAft>
                <a:spcPts val="400"/>
              </a:spcAft>
            </a:pPr>
            <a:r>
              <a:rPr sz="1000" b="1" spc="100">
                <a:solidFill>
                  <a:srgbClr val="9AA1A9"/>
                </a:solidFill>
                <a:latin typeface="Consolas"/>
                <a:ea typeface="Consolas"/>
              </a:rPr>
              <a:t>05</a:t>
            </a:r>
          </a:p>
        </p:txBody>
      </p:sp>
      <p:sp>
        <p:nvSpPr>
          <p:cNvPr id="33" name="TextBox 32"/>
          <p:cNvSpPr txBox="1"/>
          <p:nvPr/>
        </p:nvSpPr>
        <p:spPr>
          <a:xfrm>
            <a:off x="9257385" y="2084832"/>
            <a:ext cx="1889150" cy="457200"/>
          </a:xfrm>
          <a:prstGeom prst="rect">
            <a:avLst/>
          </a:prstGeom>
          <a:noFill/>
        </p:spPr>
        <p:txBody>
          <a:bodyPr wrap="square" anchor="t" lIns="0" rIns="0" tIns="0" bIns="0">
            <a:spAutoFit/>
          </a:bodyPr>
          <a:lstStyle/>
          <a:p>
            <a:pPr algn="l">
              <a:lnSpc>
                <a:spcPct val="105000"/>
              </a:lnSpc>
              <a:spcBef>
                <a:spcPts val="0"/>
              </a:spcBef>
              <a:spcAft>
                <a:spcPts val="400"/>
              </a:spcAft>
            </a:pPr>
            <a:r>
              <a:rPr sz="1400" b="1">
                <a:solidFill>
                  <a:srgbClr val="15181C"/>
                </a:solidFill>
                <a:latin typeface="Noto Sans JP"/>
                <a:ea typeface="Noto Sans JP"/>
              </a:rPr>
              <a:t>半導体</a:t>
            </a:r>
          </a:p>
        </p:txBody>
      </p:sp>
      <p:sp>
        <p:nvSpPr>
          <p:cNvPr id="34" name="TextBox 33"/>
          <p:cNvSpPr txBox="1"/>
          <p:nvPr/>
        </p:nvSpPr>
        <p:spPr>
          <a:xfrm>
            <a:off x="9257385" y="2578608"/>
            <a:ext cx="188915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6E767F"/>
                </a:solidFill>
                <a:latin typeface="Noto Sans JP"/>
                <a:ea typeface="Noto Sans JP"/>
              </a:rPr>
              <a:t>計算する頭脳</a:t>
            </a:r>
          </a:p>
        </p:txBody>
      </p:sp>
      <p:sp>
        <p:nvSpPr>
          <p:cNvPr id="35" name="TextBox 34"/>
          <p:cNvSpPr txBox="1"/>
          <p:nvPr/>
        </p:nvSpPr>
        <p:spPr>
          <a:xfrm>
            <a:off x="9257385" y="2999232"/>
            <a:ext cx="1834286" cy="713232"/>
          </a:xfrm>
          <a:prstGeom prst="rect">
            <a:avLst/>
          </a:prstGeom>
          <a:noFill/>
        </p:spPr>
        <p:txBody>
          <a:bodyPr wrap="square" anchor="t" lIns="0" rIns="0" tIns="0" bIns="0">
            <a:spAutoFit/>
          </a:bodyPr>
          <a:lstStyle/>
          <a:p>
            <a:pPr algn="l">
              <a:lnSpc>
                <a:spcPct val="110000"/>
              </a:lnSpc>
              <a:spcBef>
                <a:spcPts val="0"/>
              </a:spcBef>
              <a:spcAft>
                <a:spcPts val="400"/>
              </a:spcAft>
            </a:pPr>
            <a:r>
              <a:rPr sz="1600" b="1">
                <a:solidFill>
                  <a:srgbClr val="E60012"/>
                </a:solidFill>
                <a:latin typeface="Noto Sans JP"/>
                <a:ea typeface="Noto Sans JP"/>
              </a:rPr>
              <a:t>設備投資 +66%</a:t>
            </a:r>
          </a:p>
        </p:txBody>
      </p:sp>
      <p:sp>
        <p:nvSpPr>
          <p:cNvPr id="36" name="TextBox 35"/>
          <p:cNvSpPr txBox="1"/>
          <p:nvPr/>
        </p:nvSpPr>
        <p:spPr>
          <a:xfrm>
            <a:off x="9257385" y="3977639"/>
            <a:ext cx="1870862" cy="548640"/>
          </a:xfrm>
          <a:prstGeom prst="rect">
            <a:avLst/>
          </a:prstGeom>
          <a:noFill/>
        </p:spPr>
        <p:txBody>
          <a:bodyPr wrap="square" anchor="t" lIns="0" rIns="0" tIns="0" bIns="0">
            <a:spAutoFit/>
          </a:bodyPr>
          <a:lstStyle/>
          <a:p>
            <a:pPr algn="l">
              <a:lnSpc>
                <a:spcPct val="118000"/>
              </a:lnSpc>
              <a:spcBef>
                <a:spcPts val="0"/>
              </a:spcBef>
              <a:spcAft>
                <a:spcPts val="400"/>
              </a:spcAft>
            </a:pPr>
            <a:r>
              <a:rPr sz="1050" b="1">
                <a:solidFill>
                  <a:srgbClr val="373C43"/>
                </a:solidFill>
                <a:latin typeface="Noto Sans JP"/>
                <a:ea typeface="Noto Sans JP"/>
              </a:rPr>
              <a:t>キオクシア・東京ｴﾚｸﾄﾛﾝ</a:t>
            </a:r>
          </a:p>
        </p:txBody>
      </p:sp>
      <p:sp>
        <p:nvSpPr>
          <p:cNvPr id="37" name="Rectangle 36"/>
          <p:cNvSpPr/>
          <p:nvPr/>
        </p:nvSpPr>
        <p:spPr>
          <a:xfrm>
            <a:off x="822960" y="4754880"/>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956048"/>
            <a:ext cx="10607040" cy="457200"/>
          </a:xfrm>
          <a:prstGeom prst="rect">
            <a:avLst/>
          </a:prstGeom>
          <a:noFill/>
        </p:spPr>
        <p:txBody>
          <a:bodyPr wrap="square" anchor="t" lIns="0" rIns="0" tIns="0" bIns="0">
            <a:spAutoFit/>
          </a:bodyPr>
          <a:lstStyle/>
          <a:p>
            <a:pPr algn="l">
              <a:lnSpc>
                <a:spcPct val="110000"/>
              </a:lnSpc>
              <a:spcBef>
                <a:spcPts val="0"/>
              </a:spcBef>
              <a:spcAft>
                <a:spcPts val="400"/>
              </a:spcAft>
            </a:pPr>
            <a:r>
              <a:rPr sz="1200" b="1">
                <a:solidFill>
                  <a:srgbClr val="6E767F"/>
                </a:solidFill>
                <a:latin typeface="Consolas"/>
                <a:ea typeface="Consolas"/>
              </a:rPr>
              <a:t>我々の入り方：</a:t>
            </a:r>
            <a:r>
              <a:rPr sz="1300" b="1">
                <a:solidFill>
                  <a:srgbClr val="373C43"/>
                </a:solidFill>
                <a:latin typeface="Noto Sans JP"/>
                <a:ea typeface="Noto Sans JP"/>
              </a:rPr>
              <a:t>  A 発注者＝“建てる側”で管理</a:t>
            </a:r>
            <a:r>
              <a:rPr sz="1200" b="0">
                <a:solidFill>
                  <a:srgbClr val="9AA1A9"/>
                </a:solidFill>
                <a:latin typeface="Noto Sans JP"/>
                <a:ea typeface="Noto Sans JP"/>
              </a:rPr>
              <a:t>   /   </a:t>
            </a:r>
            <a:r>
              <a:rPr sz="1300" b="1">
                <a:solidFill>
                  <a:srgbClr val="E60012"/>
                </a:solidFill>
                <a:latin typeface="Noto Sans JP"/>
                <a:ea typeface="Noto Sans JP"/>
              </a:rPr>
              <a:t>B 請負＝据付・試運転・保守を“納める側”で管理（本命）</a:t>
            </a:r>
          </a:p>
        </p:txBody>
      </p:sp>
      <p:sp>
        <p:nvSpPr>
          <p:cNvPr id="39" name="Rectangle 38"/>
          <p:cNvSpPr/>
          <p:nvPr/>
        </p:nvSpPr>
        <p:spPr>
          <a:xfrm>
            <a:off x="822960" y="5669280"/>
            <a:ext cx="82296" cy="4572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78992" y="5623560"/>
            <a:ext cx="10268711" cy="548640"/>
          </a:xfrm>
          <a:prstGeom prst="rect">
            <a:avLst/>
          </a:prstGeom>
          <a:noFill/>
        </p:spPr>
        <p:txBody>
          <a:bodyPr wrap="square" anchor="ctr" lIns="0" rIns="0" tIns="0" bIns="0">
            <a:spAutoFit/>
          </a:bodyPr>
          <a:lstStyle/>
          <a:p>
            <a:pPr algn="l">
              <a:lnSpc>
                <a:spcPct val="116000"/>
              </a:lnSpc>
              <a:spcBef>
                <a:spcPts val="0"/>
              </a:spcBef>
              <a:spcAft>
                <a:spcPts val="400"/>
              </a:spcAft>
            </a:pPr>
            <a:r>
              <a:rPr sz="1700" b="1">
                <a:solidFill>
                  <a:srgbClr val="15181C"/>
                </a:solidFill>
                <a:latin typeface="Noto Sans JP"/>
                <a:ea typeface="Noto Sans JP"/>
              </a:rPr>
              <a:t>川上から川下まで、全段が同時に増収増益。</a:t>
            </a:r>
            <a:r>
              <a:rPr sz="1700" b="1">
                <a:solidFill>
                  <a:srgbClr val="E60012"/>
                </a:solidFill>
                <a:latin typeface="Noto Sans JP"/>
                <a:ea typeface="Noto Sans JP"/>
              </a:rPr>
              <a:t>狙える現場が、日本中に生まれている。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09728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0704" y="1024128"/>
            <a:ext cx="9601200" cy="274320"/>
          </a:xfrm>
          <a:prstGeom prst="rect">
            <a:avLst/>
          </a:prstGeom>
          <a:noFill/>
        </p:spPr>
        <p:txBody>
          <a:bodyPr wrap="square" anchor="t" lIns="0" rIns="0" tIns="0" bIns="0">
            <a:spAutoFit/>
          </a:bodyPr>
          <a:lstStyle/>
          <a:p>
            <a:pPr algn="l">
              <a:lnSpc>
                <a:spcPct val="110000"/>
              </a:lnSpc>
              <a:spcBef>
                <a:spcPts val="0"/>
              </a:spcBef>
              <a:spcAft>
                <a:spcPts val="400"/>
              </a:spcAft>
            </a:pPr>
            <a:r>
              <a:rPr sz="1300" b="1" spc="200">
                <a:solidFill>
                  <a:srgbClr val="E60012"/>
                </a:solidFill>
                <a:latin typeface="Consolas"/>
                <a:ea typeface="Consolas"/>
              </a:rPr>
              <a:t>SO, LET'S GO</a:t>
            </a:r>
          </a:p>
        </p:txBody>
      </p:sp>
      <p:sp>
        <p:nvSpPr>
          <p:cNvPr id="5" name="TextBox 4"/>
          <p:cNvSpPr txBox="1"/>
          <p:nvPr/>
        </p:nvSpPr>
        <p:spPr>
          <a:xfrm>
            <a:off x="786384" y="1627632"/>
            <a:ext cx="10789920" cy="1097280"/>
          </a:xfrm>
          <a:prstGeom prst="rect">
            <a:avLst/>
          </a:prstGeom>
          <a:noFill/>
        </p:spPr>
        <p:txBody>
          <a:bodyPr wrap="square" anchor="t" lIns="0" rIns="0" tIns="0" bIns="0">
            <a:spAutoFit/>
          </a:bodyPr>
          <a:lstStyle/>
          <a:p>
            <a:pPr algn="l">
              <a:lnSpc>
                <a:spcPct val="110000"/>
              </a:lnSpc>
              <a:spcBef>
                <a:spcPts val="0"/>
              </a:spcBef>
              <a:spcAft>
                <a:spcPts val="400"/>
              </a:spcAft>
            </a:pPr>
            <a:r>
              <a:rPr sz="4400" b="1">
                <a:solidFill>
                  <a:srgbClr val="15181C"/>
                </a:solidFill>
                <a:latin typeface="Noto Sans JP"/>
                <a:ea typeface="Noto Sans JP"/>
              </a:rPr>
              <a:t>次の主戦場は、</a:t>
            </a:r>
            <a:r>
              <a:rPr sz="4400" b="1">
                <a:solidFill>
                  <a:srgbClr val="E60012"/>
                </a:solidFill>
                <a:latin typeface="Noto Sans JP"/>
                <a:ea typeface="Noto Sans JP"/>
              </a:rPr>
              <a:t>製造業</a:t>
            </a:r>
            <a:r>
              <a:rPr sz="4400" b="1">
                <a:solidFill>
                  <a:srgbClr val="15181C"/>
                </a:solidFill>
                <a:latin typeface="Noto Sans JP"/>
                <a:ea typeface="Noto Sans JP"/>
              </a:rPr>
              <a:t>だ。</a:t>
            </a:r>
          </a:p>
        </p:txBody>
      </p:sp>
      <p:sp>
        <p:nvSpPr>
          <p:cNvPr id="6" name="Rectangle 5"/>
          <p:cNvSpPr/>
          <p:nvPr/>
        </p:nvSpPr>
        <p:spPr>
          <a:xfrm>
            <a:off x="822960" y="3063240"/>
            <a:ext cx="2926080"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548640" cy="59436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E60012"/>
                </a:solidFill>
                <a:latin typeface="Consolas"/>
                <a:ea typeface="Consolas"/>
              </a:rPr>
              <a:t>01</a:t>
            </a:r>
          </a:p>
        </p:txBody>
      </p:sp>
      <p:sp>
        <p:nvSpPr>
          <p:cNvPr id="8" name="TextBox 7"/>
          <p:cNvSpPr txBox="1"/>
          <p:nvPr/>
        </p:nvSpPr>
        <p:spPr>
          <a:xfrm>
            <a:off x="1508760" y="3575304"/>
            <a:ext cx="4114800" cy="54864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15181C"/>
                </a:solidFill>
                <a:latin typeface="Noto Sans JP"/>
                <a:ea typeface="Noto Sans JP"/>
              </a:rPr>
              <a:t>市場は建設の3倍広い</a:t>
            </a:r>
          </a:p>
        </p:txBody>
      </p:sp>
      <p:sp>
        <p:nvSpPr>
          <p:cNvPr id="9" name="TextBox 8"/>
          <p:cNvSpPr txBox="1"/>
          <p:nvPr/>
        </p:nvSpPr>
        <p:spPr>
          <a:xfrm>
            <a:off x="5760720" y="3575304"/>
            <a:ext cx="5669280" cy="566928"/>
          </a:xfrm>
          <a:prstGeom prst="rect">
            <a:avLst/>
          </a:prstGeom>
          <a:noFill/>
        </p:spPr>
        <p:txBody>
          <a:bodyPr wrap="square" anchor="ctr" lIns="0" rIns="0" tIns="0" bIns="0">
            <a:spAutoFit/>
          </a:bodyPr>
          <a:lstStyle/>
          <a:p>
            <a:pPr algn="l">
              <a:lnSpc>
                <a:spcPct val="116000"/>
              </a:lnSpc>
              <a:spcBef>
                <a:spcPts val="0"/>
              </a:spcBef>
              <a:spcAft>
                <a:spcPts val="400"/>
              </a:spcAft>
            </a:pPr>
            <a:r>
              <a:rPr sz="1150" b="0">
                <a:solidFill>
                  <a:srgbClr val="373C43"/>
                </a:solidFill>
                <a:latin typeface="Noto Sans JP"/>
                <a:ea typeface="Noto Sans JP"/>
              </a:rPr>
              <a:t>DC建設費の約3/4は電気・機械設備＝製造業。据付・試運転・保守まで現場が続く。</a:t>
            </a:r>
          </a:p>
        </p:txBody>
      </p:sp>
      <p:sp>
        <p:nvSpPr>
          <p:cNvPr id="10" name="Rectangle 9"/>
          <p:cNvSpPr/>
          <p:nvPr/>
        </p:nvSpPr>
        <p:spPr>
          <a:xfrm>
            <a:off x="822960" y="428853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361688"/>
            <a:ext cx="548640" cy="59436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E60012"/>
                </a:solidFill>
                <a:latin typeface="Consolas"/>
                <a:ea typeface="Consolas"/>
              </a:rPr>
              <a:t>02</a:t>
            </a:r>
          </a:p>
        </p:txBody>
      </p:sp>
      <p:sp>
        <p:nvSpPr>
          <p:cNvPr id="12" name="TextBox 11"/>
          <p:cNvSpPr txBox="1"/>
          <p:nvPr/>
        </p:nvSpPr>
        <p:spPr>
          <a:xfrm>
            <a:off x="1508760" y="4416552"/>
            <a:ext cx="4114800" cy="54864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15181C"/>
                </a:solidFill>
                <a:latin typeface="Noto Sans JP"/>
                <a:ea typeface="Noto Sans JP"/>
              </a:rPr>
              <a:t>追い風は本物</a:t>
            </a:r>
          </a:p>
        </p:txBody>
      </p:sp>
      <p:sp>
        <p:nvSpPr>
          <p:cNvPr id="13" name="TextBox 12"/>
          <p:cNvSpPr txBox="1"/>
          <p:nvPr/>
        </p:nvSpPr>
        <p:spPr>
          <a:xfrm>
            <a:off x="5760720" y="4416552"/>
            <a:ext cx="5669280" cy="566928"/>
          </a:xfrm>
          <a:prstGeom prst="rect">
            <a:avLst/>
          </a:prstGeom>
          <a:noFill/>
        </p:spPr>
        <p:txBody>
          <a:bodyPr wrap="square" anchor="ctr" lIns="0" rIns="0" tIns="0" bIns="0">
            <a:spAutoFit/>
          </a:bodyPr>
          <a:lstStyle/>
          <a:p>
            <a:pPr algn="l">
              <a:lnSpc>
                <a:spcPct val="116000"/>
              </a:lnSpc>
              <a:spcBef>
                <a:spcPts val="0"/>
              </a:spcBef>
              <a:spcAft>
                <a:spcPts val="400"/>
              </a:spcAft>
            </a:pPr>
            <a:r>
              <a:rPr sz="1150" b="0">
                <a:solidFill>
                  <a:srgbClr val="373C43"/>
                </a:solidFill>
                <a:latin typeface="Noto Sans JP"/>
                <a:ea typeface="Noto Sans JP"/>
              </a:rPr>
              <a:t>AIチップ需要は3年で約13倍、投資ピークは2027-28。受注残に裏打ちされた構造需要。</a:t>
            </a:r>
          </a:p>
        </p:txBody>
      </p:sp>
      <p:sp>
        <p:nvSpPr>
          <p:cNvPr id="14" name="Rectangle 13"/>
          <p:cNvSpPr/>
          <p:nvPr/>
        </p:nvSpPr>
        <p:spPr>
          <a:xfrm>
            <a:off x="822960" y="5129784"/>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202936"/>
            <a:ext cx="548640" cy="59436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E60012"/>
                </a:solidFill>
                <a:latin typeface="Consolas"/>
                <a:ea typeface="Consolas"/>
              </a:rPr>
              <a:t>03</a:t>
            </a:r>
          </a:p>
        </p:txBody>
      </p:sp>
      <p:sp>
        <p:nvSpPr>
          <p:cNvPr id="16" name="TextBox 15"/>
          <p:cNvSpPr txBox="1"/>
          <p:nvPr/>
        </p:nvSpPr>
        <p:spPr>
          <a:xfrm>
            <a:off x="1508760" y="5257800"/>
            <a:ext cx="4114800" cy="548640"/>
          </a:xfrm>
          <a:prstGeom prst="rect">
            <a:avLst/>
          </a:prstGeom>
          <a:noFill/>
        </p:spPr>
        <p:txBody>
          <a:bodyPr wrap="square" anchor="ctr" lIns="0" rIns="0" tIns="0" bIns="0">
            <a:spAutoFit/>
          </a:bodyPr>
          <a:lstStyle/>
          <a:p>
            <a:pPr algn="l">
              <a:lnSpc>
                <a:spcPct val="110000"/>
              </a:lnSpc>
              <a:spcBef>
                <a:spcPts val="0"/>
              </a:spcBef>
              <a:spcAft>
                <a:spcPts val="400"/>
              </a:spcAft>
            </a:pPr>
            <a:r>
              <a:rPr sz="1700" b="1">
                <a:solidFill>
                  <a:srgbClr val="15181C"/>
                </a:solidFill>
                <a:latin typeface="Noto Sans JP"/>
                <a:ea typeface="Noto Sans JP"/>
              </a:rPr>
              <a:t>武器は完成済み</a:t>
            </a:r>
          </a:p>
        </p:txBody>
      </p:sp>
      <p:sp>
        <p:nvSpPr>
          <p:cNvPr id="17" name="TextBox 16"/>
          <p:cNvSpPr txBox="1"/>
          <p:nvPr/>
        </p:nvSpPr>
        <p:spPr>
          <a:xfrm>
            <a:off x="5760720" y="5257800"/>
            <a:ext cx="5669280" cy="566928"/>
          </a:xfrm>
          <a:prstGeom prst="rect">
            <a:avLst/>
          </a:prstGeom>
          <a:noFill/>
        </p:spPr>
        <p:txBody>
          <a:bodyPr wrap="square" anchor="ctr" lIns="0" rIns="0" tIns="0" bIns="0">
            <a:spAutoFit/>
          </a:bodyPr>
          <a:lstStyle/>
          <a:p>
            <a:pPr algn="l">
              <a:lnSpc>
                <a:spcPct val="116000"/>
              </a:lnSpc>
              <a:spcBef>
                <a:spcPts val="0"/>
              </a:spcBef>
              <a:spcAft>
                <a:spcPts val="400"/>
              </a:spcAft>
            </a:pPr>
            <a:r>
              <a:rPr sz="1150" b="0">
                <a:solidFill>
                  <a:srgbClr val="373C43"/>
                </a:solidFill>
                <a:latin typeface="Noto Sans JP"/>
                <a:ea typeface="Noto Sans JP"/>
              </a:rPr>
              <a:t>建設で磨いた現場管理は、製造業の据付・保守フィールドに“そのまま効く”。</a:t>
            </a:r>
          </a:p>
        </p:txBody>
      </p:sp>
      <p:sp>
        <p:nvSpPr>
          <p:cNvPr id="18" name="Rectangle 17"/>
          <p:cNvSpPr/>
          <p:nvPr/>
        </p:nvSpPr>
        <p:spPr>
          <a:xfrm>
            <a:off x="822960" y="6144768"/>
            <a:ext cx="10543032"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6309360"/>
            <a:ext cx="10698480" cy="457200"/>
          </a:xfrm>
          <a:prstGeom prst="rect">
            <a:avLst/>
          </a:prstGeom>
          <a:noFill/>
        </p:spPr>
        <p:txBody>
          <a:bodyPr wrap="square" anchor="t" lIns="0" rIns="0" tIns="0" bIns="0">
            <a:spAutoFit/>
          </a:bodyPr>
          <a:lstStyle/>
          <a:p>
            <a:pPr algn="l">
              <a:lnSpc>
                <a:spcPct val="110000"/>
              </a:lnSpc>
              <a:spcBef>
                <a:spcPts val="0"/>
              </a:spcBef>
              <a:spcAft>
                <a:spcPts val="400"/>
              </a:spcAft>
            </a:pPr>
            <a:r>
              <a:rPr sz="2100" b="1">
                <a:solidFill>
                  <a:srgbClr val="15181C"/>
                </a:solidFill>
                <a:latin typeface="Noto Sans JP"/>
                <a:ea typeface="Noto Sans JP"/>
              </a:rPr>
              <a:t>建設の“周辺”に広がる巨大市場を、100人でつかみにいこう。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23444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0704" y="1161288"/>
            <a:ext cx="9144000" cy="274320"/>
          </a:xfrm>
          <a:prstGeom prst="rect">
            <a:avLst/>
          </a:prstGeom>
          <a:noFill/>
        </p:spPr>
        <p:txBody>
          <a:bodyPr wrap="square" anchor="t" lIns="0" rIns="0" tIns="0" bIns="0">
            <a:spAutoFit/>
          </a:bodyPr>
          <a:lstStyle/>
          <a:p>
            <a:pPr algn="l">
              <a:lnSpc>
                <a:spcPct val="110000"/>
              </a:lnSpc>
              <a:spcBef>
                <a:spcPts val="0"/>
              </a:spcBef>
              <a:spcAft>
                <a:spcPts val="400"/>
              </a:spcAft>
            </a:pPr>
            <a:r>
              <a:rPr sz="1300" b="1" spc="200">
                <a:solidFill>
                  <a:srgbClr val="E60012"/>
                </a:solidFill>
                <a:latin typeface="Consolas"/>
                <a:ea typeface="Consolas"/>
              </a:rPr>
              <a:t>APPENDIX</a:t>
            </a:r>
          </a:p>
        </p:txBody>
      </p:sp>
      <p:sp>
        <p:nvSpPr>
          <p:cNvPr id="5" name="TextBox 4"/>
          <p:cNvSpPr txBox="1"/>
          <p:nvPr/>
        </p:nvSpPr>
        <p:spPr>
          <a:xfrm>
            <a:off x="786384" y="1783080"/>
            <a:ext cx="10789920" cy="914400"/>
          </a:xfrm>
          <a:prstGeom prst="rect">
            <a:avLst/>
          </a:prstGeom>
          <a:noFill/>
        </p:spPr>
        <p:txBody>
          <a:bodyPr wrap="square" anchor="t" lIns="0" rIns="0" tIns="0" bIns="0">
            <a:spAutoFit/>
          </a:bodyPr>
          <a:lstStyle/>
          <a:p>
            <a:pPr algn="l">
              <a:lnSpc>
                <a:spcPct val="110000"/>
              </a:lnSpc>
              <a:spcBef>
                <a:spcPts val="0"/>
              </a:spcBef>
              <a:spcAft>
                <a:spcPts val="400"/>
              </a:spcAft>
            </a:pPr>
            <a:r>
              <a:rPr sz="3400" b="1">
                <a:solidFill>
                  <a:srgbClr val="15181C"/>
                </a:solidFill>
                <a:latin typeface="Noto Sans JP"/>
                <a:ea typeface="Noto Sans JP"/>
              </a:rPr>
              <a:t>バリューチェーン別 ・ </a:t>
            </a:r>
            <a:r>
              <a:rPr sz="3400" b="1">
                <a:solidFill>
                  <a:srgbClr val="E60012"/>
                </a:solidFill>
                <a:latin typeface="Noto Sans JP"/>
                <a:ea typeface="Noto Sans JP"/>
              </a:rPr>
              <a:t>国内キー企業一覧</a:t>
            </a:r>
          </a:p>
        </p:txBody>
      </p:sp>
      <p:sp>
        <p:nvSpPr>
          <p:cNvPr id="6" name="Rectangle 5"/>
          <p:cNvSpPr/>
          <p:nvPr/>
        </p:nvSpPr>
        <p:spPr>
          <a:xfrm>
            <a:off x="822960" y="2880360"/>
            <a:ext cx="2926080" cy="4572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154680"/>
            <a:ext cx="10698480" cy="457200"/>
          </a:xfrm>
          <a:prstGeom prst="rect">
            <a:avLst/>
          </a:prstGeom>
          <a:noFill/>
        </p:spPr>
        <p:txBody>
          <a:bodyPr wrap="square" anchor="t" lIns="0" rIns="0" tIns="0" bIns="0">
            <a:spAutoFit/>
          </a:bodyPr>
          <a:lstStyle/>
          <a:p>
            <a:pPr algn="l">
              <a:lnSpc>
                <a:spcPct val="110000"/>
              </a:lnSpc>
              <a:spcBef>
                <a:spcPts val="0"/>
              </a:spcBef>
              <a:spcAft>
                <a:spcPts val="400"/>
              </a:spcAft>
            </a:pPr>
            <a:r>
              <a:rPr sz="1500" b="0">
                <a:solidFill>
                  <a:srgbClr val="373C43"/>
                </a:solidFill>
                <a:latin typeface="Noto Sans JP"/>
                <a:ea typeface="Noto Sans JP"/>
              </a:rPr>
              <a:t>AI需要の拡大で増収増益が見込める国内企業 106 社を、17セグメント・バリューチェーン順に整理。</a:t>
            </a:r>
          </a:p>
        </p:txBody>
      </p:sp>
      <p:sp>
        <p:nvSpPr>
          <p:cNvPr id="8" name="TextBox 7"/>
          <p:cNvSpPr txBox="1"/>
          <p:nvPr/>
        </p:nvSpPr>
        <p:spPr>
          <a:xfrm>
            <a:off x="822960" y="3977639"/>
            <a:ext cx="4572000" cy="256032"/>
          </a:xfrm>
          <a:prstGeom prst="rect">
            <a:avLst/>
          </a:prstGeom>
          <a:noFill/>
        </p:spPr>
        <p:txBody>
          <a:bodyPr wrap="square" anchor="t" lIns="0" rIns="0" tIns="0" bIns="0">
            <a:spAutoFit/>
          </a:bodyPr>
          <a:lstStyle/>
          <a:p>
            <a:pPr algn="l">
              <a:lnSpc>
                <a:spcPct val="110000"/>
              </a:lnSpc>
              <a:spcBef>
                <a:spcPts val="0"/>
              </a:spcBef>
              <a:spcAft>
                <a:spcPts val="400"/>
              </a:spcAft>
            </a:pPr>
            <a:r>
              <a:rPr sz="1050" b="1" spc="100">
                <a:solidFill>
                  <a:srgbClr val="6E767F"/>
                </a:solidFill>
                <a:latin typeface="Consolas"/>
                <a:ea typeface="Consolas"/>
              </a:rPr>
              <a:t>確度 ― 各行の左端に色帯で表示</a:t>
            </a:r>
          </a:p>
        </p:txBody>
      </p:sp>
      <p:sp>
        <p:nvSpPr>
          <p:cNvPr id="9" name="Rectangle 8"/>
          <p:cNvSpPr/>
          <p:nvPr/>
        </p:nvSpPr>
        <p:spPr>
          <a:xfrm>
            <a:off x="822960" y="4389120"/>
            <a:ext cx="137160" cy="13716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361688"/>
            <a:ext cx="594360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15181C"/>
                </a:solidFill>
                <a:latin typeface="Noto Sans JP"/>
                <a:ea typeface="Noto Sans JP"/>
              </a:rPr>
              <a:t>高</a:t>
            </a:r>
            <a:r>
              <a:rPr sz="1100" b="0">
                <a:solidFill>
                  <a:srgbClr val="373C43"/>
                </a:solidFill>
                <a:latin typeface="Noto Sans JP"/>
                <a:ea typeface="Noto Sans JP"/>
              </a:rPr>
              <a:t>　受注・投資計画など一次情報が明確</a:t>
            </a:r>
          </a:p>
        </p:txBody>
      </p:sp>
      <p:sp>
        <p:nvSpPr>
          <p:cNvPr id="11" name="Rectangle 10"/>
          <p:cNvSpPr/>
          <p:nvPr/>
        </p:nvSpPr>
        <p:spPr>
          <a:xfrm>
            <a:off x="822960" y="4773168"/>
            <a:ext cx="137160" cy="13716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4745736"/>
            <a:ext cx="594360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15181C"/>
                </a:solidFill>
                <a:latin typeface="Noto Sans JP"/>
                <a:ea typeface="Noto Sans JP"/>
              </a:rPr>
              <a:t>中</a:t>
            </a:r>
            <a:r>
              <a:rPr sz="1100" b="0">
                <a:solidFill>
                  <a:srgbClr val="373C43"/>
                </a:solidFill>
                <a:latin typeface="Noto Sans JP"/>
                <a:ea typeface="Noto Sans JP"/>
              </a:rPr>
              <a:t>　一次情報＋報道等の二次情報</a:t>
            </a:r>
          </a:p>
        </p:txBody>
      </p:sp>
      <p:sp>
        <p:nvSpPr>
          <p:cNvPr id="13" name="Rectangle 12"/>
          <p:cNvSpPr/>
          <p:nvPr/>
        </p:nvSpPr>
        <p:spPr>
          <a:xfrm>
            <a:off x="822960" y="5157216"/>
            <a:ext cx="137160" cy="1371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5129783"/>
            <a:ext cx="594360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1">
                <a:solidFill>
                  <a:srgbClr val="15181C"/>
                </a:solidFill>
                <a:latin typeface="Noto Sans JP"/>
                <a:ea typeface="Noto Sans JP"/>
              </a:rPr>
              <a:t>低</a:t>
            </a:r>
            <a:r>
              <a:rPr sz="1100" b="0">
                <a:solidFill>
                  <a:srgbClr val="373C43"/>
                </a:solidFill>
                <a:latin typeface="Noto Sans JP"/>
                <a:ea typeface="Noto Sans JP"/>
              </a:rPr>
              <a:t>　二次情報が中心</a:t>
            </a:r>
          </a:p>
        </p:txBody>
      </p:sp>
      <p:sp>
        <p:nvSpPr>
          <p:cNvPr id="15" name="TextBox 14"/>
          <p:cNvSpPr txBox="1"/>
          <p:nvPr/>
        </p:nvSpPr>
        <p:spPr>
          <a:xfrm>
            <a:off x="6492240" y="3977639"/>
            <a:ext cx="4572000" cy="256032"/>
          </a:xfrm>
          <a:prstGeom prst="rect">
            <a:avLst/>
          </a:prstGeom>
          <a:noFill/>
        </p:spPr>
        <p:txBody>
          <a:bodyPr wrap="square" anchor="t" lIns="0" rIns="0" tIns="0" bIns="0">
            <a:spAutoFit/>
          </a:bodyPr>
          <a:lstStyle/>
          <a:p>
            <a:pPr algn="l">
              <a:lnSpc>
                <a:spcPct val="110000"/>
              </a:lnSpc>
              <a:spcBef>
                <a:spcPts val="0"/>
              </a:spcBef>
              <a:spcAft>
                <a:spcPts val="400"/>
              </a:spcAft>
            </a:pPr>
            <a:r>
              <a:rPr sz="1050" b="1" spc="100">
                <a:solidFill>
                  <a:srgbClr val="6E767F"/>
                </a:solidFill>
                <a:latin typeface="Consolas"/>
                <a:ea typeface="Consolas"/>
              </a:rPr>
              <a:t>社名の下の表記</a:t>
            </a:r>
          </a:p>
        </p:txBody>
      </p:sp>
      <p:sp>
        <p:nvSpPr>
          <p:cNvPr id="16" name="TextBox 15"/>
          <p:cNvSpPr txBox="1"/>
          <p:nvPr/>
        </p:nvSpPr>
        <p:spPr>
          <a:xfrm>
            <a:off x="6492240" y="4361688"/>
            <a:ext cx="137160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9AA1A9"/>
                </a:solidFill>
                <a:latin typeface="Consolas"/>
                <a:ea typeface="Consolas"/>
              </a:rPr>
              <a:t>6501 等</a:t>
            </a:r>
          </a:p>
        </p:txBody>
      </p:sp>
      <p:sp>
        <p:nvSpPr>
          <p:cNvPr id="17" name="TextBox 16"/>
          <p:cNvSpPr txBox="1"/>
          <p:nvPr/>
        </p:nvSpPr>
        <p:spPr>
          <a:xfrm>
            <a:off x="7955279" y="4361688"/>
            <a:ext cx="338328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0">
                <a:solidFill>
                  <a:srgbClr val="373C43"/>
                </a:solidFill>
                <a:latin typeface="Noto Sans JP"/>
                <a:ea typeface="Noto Sans JP"/>
              </a:rPr>
              <a:t>証券コード（上場）</a:t>
            </a:r>
          </a:p>
        </p:txBody>
      </p:sp>
      <p:sp>
        <p:nvSpPr>
          <p:cNvPr id="18" name="TextBox 17"/>
          <p:cNvSpPr txBox="1"/>
          <p:nvPr/>
        </p:nvSpPr>
        <p:spPr>
          <a:xfrm>
            <a:off x="6492240" y="4745736"/>
            <a:ext cx="1371600" cy="274320"/>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9AA1A9"/>
                </a:solidFill>
                <a:latin typeface="Consolas"/>
                <a:ea typeface="Consolas"/>
              </a:rPr>
              <a:t>非上場</a:t>
            </a:r>
          </a:p>
        </p:txBody>
      </p:sp>
      <p:sp>
        <p:nvSpPr>
          <p:cNvPr id="19" name="TextBox 18"/>
          <p:cNvSpPr txBox="1"/>
          <p:nvPr/>
        </p:nvSpPr>
        <p:spPr>
          <a:xfrm>
            <a:off x="7955279" y="4745736"/>
            <a:ext cx="3383280" cy="274320"/>
          </a:xfrm>
          <a:prstGeom prst="rect">
            <a:avLst/>
          </a:prstGeom>
          <a:noFill/>
        </p:spPr>
        <p:txBody>
          <a:bodyPr wrap="square" anchor="t" lIns="0" rIns="0" tIns="0" bIns="0">
            <a:spAutoFit/>
          </a:bodyPr>
          <a:lstStyle/>
          <a:p>
            <a:pPr algn="l">
              <a:lnSpc>
                <a:spcPct val="110000"/>
              </a:lnSpc>
              <a:spcBef>
                <a:spcPts val="0"/>
              </a:spcBef>
              <a:spcAft>
                <a:spcPts val="400"/>
              </a:spcAft>
            </a:pPr>
            <a:r>
              <a:rPr sz="1100" b="0">
                <a:solidFill>
                  <a:srgbClr val="373C43"/>
                </a:solidFill>
                <a:latin typeface="Noto Sans JP"/>
                <a:ea typeface="Noto Sans JP"/>
              </a:rPr>
              <a:t>未上場・子会社等</a:t>
            </a:r>
          </a:p>
        </p:txBody>
      </p:sp>
      <p:sp>
        <p:nvSpPr>
          <p:cNvPr id="20" name="Rectangle 19"/>
          <p:cNvSpPr/>
          <p:nvPr/>
        </p:nvSpPr>
        <p:spPr>
          <a:xfrm>
            <a:off x="822960" y="6126480"/>
            <a:ext cx="10543032" cy="27432"/>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6254496"/>
            <a:ext cx="10698480" cy="274320"/>
          </a:xfrm>
          <a:prstGeom prst="rect">
            <a:avLst/>
          </a:prstGeom>
          <a:noFill/>
        </p:spPr>
        <p:txBody>
          <a:bodyPr wrap="square" anchor="t" lIns="0" rIns="0" tIns="0" bIns="0">
            <a:spAutoFit/>
          </a:bodyPr>
          <a:lstStyle/>
          <a:p>
            <a:pPr algn="l">
              <a:lnSpc>
                <a:spcPct val="110000"/>
              </a:lnSpc>
              <a:spcBef>
                <a:spcPts val="0"/>
              </a:spcBef>
              <a:spcAft>
                <a:spcPts val="400"/>
              </a:spcAft>
            </a:pPr>
            <a:r>
              <a:rPr sz="950" b="0">
                <a:solidFill>
                  <a:srgbClr val="9AA1A9"/>
                </a:solidFill>
                <a:latin typeface="Consolas"/>
                <a:ea typeface="Consolas"/>
              </a:rPr>
              <a:t>出典：各社決算・IR等の一次情報＋公開データ。詳細は企業マスタ valuechain_master.xlsx ／ research/ を参照。</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01  </a:t>
            </a:r>
            <a:r>
              <a:rPr sz="1250" b="1">
                <a:solidFill>
                  <a:srgbClr val="15181C"/>
                </a:solidFill>
                <a:latin typeface="Noto Sans JP"/>
                <a:ea typeface="Noto Sans JP"/>
              </a:rPr>
              <a:t>特別高圧・大型変圧器</a:t>
            </a:r>
            <a:r>
              <a:rPr sz="900" b="1">
                <a:solidFill>
                  <a:srgbClr val="9AA1A9"/>
                </a:solidFill>
                <a:latin typeface="Consolas"/>
                <a:ea typeface="Consolas"/>
              </a:rPr>
              <a:t>　7社 ・ 優先度 高</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日立製作所</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6501</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データセンター・半導体工場向け送配電設備・変圧器の受注が世界的に急拡大し3年ぶり最高益を牽引。米国に大型電力用変圧器の新工場を建設。</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三菱電機</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6503</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データセンター・防衛関連の大口案件が牽引し5年連続最高益。特別高圧変圧器（赤穂）は受注が積み上がり生産予約が数年先まで埋まる。</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東芝エネルギーシステムズ</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送変電機器の増産投資を2度にわたり大幅拡大。データセンター新設による国内電力需要急増に対応し2030年度に生産能力を2倍以上へ。</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富士電機</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6504</a:t>
            </a:r>
          </a:p>
        </p:txBody>
      </p:sp>
      <p:sp>
        <p:nvSpPr>
          <p:cNvPr id="28" name="TextBox 27"/>
          <p:cNvSpPr txBox="1"/>
          <p:nvPr/>
        </p:nvSpPr>
        <p:spPr>
          <a:xfrm>
            <a:off x="3566160" y="3566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受変電機器の生産体制を再編し変圧器・開閉装置を増産。データセンター・半導体工場向け特高電力用変圧器の需要拡大が5年連続最高益の柱の一つ。</a:t>
            </a:r>
          </a:p>
        </p:txBody>
      </p:sp>
      <p:sp>
        <p:nvSpPr>
          <p:cNvPr id="29" name="Rectangle 28"/>
          <p:cNvSpPr/>
          <p:nvPr/>
        </p:nvSpPr>
        <p:spPr>
          <a:xfrm>
            <a:off x="822960" y="4169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23367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233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明電舎</a:t>
            </a:r>
          </a:p>
        </p:txBody>
      </p:sp>
      <p:sp>
        <p:nvSpPr>
          <p:cNvPr id="32" name="TextBox 31"/>
          <p:cNvSpPr txBox="1"/>
          <p:nvPr/>
        </p:nvSpPr>
        <p:spPr>
          <a:xfrm>
            <a:off x="1024128" y="4471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6508</a:t>
            </a:r>
          </a:p>
        </p:txBody>
      </p:sp>
      <p:sp>
        <p:nvSpPr>
          <p:cNvPr id="33" name="TextBox 32"/>
          <p:cNvSpPr txBox="1"/>
          <p:nvPr/>
        </p:nvSpPr>
        <p:spPr>
          <a:xfrm>
            <a:off x="3566160" y="4233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データセンター建設に伴う電力需要増・レベニューキャップ制度関連の系統増強を見据え、沼津事業所の変圧器工場に160億円投資し生産能力を約1.5倍に拡大。</a:t>
            </a:r>
          </a:p>
        </p:txBody>
      </p:sp>
      <p:sp>
        <p:nvSpPr>
          <p:cNvPr id="34" name="Rectangle 33"/>
          <p:cNvSpPr/>
          <p:nvPr/>
        </p:nvSpPr>
        <p:spPr>
          <a:xfrm>
            <a:off x="822960" y="4837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901184"/>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9011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ダイヘン</a:t>
            </a:r>
          </a:p>
        </p:txBody>
      </p:sp>
      <p:sp>
        <p:nvSpPr>
          <p:cNvPr id="37" name="TextBox 36"/>
          <p:cNvSpPr txBox="1"/>
          <p:nvPr/>
        </p:nvSpPr>
        <p:spPr>
          <a:xfrm>
            <a:off x="1024128" y="51389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6622</a:t>
            </a:r>
          </a:p>
        </p:txBody>
      </p:sp>
      <p:sp>
        <p:nvSpPr>
          <p:cNvPr id="38" name="TextBox 37"/>
          <p:cNvSpPr txBox="1"/>
          <p:nvPr/>
        </p:nvSpPr>
        <p:spPr>
          <a:xfrm>
            <a:off x="3566160" y="490118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データセンター建設ラッシュによる大形変圧器需要急増を受け三重事業所に新工場を建設し生産能力を2029年度までに2倍に増強。</a:t>
            </a:r>
          </a:p>
        </p:txBody>
      </p:sp>
      <p:sp>
        <p:nvSpPr>
          <p:cNvPr id="39" name="Rectangle 38"/>
          <p:cNvSpPr/>
          <p:nvPr/>
        </p:nvSpPr>
        <p:spPr>
          <a:xfrm>
            <a:off x="822960" y="53080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5372100"/>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537210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愛知電機</a:t>
            </a:r>
          </a:p>
        </p:txBody>
      </p:sp>
      <p:sp>
        <p:nvSpPr>
          <p:cNvPr id="42" name="TextBox 41"/>
          <p:cNvSpPr txBox="1"/>
          <p:nvPr/>
        </p:nvSpPr>
        <p:spPr>
          <a:xfrm>
            <a:off x="1024128" y="560984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6623</a:t>
            </a:r>
          </a:p>
        </p:txBody>
      </p:sp>
      <p:sp>
        <p:nvSpPr>
          <p:cNvPr id="43" name="TextBox 42"/>
          <p:cNvSpPr txBox="1"/>
          <p:nvPr/>
        </p:nvSpPr>
        <p:spPr>
          <a:xfrm>
            <a:off x="3566160" y="5372100"/>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柱上変圧器で国内大手（中部電力系）。生成AI向けパッケージ基板用コアが急伸し26/3期3Qは営業利益+23.0%・通期上方修正。変圧器も電力インフラ投資で堅調。</a:t>
            </a:r>
          </a:p>
        </p:txBody>
      </p:sp>
      <p:sp>
        <p:nvSpPr>
          <p:cNvPr id="44" name="Rectangle 43"/>
          <p:cNvSpPr/>
          <p:nvPr/>
        </p:nvSpPr>
        <p:spPr>
          <a:xfrm>
            <a:off x="822960" y="597560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2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02  </a:t>
            </a:r>
            <a:r>
              <a:rPr sz="1250" b="1">
                <a:solidFill>
                  <a:srgbClr val="15181C"/>
                </a:solidFill>
                <a:latin typeface="Noto Sans JP"/>
                <a:ea typeface="Noto Sans JP"/>
              </a:rPr>
              <a:t>発電機・タービン・非常用電源</a:t>
            </a:r>
            <a:r>
              <a:rPr sz="900" b="1">
                <a:solidFill>
                  <a:srgbClr val="9AA1A9"/>
                </a:solidFill>
                <a:latin typeface="Consolas"/>
                <a:ea typeface="Consolas"/>
              </a:rPr>
              <a:t>　9社 ・ 優先度 高</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三菱重工業</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7011</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北米を中心にGTCC（ガスタービンコンバインドサイクル）受注が急拡大し、大型ガスタービンの生産能力を倍増する投資を実施。</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34539"/>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034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川崎重工業</a:t>
            </a:r>
          </a:p>
        </p:txBody>
      </p:sp>
      <p:sp>
        <p:nvSpPr>
          <p:cNvPr id="17" name="TextBox 16"/>
          <p:cNvSpPr txBox="1"/>
          <p:nvPr/>
        </p:nvSpPr>
        <p:spPr>
          <a:xfrm>
            <a:off x="1024128" y="2272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7012</a:t>
            </a:r>
          </a:p>
        </p:txBody>
      </p:sp>
      <p:sp>
        <p:nvSpPr>
          <p:cNvPr id="18" name="TextBox 17"/>
          <p:cNvSpPr txBox="1"/>
          <p:nvPr/>
        </p:nvSpPr>
        <p:spPr>
          <a:xfrm>
            <a:off x="3566160" y="203453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エネルギーシステム事業（ガスタービン・ガスエンジン）が増収増益。非常用ガスタービン発電設備「カワサキPUシリーズ」は累計8000台超の納入実績を持つ主力製品。</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IHI</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7013</a:t>
            </a:r>
          </a:p>
        </p:txBody>
      </p:sp>
      <p:sp>
        <p:nvSpPr>
          <p:cNvPr id="23" name="TextBox 22"/>
          <p:cNvSpPr txBox="1"/>
          <p:nvPr/>
        </p:nvSpPr>
        <p:spPr>
          <a:xfrm>
            <a:off x="3566160" y="270205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子会社IHI原動機がAI向けデータセンター増設に伴う非常用発電装置の引き合い増加を受け、発電装置の高出力化を進めている。</a:t>
            </a:r>
          </a:p>
        </p:txBody>
      </p:sp>
      <p:sp>
        <p:nvSpPr>
          <p:cNvPr id="24" name="Rectangle 23"/>
          <p:cNvSpPr/>
          <p:nvPr/>
        </p:nvSpPr>
        <p:spPr>
          <a:xfrm>
            <a:off x="822960" y="31089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172968"/>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172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富士電機</a:t>
            </a:r>
          </a:p>
        </p:txBody>
      </p:sp>
      <p:sp>
        <p:nvSpPr>
          <p:cNvPr id="27" name="TextBox 26"/>
          <p:cNvSpPr txBox="1"/>
          <p:nvPr/>
        </p:nvSpPr>
        <p:spPr>
          <a:xfrm>
            <a:off x="1024128" y="3410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6504</a:t>
            </a:r>
          </a:p>
        </p:txBody>
      </p:sp>
      <p:sp>
        <p:nvSpPr>
          <p:cNvPr id="28" name="TextBox 27"/>
          <p:cNvSpPr txBox="1"/>
          <p:nvPr/>
        </p:nvSpPr>
        <p:spPr>
          <a:xfrm>
            <a:off x="3566160" y="317296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データセンター向け無停電電源装置（UPS）・施設電源システムの受注が急増し、5年連続で過去最高益を更新。生産拠点も増強中。</a:t>
            </a:r>
          </a:p>
        </p:txBody>
      </p:sp>
      <p:sp>
        <p:nvSpPr>
          <p:cNvPr id="29" name="Rectangle 28"/>
          <p:cNvSpPr/>
          <p:nvPr/>
        </p:nvSpPr>
        <p:spPr>
          <a:xfrm>
            <a:off x="822960" y="35798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643884"/>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64388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明電舎</a:t>
            </a:r>
          </a:p>
        </p:txBody>
      </p:sp>
      <p:sp>
        <p:nvSpPr>
          <p:cNvPr id="32" name="TextBox 31"/>
          <p:cNvSpPr txBox="1"/>
          <p:nvPr/>
        </p:nvSpPr>
        <p:spPr>
          <a:xfrm>
            <a:off x="1024128" y="388162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6508</a:t>
            </a:r>
          </a:p>
        </p:txBody>
      </p:sp>
      <p:sp>
        <p:nvSpPr>
          <p:cNvPr id="33" name="TextBox 32"/>
          <p:cNvSpPr txBox="1"/>
          <p:nvPr/>
        </p:nvSpPr>
        <p:spPr>
          <a:xfrm>
            <a:off x="3566160" y="364388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データセンター建設に伴う電力需要増・系統増強を見据え、変圧器工場の大規模増産投資を実施。中期経営計画で成長投資を明確化。</a:t>
            </a:r>
          </a:p>
        </p:txBody>
      </p:sp>
      <p:sp>
        <p:nvSpPr>
          <p:cNvPr id="34" name="Rectangle 33"/>
          <p:cNvSpPr/>
          <p:nvPr/>
        </p:nvSpPr>
        <p:spPr>
          <a:xfrm>
            <a:off x="822960" y="405079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114800"/>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11480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デンヨー</a:t>
            </a:r>
          </a:p>
        </p:txBody>
      </p:sp>
      <p:sp>
        <p:nvSpPr>
          <p:cNvPr id="37" name="TextBox 36"/>
          <p:cNvSpPr txBox="1"/>
          <p:nvPr/>
        </p:nvSpPr>
        <p:spPr>
          <a:xfrm>
            <a:off x="1024128" y="435254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6517</a:t>
            </a:r>
          </a:p>
        </p:txBody>
      </p:sp>
      <p:sp>
        <p:nvSpPr>
          <p:cNvPr id="38" name="TextBox 37"/>
          <p:cNvSpPr txBox="1"/>
          <p:nvPr/>
        </p:nvSpPr>
        <p:spPr>
          <a:xfrm>
            <a:off x="3566160" y="4114800"/>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非常用発電機の国内需要堅調、米国向け輸出も好調で増収増益。</a:t>
            </a:r>
          </a:p>
        </p:txBody>
      </p:sp>
      <p:sp>
        <p:nvSpPr>
          <p:cNvPr id="39" name="Rectangle 38"/>
          <p:cNvSpPr/>
          <p:nvPr/>
        </p:nvSpPr>
        <p:spPr>
          <a:xfrm>
            <a:off x="822960" y="452170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585716"/>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458571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ヤンマーホールディングス</a:t>
            </a:r>
          </a:p>
        </p:txBody>
      </p:sp>
      <p:sp>
        <p:nvSpPr>
          <p:cNvPr id="42" name="TextBox 41"/>
          <p:cNvSpPr txBox="1"/>
          <p:nvPr/>
        </p:nvSpPr>
        <p:spPr>
          <a:xfrm>
            <a:off x="1024128" y="482345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3" name="TextBox 42"/>
          <p:cNvSpPr txBox="1"/>
          <p:nvPr/>
        </p:nvSpPr>
        <p:spPr>
          <a:xfrm>
            <a:off x="3566160" y="458571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データセンター向け大容量非常用発電機「GY175シリーズ」を商品化、専用新工場を北九州市に建設し2028年稼働予定。</a:t>
            </a:r>
          </a:p>
        </p:txBody>
      </p:sp>
      <p:sp>
        <p:nvSpPr>
          <p:cNvPr id="44" name="Rectangle 43"/>
          <p:cNvSpPr/>
          <p:nvPr/>
        </p:nvSpPr>
        <p:spPr>
          <a:xfrm>
            <a:off x="822960" y="49926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5056631"/>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4128" y="505663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澤藤電機</a:t>
            </a:r>
          </a:p>
        </p:txBody>
      </p:sp>
      <p:sp>
        <p:nvSpPr>
          <p:cNvPr id="47" name="TextBox 46"/>
          <p:cNvSpPr txBox="1"/>
          <p:nvPr/>
        </p:nvSpPr>
        <p:spPr>
          <a:xfrm>
            <a:off x="1024128" y="529437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6901</a:t>
            </a:r>
          </a:p>
        </p:txBody>
      </p:sp>
      <p:sp>
        <p:nvSpPr>
          <p:cNvPr id="48" name="TextBox 47"/>
          <p:cNvSpPr txBox="1"/>
          <p:nvPr/>
        </p:nvSpPr>
        <p:spPr>
          <a:xfrm>
            <a:off x="3566160" y="505663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エンジン発電機・可搬型電源を手がける。データセンター建設現場・非常用/仮設電源の需要を取り込む。26/3期決算を公表。</a:t>
            </a:r>
          </a:p>
        </p:txBody>
      </p:sp>
      <p:sp>
        <p:nvSpPr>
          <p:cNvPr id="49" name="Rectangle 48"/>
          <p:cNvSpPr/>
          <p:nvPr/>
        </p:nvSpPr>
        <p:spPr>
          <a:xfrm>
            <a:off x="822960" y="546354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22960" y="5527547"/>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24128" y="55275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北越工業</a:t>
            </a:r>
          </a:p>
        </p:txBody>
      </p:sp>
      <p:sp>
        <p:nvSpPr>
          <p:cNvPr id="52" name="TextBox 51"/>
          <p:cNvSpPr txBox="1"/>
          <p:nvPr/>
        </p:nvSpPr>
        <p:spPr>
          <a:xfrm>
            <a:off x="1024128" y="57652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6364</a:t>
            </a:r>
          </a:p>
        </p:txBody>
      </p:sp>
      <p:sp>
        <p:nvSpPr>
          <p:cNvPr id="53" name="TextBox 52"/>
          <p:cNvSpPr txBox="1"/>
          <p:nvPr/>
        </p:nvSpPr>
        <p:spPr>
          <a:xfrm>
            <a:off x="3566160" y="552754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可搬型エンジン発電機・エンジンコンプレッサ（AIRMAN）大手。データセンター建設・非常用電源向けの需要が追い風。</a:t>
            </a:r>
          </a:p>
        </p:txBody>
      </p:sp>
      <p:sp>
        <p:nvSpPr>
          <p:cNvPr id="54" name="Rectangle 53"/>
          <p:cNvSpPr/>
          <p:nvPr/>
        </p:nvSpPr>
        <p:spPr>
          <a:xfrm>
            <a:off x="822960" y="5934455"/>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3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03  </a:t>
            </a:r>
            <a:r>
              <a:rPr sz="1250" b="1">
                <a:solidFill>
                  <a:srgbClr val="15181C"/>
                </a:solidFill>
                <a:latin typeface="Noto Sans JP"/>
                <a:ea typeface="Noto Sans JP"/>
              </a:rPr>
              <a:t>送配電（開閉装置・遮断器）</a:t>
            </a:r>
            <a:r>
              <a:rPr sz="900" b="1">
                <a:solidFill>
                  <a:srgbClr val="9AA1A9"/>
                </a:solidFill>
                <a:latin typeface="Consolas"/>
                <a:ea typeface="Consolas"/>
              </a:rPr>
              <a:t>　6社 ・ 優先度 高</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日立製作所</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6501</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パワーグリッド事業（送配電機器・変電システム）の受注残が過去最高水準に拡大し、SF6ガスフリーGISなど環境対応製品でも世界初案件を受注。</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三菱電機</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6503</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データセンター向け受配電機器（C-GIS・開閉器）の受注増に対応し、国内外で生産能力を倍増する新工場を相次いで建設。</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東芝</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3" name="TextBox 22"/>
          <p:cNvSpPr txBox="1"/>
          <p:nvPr/>
        </p:nvSpPr>
        <p:spPr>
          <a:xfrm>
            <a:off x="3566160" y="2702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データセンター新設・電力設備更新需要を受け、送変電機器（GIS・遮断器）事業に2027年度までに総額約550億円の増産投資を実施。</a:t>
            </a:r>
          </a:p>
        </p:txBody>
      </p:sp>
      <p:sp>
        <p:nvSpPr>
          <p:cNvPr id="24" name="Rectangle 23"/>
          <p:cNvSpPr/>
          <p:nvPr/>
        </p:nvSpPr>
        <p:spPr>
          <a:xfrm>
            <a:off x="822960" y="3305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369563"/>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36956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日新電機</a:t>
            </a:r>
          </a:p>
        </p:txBody>
      </p:sp>
      <p:sp>
        <p:nvSpPr>
          <p:cNvPr id="27" name="TextBox 26"/>
          <p:cNvSpPr txBox="1"/>
          <p:nvPr/>
        </p:nvSpPr>
        <p:spPr>
          <a:xfrm>
            <a:off x="1024128" y="360730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8" name="TextBox 27"/>
          <p:cNvSpPr txBox="1"/>
          <p:nvPr/>
        </p:nvSpPr>
        <p:spPr>
          <a:xfrm>
            <a:off x="3566160" y="3369563"/>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レベニューキャップ制度導入や半導体工場・風力発電向け民需拡大でGIS需要が急増し、国内にGIS第二工場を新設。</a:t>
            </a:r>
          </a:p>
        </p:txBody>
      </p:sp>
      <p:sp>
        <p:nvSpPr>
          <p:cNvPr id="29" name="Rectangle 28"/>
          <p:cNvSpPr/>
          <p:nvPr/>
        </p:nvSpPr>
        <p:spPr>
          <a:xfrm>
            <a:off x="822960" y="37764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84047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84047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東光高岳</a:t>
            </a:r>
          </a:p>
        </p:txBody>
      </p:sp>
      <p:sp>
        <p:nvSpPr>
          <p:cNvPr id="32" name="TextBox 31"/>
          <p:cNvSpPr txBox="1"/>
          <p:nvPr/>
        </p:nvSpPr>
        <p:spPr>
          <a:xfrm>
            <a:off x="1024128" y="407822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6617</a:t>
            </a:r>
          </a:p>
        </p:txBody>
      </p:sp>
      <p:sp>
        <p:nvSpPr>
          <p:cNvPr id="33" name="TextBox 32"/>
          <p:cNvSpPr txBox="1"/>
          <p:nvPr/>
        </p:nvSpPr>
        <p:spPr>
          <a:xfrm>
            <a:off x="3566160" y="384047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特別高圧受変電機器（変圧器・開閉装置）がデータセンター向けで好調。26/3期は営業利益97.6億円と統合以降で過去最高。小山事業所の生産能力を約1.5倍へ（新工場2030年代初頭）。</a:t>
            </a:r>
          </a:p>
        </p:txBody>
      </p:sp>
      <p:sp>
        <p:nvSpPr>
          <p:cNvPr id="34" name="Rectangle 33"/>
          <p:cNvSpPr/>
          <p:nvPr/>
        </p:nvSpPr>
        <p:spPr>
          <a:xfrm>
            <a:off x="822960" y="4443983"/>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507991"/>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50799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戸上電機製作所</a:t>
            </a:r>
          </a:p>
        </p:txBody>
      </p:sp>
      <p:sp>
        <p:nvSpPr>
          <p:cNvPr id="37" name="TextBox 36"/>
          <p:cNvSpPr txBox="1"/>
          <p:nvPr/>
        </p:nvSpPr>
        <p:spPr>
          <a:xfrm>
            <a:off x="1024128" y="474573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6643</a:t>
            </a:r>
          </a:p>
        </p:txBody>
      </p:sp>
      <p:sp>
        <p:nvSpPr>
          <p:cNvPr id="38" name="TextBox 37"/>
          <p:cNvSpPr txBox="1"/>
          <p:nvPr/>
        </p:nvSpPr>
        <p:spPr>
          <a:xfrm>
            <a:off x="3566160" y="450799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産業用配電機器が好調で26/3期は増収増益（売上307億円+11.2%・営業益+11.2%）。データセンター・工場向け受変電/配電設備の需要を取り込む。</a:t>
            </a:r>
          </a:p>
        </p:txBody>
      </p:sp>
      <p:sp>
        <p:nvSpPr>
          <p:cNvPr id="39" name="Rectangle 38"/>
          <p:cNvSpPr/>
          <p:nvPr/>
        </p:nvSpPr>
        <p:spPr>
          <a:xfrm>
            <a:off x="822960" y="51114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5239512"/>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8992" y="5175503"/>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04  </a:t>
            </a:r>
            <a:r>
              <a:rPr sz="1250" b="1">
                <a:solidFill>
                  <a:srgbClr val="15181C"/>
                </a:solidFill>
                <a:latin typeface="Noto Sans JP"/>
                <a:ea typeface="Noto Sans JP"/>
              </a:rPr>
              <a:t>DC建設ゼネコン</a:t>
            </a:r>
            <a:r>
              <a:rPr sz="900" b="1">
                <a:solidFill>
                  <a:srgbClr val="9AA1A9"/>
                </a:solidFill>
                <a:latin typeface="Consolas"/>
                <a:ea typeface="Consolas"/>
              </a:rPr>
              <a:t>　7社 ・ 優先度 高</a:t>
            </a:r>
          </a:p>
        </p:txBody>
      </p:sp>
      <p:sp>
        <p:nvSpPr>
          <p:cNvPr id="42" name="Rectangle 41"/>
          <p:cNvSpPr/>
          <p:nvPr/>
        </p:nvSpPr>
        <p:spPr>
          <a:xfrm>
            <a:off x="822960" y="556869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650991"/>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65099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鹿島建設</a:t>
            </a:r>
          </a:p>
        </p:txBody>
      </p:sp>
      <p:sp>
        <p:nvSpPr>
          <p:cNvPr id="45" name="TextBox 44"/>
          <p:cNvSpPr txBox="1"/>
          <p:nvPr/>
        </p:nvSpPr>
        <p:spPr>
          <a:xfrm>
            <a:off x="1024128" y="588873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1812</a:t>
            </a:r>
          </a:p>
        </p:txBody>
      </p:sp>
      <p:sp>
        <p:nvSpPr>
          <p:cNvPr id="46" name="TextBox 45"/>
          <p:cNvSpPr txBox="1"/>
          <p:nvPr/>
        </p:nvSpPr>
        <p:spPr>
          <a:xfrm>
            <a:off x="3566160" y="565099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建築事業でデータセンター等大型工事の施工量増加により売上・利益が急拡大し建設業として初の単体売上高3兆円を突破。</a:t>
            </a:r>
          </a:p>
        </p:txBody>
      </p:sp>
      <p:sp>
        <p:nvSpPr>
          <p:cNvPr id="47" name="Rectangle 46"/>
          <p:cNvSpPr/>
          <p:nvPr/>
        </p:nvSpPr>
        <p:spPr>
          <a:xfrm>
            <a:off x="822960" y="605789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6121907"/>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6121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大成建設</a:t>
            </a:r>
          </a:p>
        </p:txBody>
      </p:sp>
      <p:sp>
        <p:nvSpPr>
          <p:cNvPr id="50" name="TextBox 49"/>
          <p:cNvSpPr txBox="1"/>
          <p:nvPr/>
        </p:nvSpPr>
        <p:spPr>
          <a:xfrm>
            <a:off x="1024128" y="6359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1801</a:t>
            </a:r>
          </a:p>
        </p:txBody>
      </p:sp>
      <p:sp>
        <p:nvSpPr>
          <p:cNvPr id="51" name="TextBox 50"/>
          <p:cNvSpPr txBox="1"/>
          <p:nvPr/>
        </p:nvSpPr>
        <p:spPr>
          <a:xfrm>
            <a:off x="3566160" y="612190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中期経営計画（2024-2026）で新たな注力分野としてデータセンターを明記し運営ノウハウの商品企画反映を推進。</a:t>
            </a:r>
          </a:p>
        </p:txBody>
      </p:sp>
      <p:sp>
        <p:nvSpPr>
          <p:cNvPr id="52" name="Rectangle 51"/>
          <p:cNvSpPr/>
          <p:nvPr/>
        </p:nvSpPr>
        <p:spPr>
          <a:xfrm>
            <a:off x="822960" y="6528815"/>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4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04  </a:t>
            </a:r>
            <a:r>
              <a:rPr sz="1250" b="1">
                <a:solidFill>
                  <a:srgbClr val="373C43"/>
                </a:solidFill>
                <a:latin typeface="Noto Sans JP"/>
                <a:ea typeface="Noto Sans JP"/>
              </a:rPr>
              <a:t>DC建設ゼネコン</a:t>
            </a:r>
            <a:r>
              <a:rPr sz="900" b="1">
                <a:solidFill>
                  <a:srgbClr val="9AA1A9"/>
                </a:solidFill>
                <a:latin typeface="Consolas"/>
                <a:ea typeface="Consolas"/>
              </a:rPr>
              <a:t>　7社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清水建設</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1803</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データセンターを建築事業の主要需要分野と位置づけつつ適正工期・適正価格での選別受注方針を強化。</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34539"/>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034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大林組</a:t>
            </a:r>
          </a:p>
        </p:txBody>
      </p:sp>
      <p:sp>
        <p:nvSpPr>
          <p:cNvPr id="17" name="TextBox 16"/>
          <p:cNvSpPr txBox="1"/>
          <p:nvPr/>
        </p:nvSpPr>
        <p:spPr>
          <a:xfrm>
            <a:off x="1024128" y="2272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1802</a:t>
            </a:r>
          </a:p>
        </p:txBody>
      </p:sp>
      <p:sp>
        <p:nvSpPr>
          <p:cNvPr id="18" name="TextBox 17"/>
          <p:cNvSpPr txBox="1"/>
          <p:nvPr/>
        </p:nvSpPr>
        <p:spPr>
          <a:xfrm>
            <a:off x="3566160" y="203453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米データセンター・半導体工場専門建設会社GCON社を買収し北米でのデータセンター受注拡大を狙う。</a:t>
            </a:r>
          </a:p>
        </p:txBody>
      </p:sp>
      <p:sp>
        <p:nvSpPr>
          <p:cNvPr id="19" name="Rectangle 18"/>
          <p:cNvSpPr/>
          <p:nvPr/>
        </p:nvSpPr>
        <p:spPr>
          <a:xfrm>
            <a:off x="822960" y="24414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505456"/>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50545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竹中工務店</a:t>
            </a:r>
          </a:p>
        </p:txBody>
      </p:sp>
      <p:sp>
        <p:nvSpPr>
          <p:cNvPr id="22" name="TextBox 21"/>
          <p:cNvSpPr txBox="1"/>
          <p:nvPr/>
        </p:nvSpPr>
        <p:spPr>
          <a:xfrm>
            <a:off x="1024128" y="274320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3" name="TextBox 22"/>
          <p:cNvSpPr txBox="1"/>
          <p:nvPr/>
        </p:nvSpPr>
        <p:spPr>
          <a:xfrm>
            <a:off x="3566160" y="250545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業界初のデータセンター特化型設計支援ツールを自社開発しAI普及に伴う建設需要への提案スピードを強化。</a:t>
            </a:r>
          </a:p>
        </p:txBody>
      </p:sp>
      <p:sp>
        <p:nvSpPr>
          <p:cNvPr id="24" name="Rectangle 23"/>
          <p:cNvSpPr/>
          <p:nvPr/>
        </p:nvSpPr>
        <p:spPr>
          <a:xfrm>
            <a:off x="822960" y="29123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2976372"/>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29763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戸田建設</a:t>
            </a:r>
          </a:p>
        </p:txBody>
      </p:sp>
      <p:sp>
        <p:nvSpPr>
          <p:cNvPr id="27" name="TextBox 26"/>
          <p:cNvSpPr txBox="1"/>
          <p:nvPr/>
        </p:nvSpPr>
        <p:spPr>
          <a:xfrm>
            <a:off x="1024128" y="32141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1860</a:t>
            </a:r>
          </a:p>
        </p:txBody>
      </p:sp>
      <p:sp>
        <p:nvSpPr>
          <p:cNvPr id="28" name="TextBox 27"/>
          <p:cNvSpPr txBox="1"/>
          <p:nvPr/>
        </p:nvSpPr>
        <p:spPr>
          <a:xfrm>
            <a:off x="3566160" y="297637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関西けいはんな地区の大型データセンターキャンパス「KIX01A」（総電力容量80MW）の新築工事を受注。</a:t>
            </a:r>
          </a:p>
        </p:txBody>
      </p:sp>
      <p:sp>
        <p:nvSpPr>
          <p:cNvPr id="29" name="Rectangle 28"/>
          <p:cNvSpPr/>
          <p:nvPr/>
        </p:nvSpPr>
        <p:spPr>
          <a:xfrm>
            <a:off x="822960" y="338328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447288"/>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44728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西松建設</a:t>
            </a:r>
          </a:p>
        </p:txBody>
      </p:sp>
      <p:sp>
        <p:nvSpPr>
          <p:cNvPr id="32" name="TextBox 31"/>
          <p:cNvSpPr txBox="1"/>
          <p:nvPr/>
        </p:nvSpPr>
        <p:spPr>
          <a:xfrm>
            <a:off x="1024128" y="368503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1820</a:t>
            </a:r>
          </a:p>
        </p:txBody>
      </p:sp>
      <p:sp>
        <p:nvSpPr>
          <p:cNvPr id="33" name="TextBox 32"/>
          <p:cNvSpPr txBox="1"/>
          <p:nvPr/>
        </p:nvSpPr>
        <p:spPr>
          <a:xfrm>
            <a:off x="3566160" y="344728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中期経営計画2025でデータセンターを注力分野に明記し国内建築事業の高収益体質への転換を推進。</a:t>
            </a:r>
          </a:p>
        </p:txBody>
      </p:sp>
      <p:sp>
        <p:nvSpPr>
          <p:cNvPr id="34" name="Rectangle 33"/>
          <p:cNvSpPr/>
          <p:nvPr/>
        </p:nvSpPr>
        <p:spPr>
          <a:xfrm>
            <a:off x="822960" y="38541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3982212"/>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 y="3918204"/>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05  </a:t>
            </a:r>
            <a:r>
              <a:rPr sz="1250" b="1">
                <a:solidFill>
                  <a:srgbClr val="15181C"/>
                </a:solidFill>
                <a:latin typeface="Noto Sans JP"/>
                <a:ea typeface="Noto Sans JP"/>
              </a:rPr>
              <a:t>DC電気・空調サブコン</a:t>
            </a:r>
            <a:r>
              <a:rPr sz="900" b="1">
                <a:solidFill>
                  <a:srgbClr val="9AA1A9"/>
                </a:solidFill>
                <a:latin typeface="Consolas"/>
                <a:ea typeface="Consolas"/>
              </a:rPr>
              <a:t>　10社 ・ 優先度 高</a:t>
            </a:r>
          </a:p>
        </p:txBody>
      </p:sp>
      <p:sp>
        <p:nvSpPr>
          <p:cNvPr id="37" name="Rectangle 36"/>
          <p:cNvSpPr/>
          <p:nvPr/>
        </p:nvSpPr>
        <p:spPr>
          <a:xfrm>
            <a:off x="822960" y="431139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439369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439369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きんでん</a:t>
            </a:r>
          </a:p>
        </p:txBody>
      </p:sp>
      <p:sp>
        <p:nvSpPr>
          <p:cNvPr id="40" name="TextBox 39"/>
          <p:cNvSpPr txBox="1"/>
          <p:nvPr/>
        </p:nvSpPr>
        <p:spPr>
          <a:xfrm>
            <a:off x="1024128" y="463143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1944</a:t>
            </a:r>
          </a:p>
        </p:txBody>
      </p:sp>
      <p:sp>
        <p:nvSpPr>
          <p:cNvPr id="41" name="TextBox 40"/>
          <p:cNvSpPr txBox="1"/>
          <p:nvPr/>
        </p:nvSpPr>
        <p:spPr>
          <a:xfrm>
            <a:off x="3566160" y="439369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データセンター・物流施設向け一般電気工事の受注が急拡大し、一般電気工事部門の受注高が前年同期比21.0%増の3194億円に達した。</a:t>
            </a:r>
          </a:p>
        </p:txBody>
      </p:sp>
      <p:sp>
        <p:nvSpPr>
          <p:cNvPr id="42" name="Rectangle 41"/>
          <p:cNvSpPr/>
          <p:nvPr/>
        </p:nvSpPr>
        <p:spPr>
          <a:xfrm>
            <a:off x="822960" y="499719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06120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06120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クラフティア</a:t>
            </a:r>
          </a:p>
        </p:txBody>
      </p:sp>
      <p:sp>
        <p:nvSpPr>
          <p:cNvPr id="45" name="TextBox 44"/>
          <p:cNvSpPr txBox="1"/>
          <p:nvPr/>
        </p:nvSpPr>
        <p:spPr>
          <a:xfrm>
            <a:off x="1024128" y="529894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1959</a:t>
            </a:r>
          </a:p>
        </p:txBody>
      </p:sp>
      <p:sp>
        <p:nvSpPr>
          <p:cNvPr id="46" name="TextBox 45"/>
          <p:cNvSpPr txBox="1"/>
          <p:nvPr/>
        </p:nvSpPr>
        <p:spPr>
          <a:xfrm>
            <a:off x="3566160" y="506120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首都圏再開発・関西統合型リゾートと並びデータセンター関連工事を中心に受注活動を強化し、中間期受注高が前年同期比20.8%増の2752億円に拡大。</a:t>
            </a:r>
          </a:p>
        </p:txBody>
      </p:sp>
      <p:sp>
        <p:nvSpPr>
          <p:cNvPr id="47" name="Rectangle 46"/>
          <p:cNvSpPr/>
          <p:nvPr/>
        </p:nvSpPr>
        <p:spPr>
          <a:xfrm>
            <a:off x="822960" y="566470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5728716"/>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572871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関電工</a:t>
            </a:r>
          </a:p>
        </p:txBody>
      </p:sp>
      <p:sp>
        <p:nvSpPr>
          <p:cNvPr id="50" name="TextBox 49"/>
          <p:cNvSpPr txBox="1"/>
          <p:nvPr/>
        </p:nvSpPr>
        <p:spPr>
          <a:xfrm>
            <a:off x="1024128" y="596646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1942</a:t>
            </a:r>
          </a:p>
        </p:txBody>
      </p:sp>
      <p:sp>
        <p:nvSpPr>
          <p:cNvPr id="51" name="TextBox 50"/>
          <p:cNvSpPr txBox="1"/>
          <p:nvPr/>
        </p:nvSpPr>
        <p:spPr>
          <a:xfrm>
            <a:off x="3566160" y="572871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データセンター・半導体工場向け電気設備工事とビル再開発案件の受注拡大により、2026年3月期は連続最高益を更新する見通し。</a:t>
            </a:r>
          </a:p>
        </p:txBody>
      </p:sp>
      <p:sp>
        <p:nvSpPr>
          <p:cNvPr id="52" name="Rectangle 51"/>
          <p:cNvSpPr/>
          <p:nvPr/>
        </p:nvSpPr>
        <p:spPr>
          <a:xfrm>
            <a:off x="822960" y="61356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5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05  </a:t>
            </a:r>
            <a:r>
              <a:rPr sz="1250" b="1">
                <a:solidFill>
                  <a:srgbClr val="373C43"/>
                </a:solidFill>
                <a:latin typeface="Noto Sans JP"/>
                <a:ea typeface="Noto Sans JP"/>
              </a:rPr>
              <a:t>DC電気・空調サブコン</a:t>
            </a:r>
            <a:r>
              <a:rPr sz="900" b="1">
                <a:solidFill>
                  <a:srgbClr val="9AA1A9"/>
                </a:solidFill>
                <a:latin typeface="Consolas"/>
                <a:ea typeface="Consolas"/>
              </a:rPr>
              <a:t>　10社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ダイダン</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1980</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データセンター新設に伴う大型空調工事案件の急増により受注工事高が前年同期比25.5%増の3531億円に拡大。</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3453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034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高砂熱学工業</a:t>
            </a:r>
          </a:p>
        </p:txBody>
      </p:sp>
      <p:sp>
        <p:nvSpPr>
          <p:cNvPr id="17" name="TextBox 16"/>
          <p:cNvSpPr txBox="1"/>
          <p:nvPr/>
        </p:nvSpPr>
        <p:spPr>
          <a:xfrm>
            <a:off x="1024128" y="2272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1969</a:t>
            </a:r>
          </a:p>
        </p:txBody>
      </p:sp>
      <p:sp>
        <p:nvSpPr>
          <p:cNvPr id="18" name="TextBox 17"/>
          <p:cNvSpPr txBox="1"/>
          <p:nvPr/>
        </p:nvSpPr>
        <p:spPr>
          <a:xfrm>
            <a:off x="3566160" y="203453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AI・半導体・データセンター特需を独占的に取り込み、Rapidus千歳IIM採用など先端顧客との直接取引拡大により4期連続で過去最高益を更新。</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新日本空調</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1952</a:t>
            </a:r>
          </a:p>
        </p:txBody>
      </p:sp>
      <p:sp>
        <p:nvSpPr>
          <p:cNvPr id="23" name="TextBox 22"/>
          <p:cNvSpPr txBox="1"/>
          <p:nvPr/>
        </p:nvSpPr>
        <p:spPr>
          <a:xfrm>
            <a:off x="3566160" y="2702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半導体クリーンルーム・データセンター向けを含む「産業」セグメントの完成工事高が全体の57%超を占め、受注高・繰越高とも過去最高を更新。</a:t>
            </a:r>
          </a:p>
        </p:txBody>
      </p:sp>
      <p:sp>
        <p:nvSpPr>
          <p:cNvPr id="24" name="Rectangle 23"/>
          <p:cNvSpPr/>
          <p:nvPr/>
        </p:nvSpPr>
        <p:spPr>
          <a:xfrm>
            <a:off x="822960" y="3305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369563"/>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36956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三機工業</a:t>
            </a:r>
          </a:p>
        </p:txBody>
      </p:sp>
      <p:sp>
        <p:nvSpPr>
          <p:cNvPr id="27" name="TextBox 26"/>
          <p:cNvSpPr txBox="1"/>
          <p:nvPr/>
        </p:nvSpPr>
        <p:spPr>
          <a:xfrm>
            <a:off x="1024128" y="360730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1961</a:t>
            </a:r>
          </a:p>
        </p:txBody>
      </p:sp>
      <p:sp>
        <p:nvSpPr>
          <p:cNvPr id="28" name="TextBox 27"/>
          <p:cNvSpPr txBox="1"/>
          <p:nvPr/>
        </p:nvSpPr>
        <p:spPr>
          <a:xfrm>
            <a:off x="3566160" y="3369563"/>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データセンター向け大容量空調システム「L-LAC」等の技術優位性を背景に大型案件受注が続き、営業利益が1983年の連結決算開始以降で過去最高を更新。</a:t>
            </a:r>
          </a:p>
        </p:txBody>
      </p:sp>
      <p:sp>
        <p:nvSpPr>
          <p:cNvPr id="29" name="Rectangle 28"/>
          <p:cNvSpPr/>
          <p:nvPr/>
        </p:nvSpPr>
        <p:spPr>
          <a:xfrm>
            <a:off x="822960" y="3973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037076"/>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03707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住友電設</a:t>
            </a:r>
          </a:p>
        </p:txBody>
      </p:sp>
      <p:sp>
        <p:nvSpPr>
          <p:cNvPr id="32" name="TextBox 31"/>
          <p:cNvSpPr txBox="1"/>
          <p:nvPr/>
        </p:nvSpPr>
        <p:spPr>
          <a:xfrm>
            <a:off x="1024128" y="427482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1949</a:t>
            </a:r>
          </a:p>
        </p:txBody>
      </p:sp>
      <p:sp>
        <p:nvSpPr>
          <p:cNvPr id="33" name="TextBox 32"/>
          <p:cNvSpPr txBox="1"/>
          <p:nvPr/>
        </p:nvSpPr>
        <p:spPr>
          <a:xfrm>
            <a:off x="3566160" y="403707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国内外の大型データセンター案件の進捗と再生可能エネルギー関連工事の好調により、営業利益が前期比42.5%増と大幅増益を達成。</a:t>
            </a:r>
          </a:p>
        </p:txBody>
      </p:sp>
      <p:sp>
        <p:nvSpPr>
          <p:cNvPr id="34" name="Rectangle 33"/>
          <p:cNvSpPr/>
          <p:nvPr/>
        </p:nvSpPr>
        <p:spPr>
          <a:xfrm>
            <a:off x="822960" y="444398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507992"/>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50799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日本電設工業</a:t>
            </a:r>
          </a:p>
        </p:txBody>
      </p:sp>
      <p:sp>
        <p:nvSpPr>
          <p:cNvPr id="37" name="TextBox 36"/>
          <p:cNvSpPr txBox="1"/>
          <p:nvPr/>
        </p:nvSpPr>
        <p:spPr>
          <a:xfrm>
            <a:off x="1024128" y="474573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1950</a:t>
            </a:r>
          </a:p>
        </p:txBody>
      </p:sp>
      <p:sp>
        <p:nvSpPr>
          <p:cNvPr id="38" name="TextBox 37"/>
          <p:cNvSpPr txBox="1"/>
          <p:nvPr/>
        </p:nvSpPr>
        <p:spPr>
          <a:xfrm>
            <a:off x="3566160" y="450799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鉄道会社の設備投資拡大に加え、民間データセンター向け投資の拡大により一般電気工事分野で受注・売上を伸ばし過去最高を更新。</a:t>
            </a:r>
          </a:p>
        </p:txBody>
      </p:sp>
      <p:sp>
        <p:nvSpPr>
          <p:cNvPr id="39" name="Rectangle 38"/>
          <p:cNvSpPr/>
          <p:nvPr/>
        </p:nvSpPr>
        <p:spPr>
          <a:xfrm>
            <a:off x="822960" y="491490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978907"/>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4978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東洋熱工業</a:t>
            </a:r>
          </a:p>
        </p:txBody>
      </p:sp>
      <p:sp>
        <p:nvSpPr>
          <p:cNvPr id="42" name="TextBox 41"/>
          <p:cNvSpPr txBox="1"/>
          <p:nvPr/>
        </p:nvSpPr>
        <p:spPr>
          <a:xfrm>
            <a:off x="1024128" y="5216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3" name="TextBox 42"/>
          <p:cNvSpPr txBox="1"/>
          <p:nvPr/>
        </p:nvSpPr>
        <p:spPr>
          <a:xfrm>
            <a:off x="3566160" y="497890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データセンター向け高効率冷却ユニット「グリーンアイル」等の独自技術を保有し生成AI普及に伴う空調・冷却需要拡大の恩恵を受ける立場にあるが定量開示は限定的。</a:t>
            </a:r>
          </a:p>
        </p:txBody>
      </p:sp>
      <p:sp>
        <p:nvSpPr>
          <p:cNvPr id="44" name="Rectangle 43"/>
          <p:cNvSpPr/>
          <p:nvPr/>
        </p:nvSpPr>
        <p:spPr>
          <a:xfrm>
            <a:off x="822960" y="558241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571042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78992" y="5646420"/>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06  </a:t>
            </a:r>
            <a:r>
              <a:rPr sz="1250" b="1">
                <a:solidFill>
                  <a:srgbClr val="15181C"/>
                </a:solidFill>
                <a:latin typeface="Noto Sans JP"/>
                <a:ea typeface="Noto Sans JP"/>
              </a:rPr>
              <a:t>産業冷却・空調（液冷・チラー）</a:t>
            </a:r>
            <a:r>
              <a:rPr sz="900" b="1">
                <a:solidFill>
                  <a:srgbClr val="9AA1A9"/>
                </a:solidFill>
                <a:latin typeface="Consolas"/>
                <a:ea typeface="Consolas"/>
              </a:rPr>
              <a:t>　8社 ・ 優先度 高</a:t>
            </a:r>
          </a:p>
        </p:txBody>
      </p:sp>
      <p:sp>
        <p:nvSpPr>
          <p:cNvPr id="47" name="Rectangle 46"/>
          <p:cNvSpPr/>
          <p:nvPr/>
        </p:nvSpPr>
        <p:spPr>
          <a:xfrm>
            <a:off x="822960" y="6039612"/>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6121907"/>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6121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高砂熱学工業</a:t>
            </a:r>
          </a:p>
        </p:txBody>
      </p:sp>
      <p:sp>
        <p:nvSpPr>
          <p:cNvPr id="50" name="TextBox 49"/>
          <p:cNvSpPr txBox="1"/>
          <p:nvPr/>
        </p:nvSpPr>
        <p:spPr>
          <a:xfrm>
            <a:off x="1024128" y="6359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1969</a:t>
            </a:r>
          </a:p>
        </p:txBody>
      </p:sp>
      <p:sp>
        <p:nvSpPr>
          <p:cNvPr id="51" name="TextBox 50"/>
          <p:cNvSpPr txBox="1"/>
          <p:nvPr/>
        </p:nvSpPr>
        <p:spPr>
          <a:xfrm>
            <a:off x="3566160" y="612190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半導体工場・AIデータセンター向け高難易度空調工事を独占的に受注し2026年3月期は営業利益+47.3%と過去最高益を更新。</a:t>
            </a:r>
          </a:p>
        </p:txBody>
      </p:sp>
      <p:sp>
        <p:nvSpPr>
          <p:cNvPr id="52" name="Rectangle 51"/>
          <p:cNvSpPr/>
          <p:nvPr/>
        </p:nvSpPr>
        <p:spPr>
          <a:xfrm>
            <a:off x="822960" y="652881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6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06  </a:t>
            </a:r>
            <a:r>
              <a:rPr sz="1250" b="1">
                <a:solidFill>
                  <a:srgbClr val="373C43"/>
                </a:solidFill>
                <a:latin typeface="Noto Sans JP"/>
                <a:ea typeface="Noto Sans JP"/>
              </a:rPr>
              <a:t>産業冷却・空調（液冷・チラー）</a:t>
            </a:r>
            <a:r>
              <a:rPr sz="900" b="1">
                <a:solidFill>
                  <a:srgbClr val="9AA1A9"/>
                </a:solidFill>
                <a:latin typeface="Consolas"/>
                <a:ea typeface="Consolas"/>
              </a:rPr>
              <a:t>　8社 ・ 優先度 高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ダイキン工業</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6367</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北米データセンター向け冷却事業の売上高を2023年度約230億円から2025年度約1000億円、2030年度3000億円超へ拡大する計画でChilldyne等の液冷企業を相次ぎ買収。</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三菱重工サーマルシステムズ</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国内ターボ冷凍機シェア約70%を背景に半導体工場・データセンター向け受注増に対応してターボ冷凍機を増産。</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荏原冷熱システム</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23" name="TextBox 22"/>
          <p:cNvSpPr txBox="1"/>
          <p:nvPr/>
        </p:nvSpPr>
        <p:spPr>
          <a:xfrm>
            <a:off x="3566160" y="270205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北米データセンター向け冷却設備（ターボ冷凍機・冷却塔）と欧州・中東向けポンプ販売がAI/データセンター産業拡大に伴い好調。</a:t>
            </a:r>
          </a:p>
        </p:txBody>
      </p:sp>
      <p:sp>
        <p:nvSpPr>
          <p:cNvPr id="24" name="Rectangle 23"/>
          <p:cNvSpPr/>
          <p:nvPr/>
        </p:nvSpPr>
        <p:spPr>
          <a:xfrm>
            <a:off x="822960" y="31089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172968"/>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172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ニデック</a:t>
            </a:r>
          </a:p>
        </p:txBody>
      </p:sp>
      <p:sp>
        <p:nvSpPr>
          <p:cNvPr id="27" name="TextBox 26"/>
          <p:cNvSpPr txBox="1"/>
          <p:nvPr/>
        </p:nvSpPr>
        <p:spPr>
          <a:xfrm>
            <a:off x="1024128" y="3410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6594</a:t>
            </a:r>
          </a:p>
        </p:txBody>
      </p:sp>
      <p:sp>
        <p:nvSpPr>
          <p:cNvPr id="28" name="TextBox 27"/>
          <p:cNvSpPr txBox="1"/>
          <p:nvPr/>
        </p:nvSpPr>
        <p:spPr>
          <a:xfrm>
            <a:off x="3566160" y="317296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データセンターの液冷（CDU・水冷モジュール）に本格参入。生成AIサーバの高発熱化で液冷需要が急拡大し冷却を成長領域に位置づけ。</a:t>
            </a:r>
          </a:p>
        </p:txBody>
      </p:sp>
      <p:sp>
        <p:nvSpPr>
          <p:cNvPr id="29" name="Rectangle 28"/>
          <p:cNvSpPr/>
          <p:nvPr/>
        </p:nvSpPr>
        <p:spPr>
          <a:xfrm>
            <a:off x="822960" y="37764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840480"/>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84048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オリオン機械</a:t>
            </a:r>
          </a:p>
        </p:txBody>
      </p:sp>
      <p:sp>
        <p:nvSpPr>
          <p:cNvPr id="32" name="TextBox 31"/>
          <p:cNvSpPr txBox="1"/>
          <p:nvPr/>
        </p:nvSpPr>
        <p:spPr>
          <a:xfrm>
            <a:off x="1024128" y="407822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6417</a:t>
            </a:r>
          </a:p>
        </p:txBody>
      </p:sp>
      <p:sp>
        <p:nvSpPr>
          <p:cNvPr id="33" name="TextBox 32"/>
          <p:cNvSpPr txBox="1"/>
          <p:nvPr/>
        </p:nvSpPr>
        <p:spPr>
          <a:xfrm>
            <a:off x="3566160" y="3840480"/>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精密チラー大手。AI液冷向けにCDU一次側のチルド水供給設備を40ftコンテナにパッケージ化するなどデータセンター向けを強化。</a:t>
            </a:r>
          </a:p>
        </p:txBody>
      </p:sp>
      <p:sp>
        <p:nvSpPr>
          <p:cNvPr id="34" name="Rectangle 33"/>
          <p:cNvSpPr/>
          <p:nvPr/>
        </p:nvSpPr>
        <p:spPr>
          <a:xfrm>
            <a:off x="822960" y="444398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507992"/>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50799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木村工機</a:t>
            </a:r>
          </a:p>
        </p:txBody>
      </p:sp>
      <p:sp>
        <p:nvSpPr>
          <p:cNvPr id="37" name="TextBox 36"/>
          <p:cNvSpPr txBox="1"/>
          <p:nvPr/>
        </p:nvSpPr>
        <p:spPr>
          <a:xfrm>
            <a:off x="1024128" y="474573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6231</a:t>
            </a:r>
          </a:p>
        </p:txBody>
      </p:sp>
      <p:sp>
        <p:nvSpPr>
          <p:cNvPr id="38" name="TextBox 37"/>
          <p:cNvSpPr txBox="1"/>
          <p:nvPr/>
        </p:nvSpPr>
        <p:spPr>
          <a:xfrm>
            <a:off x="3566160" y="4507992"/>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データセンター向け中温冷水・外気冷房空調機を展開。省エネ空調でDC需要を取り込む。</a:t>
            </a:r>
          </a:p>
        </p:txBody>
      </p:sp>
      <p:sp>
        <p:nvSpPr>
          <p:cNvPr id="39" name="Rectangle 38"/>
          <p:cNvSpPr/>
          <p:nvPr/>
        </p:nvSpPr>
        <p:spPr>
          <a:xfrm>
            <a:off x="822960" y="491490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978908"/>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4128" y="497890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前川製作所</a:t>
            </a:r>
          </a:p>
        </p:txBody>
      </p:sp>
      <p:sp>
        <p:nvSpPr>
          <p:cNvPr id="42" name="TextBox 41"/>
          <p:cNvSpPr txBox="1"/>
          <p:nvPr/>
        </p:nvSpPr>
        <p:spPr>
          <a:xfrm>
            <a:off x="1024128" y="521665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43" name="TextBox 42"/>
          <p:cNvSpPr txBox="1"/>
          <p:nvPr/>
        </p:nvSpPr>
        <p:spPr>
          <a:xfrm>
            <a:off x="3566160" y="4978908"/>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産業用冷凍・大型冷却の国内大手（非上場）。データセンターの高効率冷却・ヒートポンプ技術を展開。</a:t>
            </a:r>
          </a:p>
        </p:txBody>
      </p:sp>
      <p:sp>
        <p:nvSpPr>
          <p:cNvPr id="44" name="Rectangle 43"/>
          <p:cNvSpPr/>
          <p:nvPr/>
        </p:nvSpPr>
        <p:spPr>
          <a:xfrm>
            <a:off x="822960" y="538581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960" y="5513832"/>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78992" y="5449824"/>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07  </a:t>
            </a:r>
            <a:r>
              <a:rPr sz="1250" b="1">
                <a:solidFill>
                  <a:srgbClr val="15181C"/>
                </a:solidFill>
                <a:latin typeface="Noto Sans JP"/>
                <a:ea typeface="Noto Sans JP"/>
              </a:rPr>
              <a:t>電線・ケーブル・光ファイバー</a:t>
            </a:r>
            <a:r>
              <a:rPr sz="900" b="1">
                <a:solidFill>
                  <a:srgbClr val="9AA1A9"/>
                </a:solidFill>
                <a:latin typeface="Consolas"/>
                <a:ea typeface="Consolas"/>
              </a:rPr>
              <a:t>　4社 ・ 優先度 中</a:t>
            </a:r>
          </a:p>
        </p:txBody>
      </p:sp>
      <p:sp>
        <p:nvSpPr>
          <p:cNvPr id="47" name="Rectangle 46"/>
          <p:cNvSpPr/>
          <p:nvPr/>
        </p:nvSpPr>
        <p:spPr>
          <a:xfrm>
            <a:off x="822960" y="584301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592531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592531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古河電気工業</a:t>
            </a:r>
          </a:p>
        </p:txBody>
      </p:sp>
      <p:sp>
        <p:nvSpPr>
          <p:cNvPr id="50" name="TextBox 49"/>
          <p:cNvSpPr txBox="1"/>
          <p:nvPr/>
        </p:nvSpPr>
        <p:spPr>
          <a:xfrm>
            <a:off x="1024128" y="616305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5801</a:t>
            </a:r>
          </a:p>
        </p:txBody>
      </p:sp>
      <p:sp>
        <p:nvSpPr>
          <p:cNvPr id="51" name="TextBox 50"/>
          <p:cNvSpPr txBox="1"/>
          <p:nvPr/>
        </p:nvSpPr>
        <p:spPr>
          <a:xfrm>
            <a:off x="3566160" y="592531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データセンタ・AI関連市場の伸長を背景にローラブルリボンケーブル等の高付加価値光ファイバーケーブルの供給体制を強化し、データセンター事業の営業利益を5年で8.5倍に拡大する計画。</a:t>
            </a:r>
          </a:p>
        </p:txBody>
      </p:sp>
      <p:sp>
        <p:nvSpPr>
          <p:cNvPr id="52" name="Rectangle 51"/>
          <p:cNvSpPr/>
          <p:nvPr/>
        </p:nvSpPr>
        <p:spPr>
          <a:xfrm>
            <a:off x="822960" y="652881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7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07  </a:t>
            </a:r>
            <a:r>
              <a:rPr sz="1250" b="1">
                <a:solidFill>
                  <a:srgbClr val="373C43"/>
                </a:solidFill>
                <a:latin typeface="Noto Sans JP"/>
                <a:ea typeface="Noto Sans JP"/>
              </a:rPr>
              <a:t>電線・ケーブル・光ファイバー</a:t>
            </a:r>
            <a:r>
              <a:rPr sz="900" b="1">
                <a:solidFill>
                  <a:srgbClr val="9AA1A9"/>
                </a:solidFill>
                <a:latin typeface="Consolas"/>
                <a:ea typeface="Consolas"/>
              </a:rPr>
              <a:t>　4社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住友電気工業</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5802</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AIデータセンター向け光デバイス・光配線・光コネクタの需要拡大に対応し、2028年度までに約1000億円を投じて生産能力を増強（光コネクタ製造能力は7倍に）。</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フジクラ</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5803</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北米AIデータセンター向け光ファイバーケーブル需要の爆発的拡大を受け、情報通信事業が全社営業利益の8割超を稼ぎ、米国・国内で最大3000億円の増産投資を実施。</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SWCC（旧昭和電線ホールディングス）</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5805</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米国AIデータセンター向け超多心光ファイバケーブル「e-Ribbon®」の需要が下期に大幅拡大し、通信・コンポーネンツ事業の増収増益を牽引。</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63016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8992" y="3566159"/>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08  </a:t>
            </a:r>
            <a:r>
              <a:rPr sz="1250" b="1">
                <a:solidFill>
                  <a:srgbClr val="15181C"/>
                </a:solidFill>
                <a:latin typeface="Noto Sans JP"/>
                <a:ea typeface="Noto Sans JP"/>
              </a:rPr>
              <a:t>半導体前工程（ファウンドリ/メモリ）</a:t>
            </a:r>
            <a:r>
              <a:rPr sz="900" b="1">
                <a:solidFill>
                  <a:srgbClr val="9AA1A9"/>
                </a:solidFill>
                <a:latin typeface="Consolas"/>
                <a:ea typeface="Consolas"/>
              </a:rPr>
              <a:t>　5社 ・ 優先度 中</a:t>
            </a:r>
          </a:p>
        </p:txBody>
      </p:sp>
      <p:sp>
        <p:nvSpPr>
          <p:cNvPr id="27" name="Rectangle 26"/>
          <p:cNvSpPr/>
          <p:nvPr/>
        </p:nvSpPr>
        <p:spPr>
          <a:xfrm>
            <a:off x="822960" y="3959352"/>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041647"/>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4041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Kioxia Holdings</a:t>
            </a:r>
          </a:p>
        </p:txBody>
      </p:sp>
      <p:sp>
        <p:nvSpPr>
          <p:cNvPr id="30" name="TextBox 29"/>
          <p:cNvSpPr txBox="1"/>
          <p:nvPr/>
        </p:nvSpPr>
        <p:spPr>
          <a:xfrm>
            <a:off x="1024128" y="4279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285A</a:t>
            </a:r>
          </a:p>
        </p:txBody>
      </p:sp>
      <p:sp>
        <p:nvSpPr>
          <p:cNvPr id="31" name="TextBox 30"/>
          <p:cNvSpPr txBox="1"/>
          <p:nvPr/>
        </p:nvSpPr>
        <p:spPr>
          <a:xfrm>
            <a:off x="3566160" y="4041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AI向けデータセンターSSD需要により2026年度の生産能力は完売状態、2026〜2028年度の年平均設備投資を前年度比66%増の約470億円に引き上げ。</a:t>
            </a:r>
          </a:p>
        </p:txBody>
      </p:sp>
      <p:sp>
        <p:nvSpPr>
          <p:cNvPr id="32" name="Rectangle 31"/>
          <p:cNvSpPr/>
          <p:nvPr/>
        </p:nvSpPr>
        <p:spPr>
          <a:xfrm>
            <a:off x="822960" y="464515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709159"/>
            <a:ext cx="50292" cy="5394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709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ラピダス（Rapidus）</a:t>
            </a:r>
          </a:p>
        </p:txBody>
      </p:sp>
      <p:sp>
        <p:nvSpPr>
          <p:cNvPr id="35" name="TextBox 34"/>
          <p:cNvSpPr txBox="1"/>
          <p:nvPr/>
        </p:nvSpPr>
        <p:spPr>
          <a:xfrm>
            <a:off x="1024128" y="4946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36" name="TextBox 35"/>
          <p:cNvSpPr txBox="1"/>
          <p:nvPr/>
        </p:nvSpPr>
        <p:spPr>
          <a:xfrm>
            <a:off x="3566160" y="4709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2nmロジック半導体の量産（2027年度後半予定）に向け、政府・民間からの資金調達を積み増し中だが、量産稼働を支える顧客受注の確定は道半ば。</a:t>
            </a:r>
          </a:p>
        </p:txBody>
      </p:sp>
      <p:sp>
        <p:nvSpPr>
          <p:cNvPr id="37" name="Rectangle 36"/>
          <p:cNvSpPr/>
          <p:nvPr/>
        </p:nvSpPr>
        <p:spPr>
          <a:xfrm>
            <a:off x="822960" y="5312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37667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376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ソニーグループ</a:t>
            </a:r>
          </a:p>
        </p:txBody>
      </p:sp>
      <p:sp>
        <p:nvSpPr>
          <p:cNvPr id="40" name="TextBox 39"/>
          <p:cNvSpPr txBox="1"/>
          <p:nvPr/>
        </p:nvSpPr>
        <p:spPr>
          <a:xfrm>
            <a:off x="1024128" y="5614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6758</a:t>
            </a:r>
          </a:p>
        </p:txBody>
      </p:sp>
      <p:sp>
        <p:nvSpPr>
          <p:cNvPr id="41" name="TextBox 40"/>
          <p:cNvSpPr txBox="1"/>
          <p:nvPr/>
        </p:nvSpPr>
        <p:spPr>
          <a:xfrm>
            <a:off x="3566160" y="5376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CMOSイメージセンサ世界首位（シェア約49.5%）。設備投資を増額し先端プロセスの微細化を前倒し。生成AI・車載向けでファブ投資が拡大。</a:t>
            </a:r>
          </a:p>
        </p:txBody>
      </p:sp>
      <p:sp>
        <p:nvSpPr>
          <p:cNvPr id="42" name="Rectangle 41"/>
          <p:cNvSpPr/>
          <p:nvPr/>
        </p:nvSpPr>
        <p:spPr>
          <a:xfrm>
            <a:off x="822960" y="5980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8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08  </a:t>
            </a:r>
            <a:r>
              <a:rPr sz="1250" b="1">
                <a:solidFill>
                  <a:srgbClr val="373C43"/>
                </a:solidFill>
                <a:latin typeface="Noto Sans JP"/>
                <a:ea typeface="Noto Sans JP"/>
              </a:rPr>
              <a:t>半導体前工程（ファウンドリ/メモリ）</a:t>
            </a:r>
            <a:r>
              <a:rPr sz="900" b="1">
                <a:solidFill>
                  <a:srgbClr val="9AA1A9"/>
                </a:solidFill>
                <a:latin typeface="Consolas"/>
                <a:ea typeface="Consolas"/>
              </a:rPr>
              <a:t>　5社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ルネサスエレクトロニクス</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6723</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AIサーバ・DC電源向けを含むパワー半導体に投資（900億円規模）。三菱電機・東芝とパワー半導体事業の統合協議も。※足元の市況は軟調で確度は限定的。</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ローム</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6963</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SiCパワー半導体に7年累計5,100億円を投資し福岡・宮崎に新棟。AI・DC電源の高効率化需要が中長期の柱。※足元の市況は軟調。</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962656"/>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2898647"/>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10  </a:t>
            </a:r>
            <a:r>
              <a:rPr sz="1250" b="1">
                <a:solidFill>
                  <a:srgbClr val="15181C"/>
                </a:solidFill>
                <a:latin typeface="Noto Sans JP"/>
                <a:ea typeface="Noto Sans JP"/>
              </a:rPr>
              <a:t>半導体製造装置・部材</a:t>
            </a:r>
            <a:r>
              <a:rPr sz="900" b="1">
                <a:solidFill>
                  <a:srgbClr val="9AA1A9"/>
                </a:solidFill>
                <a:latin typeface="Consolas"/>
                <a:ea typeface="Consolas"/>
              </a:rPr>
              <a:t>　10社 ・ 優先度 中</a:t>
            </a:r>
          </a:p>
        </p:txBody>
      </p:sp>
      <p:sp>
        <p:nvSpPr>
          <p:cNvPr id="22" name="Rectangle 21"/>
          <p:cNvSpPr/>
          <p:nvPr/>
        </p:nvSpPr>
        <p:spPr>
          <a:xfrm>
            <a:off x="822960" y="3291839"/>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37413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3374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東京エレクトロン</a:t>
            </a:r>
          </a:p>
        </p:txBody>
      </p:sp>
      <p:sp>
        <p:nvSpPr>
          <p:cNvPr id="25" name="TextBox 24"/>
          <p:cNvSpPr txBox="1"/>
          <p:nvPr/>
        </p:nvSpPr>
        <p:spPr>
          <a:xfrm>
            <a:off x="1024128" y="3611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8035</a:t>
            </a:r>
          </a:p>
        </p:txBody>
      </p:sp>
      <p:sp>
        <p:nvSpPr>
          <p:cNvPr id="26" name="TextBox 25"/>
          <p:cNvSpPr txBox="1"/>
          <p:nvPr/>
        </p:nvSpPr>
        <p:spPr>
          <a:xfrm>
            <a:off x="3566160" y="3374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生成AIデータセンター向けCPU増設とAI利用拡大に伴うPC用CPU高性能化が微細化投資を後押しし、ロジック・DRAM向け装置売上が四半期ベースで急拡大。</a:t>
            </a:r>
          </a:p>
        </p:txBody>
      </p:sp>
      <p:sp>
        <p:nvSpPr>
          <p:cNvPr id="27" name="Rectangle 26"/>
          <p:cNvSpPr/>
          <p:nvPr/>
        </p:nvSpPr>
        <p:spPr>
          <a:xfrm>
            <a:off x="822960" y="3977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041647"/>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4041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SUMCO</a:t>
            </a:r>
          </a:p>
        </p:txBody>
      </p:sp>
      <p:sp>
        <p:nvSpPr>
          <p:cNvPr id="30" name="TextBox 29"/>
          <p:cNvSpPr txBox="1"/>
          <p:nvPr/>
        </p:nvSpPr>
        <p:spPr>
          <a:xfrm>
            <a:off x="1024128" y="4279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3436</a:t>
            </a:r>
          </a:p>
        </p:txBody>
      </p:sp>
      <p:sp>
        <p:nvSpPr>
          <p:cNvPr id="31" name="TextBox 30"/>
          <p:cNvSpPr txBox="1"/>
          <p:nvPr/>
        </p:nvSpPr>
        <p:spPr>
          <a:xfrm>
            <a:off x="3566160" y="4041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AIサーバー・HBM向けシリコンウエハの構造的需要拡大を受け、新工場建設よりも既存工場（伊万里）の増強・高精度化に投資を集中する戦略へ転換。</a:t>
            </a:r>
          </a:p>
        </p:txBody>
      </p:sp>
      <p:sp>
        <p:nvSpPr>
          <p:cNvPr id="32" name="Rectangle 31"/>
          <p:cNvSpPr/>
          <p:nvPr/>
        </p:nvSpPr>
        <p:spPr>
          <a:xfrm>
            <a:off x="822960" y="464515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709159"/>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709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信越化学工業</a:t>
            </a:r>
          </a:p>
        </p:txBody>
      </p:sp>
      <p:sp>
        <p:nvSpPr>
          <p:cNvPr id="35" name="TextBox 34"/>
          <p:cNvSpPr txBox="1"/>
          <p:nvPr/>
        </p:nvSpPr>
        <p:spPr>
          <a:xfrm>
            <a:off x="1024128" y="4946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4063</a:t>
            </a:r>
          </a:p>
        </p:txBody>
      </p:sp>
      <p:sp>
        <p:nvSpPr>
          <p:cNvPr id="36" name="TextBox 35"/>
          <p:cNvSpPr txBox="1"/>
          <p:nvPr/>
        </p:nvSpPr>
        <p:spPr>
          <a:xfrm>
            <a:off x="3566160" y="470915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半導体シリコンウエハ・電子材料のAI関連用途向け販売比率が2割を超え、中東情勢を契機とした顧客の在庫積み増しで追加受注が増加。</a:t>
            </a:r>
          </a:p>
        </p:txBody>
      </p:sp>
      <p:sp>
        <p:nvSpPr>
          <p:cNvPr id="37" name="Rectangle 36"/>
          <p:cNvSpPr/>
          <p:nvPr/>
        </p:nvSpPr>
        <p:spPr>
          <a:xfrm>
            <a:off x="822960" y="53126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37667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3766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レゾナック</a:t>
            </a:r>
          </a:p>
        </p:txBody>
      </p:sp>
      <p:sp>
        <p:nvSpPr>
          <p:cNvPr id="40" name="TextBox 39"/>
          <p:cNvSpPr txBox="1"/>
          <p:nvPr/>
        </p:nvSpPr>
        <p:spPr>
          <a:xfrm>
            <a:off x="1024128" y="56144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4004</a:t>
            </a:r>
          </a:p>
        </p:txBody>
      </p:sp>
      <p:sp>
        <p:nvSpPr>
          <p:cNvPr id="41" name="TextBox 40"/>
          <p:cNvSpPr txBox="1"/>
          <p:nvPr/>
        </p:nvSpPr>
        <p:spPr>
          <a:xfrm>
            <a:off x="3566160" y="537667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先端半導体パッケージング材料（TIM・NCF等）のAI向け販売数量増加により、半導体・電子材料セグメントの営業利益が四半期・年間ともに過去最高を更新。</a:t>
            </a:r>
          </a:p>
        </p:txBody>
      </p:sp>
      <p:sp>
        <p:nvSpPr>
          <p:cNvPr id="42" name="Rectangle 41"/>
          <p:cNvSpPr/>
          <p:nvPr/>
        </p:nvSpPr>
        <p:spPr>
          <a:xfrm>
            <a:off x="822960" y="598017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9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10  </a:t>
            </a:r>
            <a:r>
              <a:rPr sz="1250" b="1">
                <a:solidFill>
                  <a:srgbClr val="373C43"/>
                </a:solidFill>
                <a:latin typeface="Noto Sans JP"/>
                <a:ea typeface="Noto Sans JP"/>
              </a:rPr>
              <a:t>半導体製造装置・部材</a:t>
            </a:r>
            <a:r>
              <a:rPr sz="900" b="1">
                <a:solidFill>
                  <a:srgbClr val="9AA1A9"/>
                </a:solidFill>
                <a:latin typeface="Consolas"/>
                <a:ea typeface="Consolas"/>
              </a:rPr>
              <a:t>　10社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ディスコ</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6146</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GPU・HBM等の生成AI向け先端半導体需要を背景に、精密加工装置（ダイシングソー・グラインダー等）の出荷が高付加価値製品中心に拡大し6期連続で営業最高益を更新。</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SCREENホールディングス</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7735</a:t>
            </a:r>
          </a:p>
        </p:txBody>
      </p:sp>
      <p:sp>
        <p:nvSpPr>
          <p:cNvPr id="18" name="TextBox 17"/>
          <p:cNvSpPr txBox="1"/>
          <p:nvPr/>
        </p:nvSpPr>
        <p:spPr>
          <a:xfrm>
            <a:off x="3566160" y="223113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生成AI普及に伴う半導体微細化投資・チップレット技術向け需要を背景に、2027年3月期の増収増益を見込む。</a:t>
            </a:r>
          </a:p>
        </p:txBody>
      </p:sp>
      <p:sp>
        <p:nvSpPr>
          <p:cNvPr id="19" name="Rectangle 18"/>
          <p:cNvSpPr/>
          <p:nvPr/>
        </p:nvSpPr>
        <p:spPr>
          <a:xfrm>
            <a:off x="822960" y="2638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702051"/>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702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TOWA</a:t>
            </a:r>
          </a:p>
        </p:txBody>
      </p:sp>
      <p:sp>
        <p:nvSpPr>
          <p:cNvPr id="22" name="TextBox 21"/>
          <p:cNvSpPr txBox="1"/>
          <p:nvPr/>
        </p:nvSpPr>
        <p:spPr>
          <a:xfrm>
            <a:off x="1024128" y="29397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6315</a:t>
            </a:r>
          </a:p>
        </p:txBody>
      </p:sp>
      <p:sp>
        <p:nvSpPr>
          <p:cNvPr id="23" name="TextBox 22"/>
          <p:cNvSpPr txBox="1"/>
          <p:nvPr/>
        </p:nvSpPr>
        <p:spPr>
          <a:xfrm>
            <a:off x="3566160" y="2702051"/>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半導体モールディング装置大手。AI・データセンター向け半導体需要増で27/3期は純利益+52%（70億円）見込み。</a:t>
            </a:r>
          </a:p>
        </p:txBody>
      </p:sp>
      <p:sp>
        <p:nvSpPr>
          <p:cNvPr id="24" name="Rectangle 23"/>
          <p:cNvSpPr/>
          <p:nvPr/>
        </p:nvSpPr>
        <p:spPr>
          <a:xfrm>
            <a:off x="822960" y="31089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172968"/>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172968"/>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キヤノン</a:t>
            </a:r>
          </a:p>
        </p:txBody>
      </p:sp>
      <p:sp>
        <p:nvSpPr>
          <p:cNvPr id="27" name="TextBox 26"/>
          <p:cNvSpPr txBox="1"/>
          <p:nvPr/>
        </p:nvSpPr>
        <p:spPr>
          <a:xfrm>
            <a:off x="1024128" y="341071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7751</a:t>
            </a:r>
          </a:p>
        </p:txBody>
      </p:sp>
      <p:sp>
        <p:nvSpPr>
          <p:cNvPr id="28" name="TextBox 27"/>
          <p:cNvSpPr txBox="1"/>
          <p:nvPr/>
        </p:nvSpPr>
        <p:spPr>
          <a:xfrm>
            <a:off x="3566160" y="3172968"/>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半導体露光装置で後工程向け業界標準機を展開し販売台数を伸ばす。生成AI・先端パッケージング需要で露光装置事業を拡大・生産能力を増強。</a:t>
            </a:r>
          </a:p>
        </p:txBody>
      </p:sp>
      <p:sp>
        <p:nvSpPr>
          <p:cNvPr id="29" name="Rectangle 28"/>
          <p:cNvSpPr/>
          <p:nvPr/>
        </p:nvSpPr>
        <p:spPr>
          <a:xfrm>
            <a:off x="822960" y="37764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3840480"/>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384048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東京精密</a:t>
            </a:r>
          </a:p>
        </p:txBody>
      </p:sp>
      <p:sp>
        <p:nvSpPr>
          <p:cNvPr id="32" name="TextBox 31"/>
          <p:cNvSpPr txBox="1"/>
          <p:nvPr/>
        </p:nvSpPr>
        <p:spPr>
          <a:xfrm>
            <a:off x="1024128" y="407822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7729</a:t>
            </a:r>
          </a:p>
        </p:txBody>
      </p:sp>
      <p:sp>
        <p:nvSpPr>
          <p:cNvPr id="33" name="TextBox 32"/>
          <p:cNvSpPr txBox="1"/>
          <p:nvPr/>
        </p:nvSpPr>
        <p:spPr>
          <a:xfrm>
            <a:off x="3566160" y="3840480"/>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半導体プローバ・ダイシング装置大手。AI半導体（HBM・先端パッケージ）の検査・加工需要増を取り込む。</a:t>
            </a:r>
          </a:p>
        </p:txBody>
      </p:sp>
      <p:sp>
        <p:nvSpPr>
          <p:cNvPr id="34" name="Rectangle 33"/>
          <p:cNvSpPr/>
          <p:nvPr/>
        </p:nvSpPr>
        <p:spPr>
          <a:xfrm>
            <a:off x="822960" y="424738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311396"/>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4311396"/>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コクサイエレクトリック</a:t>
            </a:r>
          </a:p>
        </p:txBody>
      </p:sp>
      <p:sp>
        <p:nvSpPr>
          <p:cNvPr id="37" name="TextBox 36"/>
          <p:cNvSpPr txBox="1"/>
          <p:nvPr/>
        </p:nvSpPr>
        <p:spPr>
          <a:xfrm>
            <a:off x="1024128" y="4549140"/>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6525</a:t>
            </a:r>
          </a:p>
        </p:txBody>
      </p:sp>
      <p:sp>
        <p:nvSpPr>
          <p:cNvPr id="38" name="TextBox 37"/>
          <p:cNvSpPr txBox="1"/>
          <p:nvPr/>
        </p:nvSpPr>
        <p:spPr>
          <a:xfrm>
            <a:off x="3566160" y="4311396"/>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バッチ式成膜（ALD/CVD）装置大手。AIメモリ（DRAM/HBM）増産で成膜装置需要が拡大。</a:t>
            </a:r>
          </a:p>
        </p:txBody>
      </p:sp>
      <p:sp>
        <p:nvSpPr>
          <p:cNvPr id="39" name="Rectangle 38"/>
          <p:cNvSpPr/>
          <p:nvPr/>
        </p:nvSpPr>
        <p:spPr>
          <a:xfrm>
            <a:off x="822960" y="471830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 y="4846320"/>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8992" y="4782312"/>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11  </a:t>
            </a:r>
            <a:r>
              <a:rPr sz="1250" b="1">
                <a:solidFill>
                  <a:srgbClr val="15181C"/>
                </a:solidFill>
                <a:latin typeface="Noto Sans JP"/>
                <a:ea typeface="Noto Sans JP"/>
              </a:rPr>
              <a:t>電力インフラ（発送電・系統増強）</a:t>
            </a:r>
            <a:r>
              <a:rPr sz="900" b="1">
                <a:solidFill>
                  <a:srgbClr val="9AA1A9"/>
                </a:solidFill>
                <a:latin typeface="Consolas"/>
                <a:ea typeface="Consolas"/>
              </a:rPr>
              <a:t>　7社 ・ 優先度 中</a:t>
            </a:r>
          </a:p>
        </p:txBody>
      </p:sp>
      <p:sp>
        <p:nvSpPr>
          <p:cNvPr id="42" name="Rectangle 41"/>
          <p:cNvSpPr/>
          <p:nvPr/>
        </p:nvSpPr>
        <p:spPr>
          <a:xfrm>
            <a:off x="822960" y="5175504"/>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257799"/>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25779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関西電力</a:t>
            </a:r>
          </a:p>
        </p:txBody>
      </p:sp>
      <p:sp>
        <p:nvSpPr>
          <p:cNvPr id="45" name="TextBox 44"/>
          <p:cNvSpPr txBox="1"/>
          <p:nvPr/>
        </p:nvSpPr>
        <p:spPr>
          <a:xfrm>
            <a:off x="1024128" y="549554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9503</a:t>
            </a:r>
          </a:p>
        </p:txBody>
      </p:sp>
      <p:sp>
        <p:nvSpPr>
          <p:cNvPr id="46" name="TextBox 45"/>
          <p:cNvSpPr txBox="1"/>
          <p:nvPr/>
        </p:nvSpPr>
        <p:spPr>
          <a:xfrm>
            <a:off x="3566160" y="525779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データセンター新増設ラッシュによる電力需要急増に対応し、送配電子会社が変電所・送電線新増設に1500億円超を追加投資。</a:t>
            </a:r>
          </a:p>
        </p:txBody>
      </p:sp>
      <p:sp>
        <p:nvSpPr>
          <p:cNvPr id="47" name="Rectangle 46"/>
          <p:cNvSpPr/>
          <p:nvPr/>
        </p:nvSpPr>
        <p:spPr>
          <a:xfrm>
            <a:off x="822960" y="566470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5728715"/>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572871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東京電力ホールディングス</a:t>
            </a:r>
          </a:p>
        </p:txBody>
      </p:sp>
      <p:sp>
        <p:nvSpPr>
          <p:cNvPr id="50" name="TextBox 49"/>
          <p:cNvSpPr txBox="1"/>
          <p:nvPr/>
        </p:nvSpPr>
        <p:spPr>
          <a:xfrm>
            <a:off x="1024128" y="596645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9501</a:t>
            </a:r>
          </a:p>
        </p:txBody>
      </p:sp>
      <p:sp>
        <p:nvSpPr>
          <p:cNvPr id="51" name="TextBox 50"/>
          <p:cNvSpPr txBox="1"/>
          <p:nvPr/>
        </p:nvSpPr>
        <p:spPr>
          <a:xfrm>
            <a:off x="3566160" y="572871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千葉印西・白井エリア等のデータセンター集積による電力需要急増に対応し、送配電子会社が2027年度までに送電網増強へ4700億円を投資。</a:t>
            </a:r>
          </a:p>
        </p:txBody>
      </p:sp>
      <p:sp>
        <p:nvSpPr>
          <p:cNvPr id="52" name="Rectangle 51"/>
          <p:cNvSpPr/>
          <p:nvPr/>
        </p:nvSpPr>
        <p:spPr>
          <a:xfrm>
            <a:off x="822960" y="633221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10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11  </a:t>
            </a:r>
            <a:r>
              <a:rPr sz="1250" b="1">
                <a:solidFill>
                  <a:srgbClr val="373C43"/>
                </a:solidFill>
                <a:latin typeface="Noto Sans JP"/>
                <a:ea typeface="Noto Sans JP"/>
              </a:rPr>
              <a:t>電力インフラ（発送電・系統増強）</a:t>
            </a:r>
            <a:r>
              <a:rPr sz="900" b="1">
                <a:solidFill>
                  <a:srgbClr val="9AA1A9"/>
                </a:solidFill>
                <a:latin typeface="Consolas"/>
                <a:ea typeface="Consolas"/>
              </a:rPr>
              <a:t>　7社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九州電力</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9508</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TSMC進出等半導体関連需要増に対応し、送配電子会社が2027年度までの5カ年設備投資を前期比1割増の約6500億円とする計画。</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中部電力</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9502</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データセンター・半導体工場の需要増を見据え、新中期経営計画で地域間連系線・地内系統増強等の次世代電力ネットワーク構築に重点投資する方針。</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電源開発（Jパワー）</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9513</a:t>
            </a:r>
          </a:p>
        </p:txBody>
      </p:sp>
      <p:sp>
        <p:nvSpPr>
          <p:cNvPr id="23" name="TextBox 22"/>
          <p:cNvSpPr txBox="1"/>
          <p:nvPr/>
        </p:nvSpPr>
        <p:spPr>
          <a:xfrm>
            <a:off x="3566160" y="289864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2024-26中計で3年約3兆円（2030年度まで7兆円）を投資。脱炭素電源・送電網増強を推進し、AI・DCによる電力需要増を見据える。</a:t>
            </a:r>
          </a:p>
        </p:txBody>
      </p:sp>
      <p:sp>
        <p:nvSpPr>
          <p:cNvPr id="24" name="Rectangle 23"/>
          <p:cNvSpPr/>
          <p:nvPr/>
        </p:nvSpPr>
        <p:spPr>
          <a:xfrm>
            <a:off x="822960" y="350215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566159"/>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56615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東北電力</a:t>
            </a:r>
          </a:p>
        </p:txBody>
      </p:sp>
      <p:sp>
        <p:nvSpPr>
          <p:cNvPr id="27" name="TextBox 26"/>
          <p:cNvSpPr txBox="1"/>
          <p:nvPr/>
        </p:nvSpPr>
        <p:spPr>
          <a:xfrm>
            <a:off x="1024128" y="380390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9506</a:t>
            </a:r>
          </a:p>
        </p:txBody>
      </p:sp>
      <p:sp>
        <p:nvSpPr>
          <p:cNvPr id="28" name="TextBox 27"/>
          <p:cNvSpPr txBox="1"/>
          <p:nvPr/>
        </p:nvSpPr>
        <p:spPr>
          <a:xfrm>
            <a:off x="3566160" y="356615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中長期ビジョン『よりそうnext+PLUS』で送配電・再エネ投資を拡大。半導体・DC立地に伴う需要増に対応。</a:t>
            </a:r>
          </a:p>
        </p:txBody>
      </p:sp>
      <p:sp>
        <p:nvSpPr>
          <p:cNvPr id="29" name="Rectangle 28"/>
          <p:cNvSpPr/>
          <p:nvPr/>
        </p:nvSpPr>
        <p:spPr>
          <a:xfrm>
            <a:off x="822960" y="39730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037075"/>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03707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中国電力</a:t>
            </a:r>
          </a:p>
        </p:txBody>
      </p:sp>
      <p:sp>
        <p:nvSpPr>
          <p:cNvPr id="32" name="TextBox 31"/>
          <p:cNvSpPr txBox="1"/>
          <p:nvPr/>
        </p:nvSpPr>
        <p:spPr>
          <a:xfrm>
            <a:off x="1024128" y="427481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9504</a:t>
            </a:r>
          </a:p>
        </p:txBody>
      </p:sp>
      <p:sp>
        <p:nvSpPr>
          <p:cNvPr id="33" name="TextBox 32"/>
          <p:cNvSpPr txBox="1"/>
          <p:nvPr/>
        </p:nvSpPr>
        <p:spPr>
          <a:xfrm>
            <a:off x="3566160" y="4037075"/>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『アクションプラン2030』（2026年度〜）で系統増強・設備投資を計画。データセンター誘致地域の需要増を取り込む。</a:t>
            </a:r>
          </a:p>
        </p:txBody>
      </p:sp>
      <p:sp>
        <p:nvSpPr>
          <p:cNvPr id="34" name="Rectangle 33"/>
          <p:cNvSpPr/>
          <p:nvPr/>
        </p:nvSpPr>
        <p:spPr>
          <a:xfrm>
            <a:off x="822960" y="4443983"/>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4571999"/>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 y="4507991"/>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12  </a:t>
            </a:r>
            <a:r>
              <a:rPr sz="1250" b="1">
                <a:solidFill>
                  <a:srgbClr val="15181C"/>
                </a:solidFill>
                <a:latin typeface="Noto Sans JP"/>
                <a:ea typeface="Noto Sans JP"/>
              </a:rPr>
              <a:t>非常用発電機・UPS</a:t>
            </a:r>
            <a:r>
              <a:rPr sz="900" b="1">
                <a:solidFill>
                  <a:srgbClr val="9AA1A9"/>
                </a:solidFill>
                <a:latin typeface="Consolas"/>
                <a:ea typeface="Consolas"/>
              </a:rPr>
              <a:t>　4社 ・ 優先度 中</a:t>
            </a:r>
          </a:p>
        </p:txBody>
      </p:sp>
      <p:sp>
        <p:nvSpPr>
          <p:cNvPr id="37" name="Rectangle 36"/>
          <p:cNvSpPr/>
          <p:nvPr/>
        </p:nvSpPr>
        <p:spPr>
          <a:xfrm>
            <a:off x="822960" y="4901183"/>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4983479"/>
            <a:ext cx="50292" cy="342900"/>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498347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ジーエス・ユアサ コーポレーション</a:t>
            </a:r>
          </a:p>
        </p:txBody>
      </p:sp>
      <p:sp>
        <p:nvSpPr>
          <p:cNvPr id="40" name="TextBox 39"/>
          <p:cNvSpPr txBox="1"/>
          <p:nvPr/>
        </p:nvSpPr>
        <p:spPr>
          <a:xfrm>
            <a:off x="1024128" y="5221223"/>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6674</a:t>
            </a:r>
          </a:p>
        </p:txBody>
      </p:sp>
      <p:sp>
        <p:nvSpPr>
          <p:cNvPr id="41" name="TextBox 40"/>
          <p:cNvSpPr txBox="1"/>
          <p:nvPr/>
        </p:nvSpPr>
        <p:spPr>
          <a:xfrm>
            <a:off x="3566160" y="4983479"/>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データセンター・半導体工場向け非常用電池電源（UPS用蓄電池含む）の大型受注獲得により産業電池電源事業が増収増益を継続。</a:t>
            </a:r>
          </a:p>
        </p:txBody>
      </p:sp>
      <p:sp>
        <p:nvSpPr>
          <p:cNvPr id="42" name="Rectangle 41"/>
          <p:cNvSpPr/>
          <p:nvPr/>
        </p:nvSpPr>
        <p:spPr>
          <a:xfrm>
            <a:off x="822960" y="539038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 y="5454395"/>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4128" y="545439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エア・ウォーター</a:t>
            </a:r>
          </a:p>
        </p:txBody>
      </p:sp>
      <p:sp>
        <p:nvSpPr>
          <p:cNvPr id="45" name="TextBox 44"/>
          <p:cNvSpPr txBox="1"/>
          <p:nvPr/>
        </p:nvSpPr>
        <p:spPr>
          <a:xfrm>
            <a:off x="1024128" y="569213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4088</a:t>
            </a:r>
          </a:p>
        </p:txBody>
      </p:sp>
      <p:sp>
        <p:nvSpPr>
          <p:cNvPr id="46" name="TextBox 45"/>
          <p:cNvSpPr txBox="1"/>
          <p:nvPr/>
        </p:nvSpPr>
        <p:spPr>
          <a:xfrm>
            <a:off x="3566160" y="545439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子会社Hitec Power Protection（オランダ）を中核とする高出力UPS事業がデータセンター・半導体工場向け需要拡大でアジア・北米の受注を伸ばし増収増益に貢献。</a:t>
            </a:r>
          </a:p>
        </p:txBody>
      </p:sp>
      <p:sp>
        <p:nvSpPr>
          <p:cNvPr id="47" name="Rectangle 46"/>
          <p:cNvSpPr/>
          <p:nvPr/>
        </p:nvSpPr>
        <p:spPr>
          <a:xfrm>
            <a:off x="822960" y="605789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2960" y="6121907"/>
            <a:ext cx="50292" cy="342900"/>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128" y="612190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山洋電気</a:t>
            </a:r>
          </a:p>
        </p:txBody>
      </p:sp>
      <p:sp>
        <p:nvSpPr>
          <p:cNvPr id="50" name="TextBox 49"/>
          <p:cNvSpPr txBox="1"/>
          <p:nvPr/>
        </p:nvSpPr>
        <p:spPr>
          <a:xfrm>
            <a:off x="1024128" y="635965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6516</a:t>
            </a:r>
          </a:p>
        </p:txBody>
      </p:sp>
      <p:sp>
        <p:nvSpPr>
          <p:cNvPr id="51" name="TextBox 50"/>
          <p:cNvSpPr txBox="1"/>
          <p:nvPr/>
        </p:nvSpPr>
        <p:spPr>
          <a:xfrm>
            <a:off x="3566160" y="6121907"/>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UPS・エンジン発電機ブランド『SANUPS』を展開。データセンター・IT設備の無停電電源需要を取り込む。</a:t>
            </a:r>
          </a:p>
        </p:txBody>
      </p:sp>
      <p:sp>
        <p:nvSpPr>
          <p:cNvPr id="52" name="Rectangle 51"/>
          <p:cNvSpPr/>
          <p:nvPr/>
        </p:nvSpPr>
        <p:spPr>
          <a:xfrm>
            <a:off x="822960" y="6528815"/>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11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12  </a:t>
            </a:r>
            <a:r>
              <a:rPr sz="1250" b="1">
                <a:solidFill>
                  <a:srgbClr val="373C43"/>
                </a:solidFill>
                <a:latin typeface="Noto Sans JP"/>
                <a:ea typeface="Noto Sans JP"/>
              </a:rPr>
              <a:t>非常用発電機・UPS</a:t>
            </a:r>
            <a:r>
              <a:rPr sz="900" b="1">
                <a:solidFill>
                  <a:srgbClr val="9AA1A9"/>
                </a:solidFill>
                <a:latin typeface="Consolas"/>
                <a:ea typeface="Consolas"/>
              </a:rPr>
              <a:t>　4社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3429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オムロン</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6645</a:t>
            </a:r>
          </a:p>
        </p:txBody>
      </p:sp>
      <p:sp>
        <p:nvSpPr>
          <p:cNvPr id="13" name="TextBox 12"/>
          <p:cNvSpPr txBox="1"/>
          <p:nvPr/>
        </p:nvSpPr>
        <p:spPr>
          <a:xfrm>
            <a:off x="3566160" y="1563624"/>
            <a:ext cx="7799831" cy="416052"/>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IT〜産業用まで幅広いUPSをラインナップ。データセンター・設備向けバックアップ電源需要が追い風。※UPSは同社の一事業。</a:t>
            </a:r>
          </a:p>
        </p:txBody>
      </p:sp>
      <p:sp>
        <p:nvSpPr>
          <p:cNvPr id="14" name="Rectangle 13"/>
          <p:cNvSpPr/>
          <p:nvPr/>
        </p:nvSpPr>
        <p:spPr>
          <a:xfrm>
            <a:off x="822960" y="1970531"/>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098548"/>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2034539"/>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13  </a:t>
            </a:r>
            <a:r>
              <a:rPr sz="1250" b="1">
                <a:solidFill>
                  <a:srgbClr val="15181C"/>
                </a:solidFill>
                <a:latin typeface="Noto Sans JP"/>
                <a:ea typeface="Noto Sans JP"/>
              </a:rPr>
              <a:t>防音・免震・セキュリティ</a:t>
            </a:r>
            <a:r>
              <a:rPr sz="900" b="1">
                <a:solidFill>
                  <a:srgbClr val="9AA1A9"/>
                </a:solidFill>
                <a:latin typeface="Consolas"/>
                <a:ea typeface="Consolas"/>
              </a:rPr>
              <a:t>　3社 ・ 優先度 低</a:t>
            </a:r>
          </a:p>
        </p:txBody>
      </p:sp>
      <p:sp>
        <p:nvSpPr>
          <p:cNvPr id="17" name="Rectangle 16"/>
          <p:cNvSpPr/>
          <p:nvPr/>
        </p:nvSpPr>
        <p:spPr>
          <a:xfrm>
            <a:off x="822960" y="2427732"/>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2510027"/>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251002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オイレス工業株式会社</a:t>
            </a:r>
          </a:p>
        </p:txBody>
      </p:sp>
      <p:sp>
        <p:nvSpPr>
          <p:cNvPr id="20" name="TextBox 19"/>
          <p:cNvSpPr txBox="1"/>
          <p:nvPr/>
        </p:nvSpPr>
        <p:spPr>
          <a:xfrm>
            <a:off x="1024128" y="2747772"/>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6282</a:t>
            </a:r>
          </a:p>
        </p:txBody>
      </p:sp>
      <p:sp>
        <p:nvSpPr>
          <p:cNvPr id="21" name="TextBox 20"/>
          <p:cNvSpPr txBox="1"/>
          <p:nvPr/>
        </p:nvSpPr>
        <p:spPr>
          <a:xfrm>
            <a:off x="3566160" y="2510027"/>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都市型データセンター・物流施設向け免震装置のスペックイン提案を構造機器事業の重点領域と位置づけ、大型案件の受注確保に注力している。</a:t>
            </a:r>
          </a:p>
        </p:txBody>
      </p:sp>
      <p:sp>
        <p:nvSpPr>
          <p:cNvPr id="22" name="Rectangle 21"/>
          <p:cNvSpPr/>
          <p:nvPr/>
        </p:nvSpPr>
        <p:spPr>
          <a:xfrm>
            <a:off x="822960" y="311353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317753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31775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日創グループ株式会社</a:t>
            </a:r>
          </a:p>
        </p:txBody>
      </p:sp>
      <p:sp>
        <p:nvSpPr>
          <p:cNvPr id="25" name="TextBox 24"/>
          <p:cNvSpPr txBox="1"/>
          <p:nvPr/>
        </p:nvSpPr>
        <p:spPr>
          <a:xfrm>
            <a:off x="1024128" y="34152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3440</a:t>
            </a:r>
          </a:p>
        </p:txBody>
      </p:sp>
      <p:sp>
        <p:nvSpPr>
          <p:cNvPr id="26" name="TextBox 25"/>
          <p:cNvSpPr txBox="1"/>
          <p:nvPr/>
        </p:nvSpPr>
        <p:spPr>
          <a:xfrm>
            <a:off x="3566160" y="317753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子会社ワタナベテクノスが製造するデータセンター向け非常用発電機用防音筐体・消音ダクトの受注が、生成AI需要によるデータセンター建設急増を背景に拡大し、金属加工事業の増収要因となっている。</a:t>
            </a:r>
          </a:p>
        </p:txBody>
      </p:sp>
      <p:sp>
        <p:nvSpPr>
          <p:cNvPr id="27" name="Rectangle 26"/>
          <p:cNvSpPr/>
          <p:nvPr/>
        </p:nvSpPr>
        <p:spPr>
          <a:xfrm>
            <a:off x="822960" y="37810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845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3845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オプテックスグループ株式会社</a:t>
            </a:r>
          </a:p>
        </p:txBody>
      </p:sp>
      <p:sp>
        <p:nvSpPr>
          <p:cNvPr id="30" name="TextBox 29"/>
          <p:cNvSpPr txBox="1"/>
          <p:nvPr/>
        </p:nvSpPr>
        <p:spPr>
          <a:xfrm>
            <a:off x="1024128" y="408279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6914</a:t>
            </a:r>
          </a:p>
        </p:txBody>
      </p:sp>
      <p:sp>
        <p:nvSpPr>
          <p:cNvPr id="31" name="TextBox 30"/>
          <p:cNvSpPr txBox="1"/>
          <p:nvPr/>
        </p:nvSpPr>
        <p:spPr>
          <a:xfrm>
            <a:off x="3566160" y="3845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AI・データセンター向けインフラ投資拡大を背景に、北米を中心にデータセンター等重要施設向け防犯センサー（レーザースキャンセンサー等の高収益製品）の受注・需要が拡大している。</a:t>
            </a:r>
          </a:p>
        </p:txBody>
      </p:sp>
      <p:sp>
        <p:nvSpPr>
          <p:cNvPr id="32" name="Rectangle 31"/>
          <p:cNvSpPr/>
          <p:nvPr/>
        </p:nvSpPr>
        <p:spPr>
          <a:xfrm>
            <a:off x="822960" y="4448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4576572"/>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512564"/>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14  </a:t>
            </a:r>
            <a:r>
              <a:rPr sz="1250" b="1">
                <a:solidFill>
                  <a:srgbClr val="15181C"/>
                </a:solidFill>
                <a:latin typeface="Noto Sans JP"/>
                <a:ea typeface="Noto Sans JP"/>
              </a:rPr>
              <a:t>建設資材・特殊建材</a:t>
            </a:r>
            <a:r>
              <a:rPr sz="900" b="1">
                <a:solidFill>
                  <a:srgbClr val="9AA1A9"/>
                </a:solidFill>
                <a:latin typeface="Consolas"/>
                <a:ea typeface="Consolas"/>
              </a:rPr>
              <a:t>　1社 ・ 優先度 低</a:t>
            </a:r>
          </a:p>
        </p:txBody>
      </p:sp>
      <p:sp>
        <p:nvSpPr>
          <p:cNvPr id="35" name="Rectangle 34"/>
          <p:cNvSpPr/>
          <p:nvPr/>
        </p:nvSpPr>
        <p:spPr>
          <a:xfrm>
            <a:off x="822960" y="4905756"/>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2960" y="4988051"/>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4128" y="49880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ヤマックス</a:t>
            </a:r>
          </a:p>
        </p:txBody>
      </p:sp>
      <p:sp>
        <p:nvSpPr>
          <p:cNvPr id="38" name="TextBox 37"/>
          <p:cNvSpPr txBox="1"/>
          <p:nvPr/>
        </p:nvSpPr>
        <p:spPr>
          <a:xfrm>
            <a:off x="1024128" y="522579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5285</a:t>
            </a:r>
          </a:p>
        </p:txBody>
      </p:sp>
      <p:sp>
        <p:nvSpPr>
          <p:cNvPr id="39" name="TextBox 38"/>
          <p:cNvSpPr txBox="1"/>
          <p:nvPr/>
        </p:nvSpPr>
        <p:spPr>
          <a:xfrm>
            <a:off x="3566160" y="49880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熊本県内の半導体関連産業集積による工場建設需要でコンクリート二次製品（プレキャスト）の受注が想定超で拡大し、TSMC熊本工場のクリーンルーム床材にも採用。</a:t>
            </a:r>
          </a:p>
        </p:txBody>
      </p:sp>
      <p:sp>
        <p:nvSpPr>
          <p:cNvPr id="40" name="Rectangle 39"/>
          <p:cNvSpPr/>
          <p:nvPr/>
        </p:nvSpPr>
        <p:spPr>
          <a:xfrm>
            <a:off x="822960" y="55915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12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15  </a:t>
            </a:r>
            <a:r>
              <a:rPr sz="1250" b="1">
                <a:solidFill>
                  <a:srgbClr val="15181C"/>
                </a:solidFill>
                <a:latin typeface="Noto Sans JP"/>
                <a:ea typeface="Noto Sans JP"/>
              </a:rPr>
              <a:t>半導体装置 部品・サブシステム</a:t>
            </a:r>
            <a:r>
              <a:rPr sz="900" b="1">
                <a:solidFill>
                  <a:srgbClr val="9AA1A9"/>
                </a:solidFill>
                <a:latin typeface="Consolas"/>
                <a:ea typeface="Consolas"/>
              </a:rPr>
              <a:t>　9社 ・ 優先度 中</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SMC</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6273</a:t>
            </a:r>
          </a:p>
        </p:txBody>
      </p:sp>
      <p:sp>
        <p:nvSpPr>
          <p:cNvPr id="13" name="TextBox 12"/>
          <p:cNvSpPr txBox="1"/>
          <p:nvPr/>
        </p:nvSpPr>
        <p:spPr>
          <a:xfrm>
            <a:off x="3566160" y="156362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空気圧制御機器の世界トップ（グローバルシェア約4割）として半導体製造装置に多用され、AI半導体の前工程投資回復を背景に2026年3月期は売上高8425億円（+6.4%）・経常利益2356億円（+12.2%）と半導体関連需要回復で増収増益。</a:t>
            </a:r>
          </a:p>
        </p:txBody>
      </p:sp>
      <p:sp>
        <p:nvSpPr>
          <p:cNvPr id="14" name="Rectangle 13"/>
          <p:cNvSpPr/>
          <p:nvPr/>
        </p:nvSpPr>
        <p:spPr>
          <a:xfrm>
            <a:off x="822960" y="2167127"/>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231135"/>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23113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CKD</a:t>
            </a:r>
          </a:p>
        </p:txBody>
      </p:sp>
      <p:sp>
        <p:nvSpPr>
          <p:cNvPr id="17" name="TextBox 16"/>
          <p:cNvSpPr txBox="1"/>
          <p:nvPr/>
        </p:nvSpPr>
        <p:spPr>
          <a:xfrm>
            <a:off x="1024128" y="246887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6407</a:t>
            </a:r>
          </a:p>
        </p:txBody>
      </p:sp>
      <p:sp>
        <p:nvSpPr>
          <p:cNvPr id="18" name="TextBox 17"/>
          <p:cNvSpPr txBox="1"/>
          <p:nvPr/>
        </p:nvSpPr>
        <p:spPr>
          <a:xfrm>
            <a:off x="3566160" y="2231135"/>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空気圧・流体制御機器および半導体製造装置向けコンポーネント（薬液用バルブ等）が主力で、半導体関連需要は堅調に推移し海外向け販売が伸長。全社では自動機械の反動減で2026年3月期は減益だが半導体部品事業はAI投資を追い風に底堅い。</a:t>
            </a:r>
          </a:p>
        </p:txBody>
      </p:sp>
      <p:sp>
        <p:nvSpPr>
          <p:cNvPr id="19" name="Rectangle 18"/>
          <p:cNvSpPr/>
          <p:nvPr/>
        </p:nvSpPr>
        <p:spPr>
          <a:xfrm>
            <a:off x="822960" y="2834639"/>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2898647"/>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2898647"/>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日本ピラー工業</a:t>
            </a:r>
          </a:p>
        </p:txBody>
      </p:sp>
      <p:sp>
        <p:nvSpPr>
          <p:cNvPr id="22" name="TextBox 21"/>
          <p:cNvSpPr txBox="1"/>
          <p:nvPr/>
        </p:nvSpPr>
        <p:spPr>
          <a:xfrm>
            <a:off x="1024128" y="3136391"/>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6490</a:t>
            </a:r>
          </a:p>
        </p:txBody>
      </p:sp>
      <p:sp>
        <p:nvSpPr>
          <p:cNvPr id="23" name="TextBox 22"/>
          <p:cNvSpPr txBox="1"/>
          <p:nvPr/>
        </p:nvSpPr>
        <p:spPr>
          <a:xfrm>
            <a:off x="3566160" y="2898647"/>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向け超純水・薬液用フッ素樹脂継手/メカニカルシールで高シェアを持ち、AI半導体の微細化・洗浄工程増で需要拡大。2026年3月期は売上高594.8億円・営業利益121.1億円と増収増益、2027年3月期は売上高700億円・営業利益155億円へ大幅拡大を計画。</a:t>
            </a:r>
          </a:p>
        </p:txBody>
      </p:sp>
      <p:sp>
        <p:nvSpPr>
          <p:cNvPr id="24" name="Rectangle 23"/>
          <p:cNvSpPr/>
          <p:nvPr/>
        </p:nvSpPr>
        <p:spPr>
          <a:xfrm>
            <a:off x="822960" y="36987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762755"/>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762755"/>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イーグル工業</a:t>
            </a:r>
          </a:p>
        </p:txBody>
      </p:sp>
      <p:sp>
        <p:nvSpPr>
          <p:cNvPr id="27" name="TextBox 26"/>
          <p:cNvSpPr txBox="1"/>
          <p:nvPr/>
        </p:nvSpPr>
        <p:spPr>
          <a:xfrm>
            <a:off x="1024128" y="4000499"/>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6486</a:t>
            </a:r>
          </a:p>
        </p:txBody>
      </p:sp>
      <p:sp>
        <p:nvSpPr>
          <p:cNvPr id="28" name="TextBox 27"/>
          <p:cNvSpPr txBox="1"/>
          <p:nvPr/>
        </p:nvSpPr>
        <p:spPr>
          <a:xfrm>
            <a:off x="3566160" y="3762755"/>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製造装置向けメカニカルシールが下期以降に生成AI関連分野中心に回復し、2026年3月期は売上高1774.9億円・営業利益134.7億円（+58.6%）で売上高・経常利益とも過去最高。2027年3月期も生成AI普及を背景に半導体向け販売増を見込む。</a:t>
            </a:r>
          </a:p>
        </p:txBody>
      </p:sp>
      <p:sp>
        <p:nvSpPr>
          <p:cNvPr id="29" name="Rectangle 28"/>
          <p:cNvSpPr/>
          <p:nvPr/>
        </p:nvSpPr>
        <p:spPr>
          <a:xfrm>
            <a:off x="822960" y="45628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62686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62686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堀場製作所</a:t>
            </a:r>
          </a:p>
        </p:txBody>
      </p:sp>
      <p:sp>
        <p:nvSpPr>
          <p:cNvPr id="32" name="TextBox 31"/>
          <p:cNvSpPr txBox="1"/>
          <p:nvPr/>
        </p:nvSpPr>
        <p:spPr>
          <a:xfrm>
            <a:off x="1024128" y="48646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6856</a:t>
            </a:r>
          </a:p>
        </p:txBody>
      </p:sp>
      <p:sp>
        <p:nvSpPr>
          <p:cNvPr id="33" name="TextBox 32"/>
          <p:cNvSpPr txBox="1"/>
          <p:nvPr/>
        </p:nvSpPr>
        <p:spPr>
          <a:xfrm>
            <a:off x="3566160" y="462686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製造装置向けマスフローコントローラ（世界シェア約6割）が主力で、AI・データセンター需要を背景にアジアの半導体装置メーカー向け販売が拡大。半導体セグメントの好調で2026年12月期通期見通しを売上高3730億円・営業利益680億円（+28.2%）へ上方修正。</a:t>
            </a:r>
          </a:p>
        </p:txBody>
      </p:sp>
      <p:sp>
        <p:nvSpPr>
          <p:cNvPr id="34" name="Rectangle 33"/>
          <p:cNvSpPr/>
          <p:nvPr/>
        </p:nvSpPr>
        <p:spPr>
          <a:xfrm>
            <a:off x="822960" y="54269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5490972"/>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54909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ローツェ</a:t>
            </a:r>
          </a:p>
        </p:txBody>
      </p:sp>
      <p:sp>
        <p:nvSpPr>
          <p:cNvPr id="37" name="TextBox 36"/>
          <p:cNvSpPr txBox="1"/>
          <p:nvPr/>
        </p:nvSpPr>
        <p:spPr>
          <a:xfrm>
            <a:off x="1024128" y="57287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6323</a:t>
            </a:r>
          </a:p>
        </p:txBody>
      </p:sp>
      <p:sp>
        <p:nvSpPr>
          <p:cNvPr id="38" name="TextBox 37"/>
          <p:cNvSpPr txBox="1"/>
          <p:nvPr/>
        </p:nvSpPr>
        <p:spPr>
          <a:xfrm>
            <a:off x="3566160" y="549097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半導体搬送ロボット・EFEM・ロードポートで世界シェア25〜35%の隠れたニッチトップ。Applied Materials・TSMCが主要顧客で、AI半導体の前工程装置需要拡大が追い風。2026年2月期は売上高1287.9億円（+3.5%）と増収だが訴訟引当等で減益。</a:t>
            </a:r>
          </a:p>
        </p:txBody>
      </p:sp>
      <p:sp>
        <p:nvSpPr>
          <p:cNvPr id="39" name="Rectangle 38"/>
          <p:cNvSpPr/>
          <p:nvPr/>
        </p:nvSpPr>
        <p:spPr>
          <a:xfrm>
            <a:off x="822960" y="62910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13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15  </a:t>
            </a:r>
            <a:r>
              <a:rPr sz="1250" b="1">
                <a:solidFill>
                  <a:srgbClr val="373C43"/>
                </a:solidFill>
                <a:latin typeface="Noto Sans JP"/>
                <a:ea typeface="Noto Sans JP"/>
              </a:rPr>
              <a:t>半導体装置 部品・サブシステム</a:t>
            </a:r>
            <a:r>
              <a:rPr sz="900" b="1">
                <a:solidFill>
                  <a:srgbClr val="9AA1A9"/>
                </a:solidFill>
                <a:latin typeface="Consolas"/>
                <a:ea typeface="Consolas"/>
              </a:rPr>
              <a:t>　9社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アドバンテスト</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6857</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向け高性能半導体（GPU/HBM/SoC）向け半導体テスタ需要の急拡大により2026年3月期は売上高1兆1286億円（+44.7%）・営業利益4991億円（+118.8%）と過去最高を更新し、2027年3月期は売上高1兆4200億円へさらに拡大を計画。</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ダイフク</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6383</a:t>
            </a:r>
          </a:p>
        </p:txBody>
      </p:sp>
      <p:sp>
        <p:nvSpPr>
          <p:cNvPr id="18" name="TextBox 17"/>
          <p:cNvSpPr txBox="1"/>
          <p:nvPr/>
        </p:nvSpPr>
        <p:spPr>
          <a:xfrm>
            <a:off x="3566160" y="242773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半導体クリーンルーム向けAMHS（自動搬送システム）で世界大手。生成AIによる先端半導体投資拡大を背景に2026年3月期第1四半期の受注高が2213億円（+54.7%）と過去最高を更新し、売上・営業利益とも増加。</a:t>
            </a:r>
          </a:p>
        </p:txBody>
      </p:sp>
      <p:sp>
        <p:nvSpPr>
          <p:cNvPr id="19" name="Rectangle 18"/>
          <p:cNvSpPr/>
          <p:nvPr/>
        </p:nvSpPr>
        <p:spPr>
          <a:xfrm>
            <a:off x="822960" y="303123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095244"/>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309524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フェローテックホールディングス</a:t>
            </a:r>
          </a:p>
        </p:txBody>
      </p:sp>
      <p:sp>
        <p:nvSpPr>
          <p:cNvPr id="22" name="TextBox 21"/>
          <p:cNvSpPr txBox="1"/>
          <p:nvPr/>
        </p:nvSpPr>
        <p:spPr>
          <a:xfrm>
            <a:off x="1024128" y="333298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6890</a:t>
            </a:r>
          </a:p>
        </p:txBody>
      </p:sp>
      <p:sp>
        <p:nvSpPr>
          <p:cNvPr id="23" name="TextBox 22"/>
          <p:cNvSpPr txBox="1"/>
          <p:nvPr/>
        </p:nvSpPr>
        <p:spPr>
          <a:xfrm>
            <a:off x="3566160" y="309524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製造装置向け真空シール・石英/セラミック等の部品・消耗品事業が主力で、生成AIサーバー投資・メモリ製造装置投資の拡大が追い風。2026年3月期は半導体等装置関連事業が好調で増収増益、部品加工能力の増強を推進。</a:t>
            </a:r>
          </a:p>
        </p:txBody>
      </p:sp>
      <p:sp>
        <p:nvSpPr>
          <p:cNvPr id="24" name="Rectangle 23"/>
          <p:cNvSpPr/>
          <p:nvPr/>
        </p:nvSpPr>
        <p:spPr>
          <a:xfrm>
            <a:off x="822960" y="369874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82676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8992" y="3762755"/>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16  </a:t>
            </a:r>
            <a:r>
              <a:rPr sz="1250" b="1">
                <a:solidFill>
                  <a:srgbClr val="15181C"/>
                </a:solidFill>
                <a:latin typeface="Noto Sans JP"/>
                <a:ea typeface="Noto Sans JP"/>
              </a:rPr>
              <a:t>電子部品・基板・産業ガス</a:t>
            </a:r>
            <a:r>
              <a:rPr sz="900" b="1">
                <a:solidFill>
                  <a:srgbClr val="9AA1A9"/>
                </a:solidFill>
                <a:latin typeface="Consolas"/>
                <a:ea typeface="Consolas"/>
              </a:rPr>
              <a:t>　8社 ・ 優先度 中</a:t>
            </a:r>
          </a:p>
        </p:txBody>
      </p:sp>
      <p:sp>
        <p:nvSpPr>
          <p:cNvPr id="27" name="Rectangle 26"/>
          <p:cNvSpPr/>
          <p:nvPr/>
        </p:nvSpPr>
        <p:spPr>
          <a:xfrm>
            <a:off x="822960" y="415594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238243"/>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4238243"/>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イビデン</a:t>
            </a:r>
          </a:p>
        </p:txBody>
      </p:sp>
      <p:sp>
        <p:nvSpPr>
          <p:cNvPr id="30" name="TextBox 29"/>
          <p:cNvSpPr txBox="1"/>
          <p:nvPr/>
        </p:nvSpPr>
        <p:spPr>
          <a:xfrm>
            <a:off x="1024128" y="447598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4062</a:t>
            </a:r>
          </a:p>
        </p:txBody>
      </p:sp>
      <p:sp>
        <p:nvSpPr>
          <p:cNvPr id="31" name="TextBox 30"/>
          <p:cNvSpPr txBox="1"/>
          <p:nvPr/>
        </p:nvSpPr>
        <p:spPr>
          <a:xfrm>
            <a:off x="3566160" y="4238243"/>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サーバー向けICパッケージ基板の受注が堅調で2026年3月期は売上高4162億円（+12.7%）・営業利益620億円（+30.3%）と増収増益。2026年度から3年間で総額5000億円を投じAIサーバー向け基板の生産能力を2028年3月期に2.5倍へ拡大する計画。</a:t>
            </a:r>
          </a:p>
        </p:txBody>
      </p:sp>
      <p:sp>
        <p:nvSpPr>
          <p:cNvPr id="32" name="Rectangle 31"/>
          <p:cNvSpPr/>
          <p:nvPr/>
        </p:nvSpPr>
        <p:spPr>
          <a:xfrm>
            <a:off x="822960" y="50383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 y="5102351"/>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51023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新光電気工業</a:t>
            </a:r>
          </a:p>
        </p:txBody>
      </p:sp>
      <p:sp>
        <p:nvSpPr>
          <p:cNvPr id="35" name="TextBox 34"/>
          <p:cNvSpPr txBox="1"/>
          <p:nvPr/>
        </p:nvSpPr>
        <p:spPr>
          <a:xfrm>
            <a:off x="1024128" y="534009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6967</a:t>
            </a:r>
          </a:p>
        </p:txBody>
      </p:sp>
      <p:sp>
        <p:nvSpPr>
          <p:cNvPr id="36" name="TextBox 35"/>
          <p:cNvSpPr txBox="1"/>
          <p:nvPr/>
        </p:nvSpPr>
        <p:spPr>
          <a:xfrm>
            <a:off x="3566160" y="51023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CPU/GPU向け高性能半導体パッケージ基板（FC-BGA）大手で、AI向け半導体需要の拡大がメタルパッケージ事業等を牽引。JIC傘下で非上場化し、AIパッケージング需要を背景に成長投資を進める。</a:t>
            </a:r>
          </a:p>
        </p:txBody>
      </p:sp>
      <p:sp>
        <p:nvSpPr>
          <p:cNvPr id="37" name="Rectangle 36"/>
          <p:cNvSpPr/>
          <p:nvPr/>
        </p:nvSpPr>
        <p:spPr>
          <a:xfrm>
            <a:off x="822960" y="57058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5769864"/>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 y="576986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村田製作所</a:t>
            </a:r>
          </a:p>
        </p:txBody>
      </p:sp>
      <p:sp>
        <p:nvSpPr>
          <p:cNvPr id="40" name="TextBox 39"/>
          <p:cNvSpPr txBox="1"/>
          <p:nvPr/>
        </p:nvSpPr>
        <p:spPr>
          <a:xfrm>
            <a:off x="1024128" y="60076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6981</a:t>
            </a:r>
          </a:p>
        </p:txBody>
      </p:sp>
      <p:sp>
        <p:nvSpPr>
          <p:cNvPr id="41" name="TextBox 40"/>
          <p:cNvSpPr txBox="1"/>
          <p:nvPr/>
        </p:nvSpPr>
        <p:spPr>
          <a:xfrm>
            <a:off x="3566160" y="5769864"/>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MLCCで世界シェア4割強の首位。AIサーバー1台に約3万個のMLCCが必要（従来サーバーの5〜10倍）で需要が急拡大し、2026年4月から15〜35%の価格改定を実施。2027年3月期はAIサーバー需要を背景に増収・営業利益+34.8%を見込む。</a:t>
            </a:r>
          </a:p>
        </p:txBody>
      </p:sp>
      <p:sp>
        <p:nvSpPr>
          <p:cNvPr id="42" name="Rectangle 41"/>
          <p:cNvSpPr/>
          <p:nvPr/>
        </p:nvSpPr>
        <p:spPr>
          <a:xfrm>
            <a:off x="822960" y="6373368"/>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14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16  </a:t>
            </a:r>
            <a:r>
              <a:rPr sz="1250" b="1">
                <a:solidFill>
                  <a:srgbClr val="373C43"/>
                </a:solidFill>
                <a:latin typeface="Noto Sans JP"/>
                <a:ea typeface="Noto Sans JP"/>
              </a:rPr>
              <a:t>電子部品・基板・産業ガス</a:t>
            </a:r>
            <a:r>
              <a:rPr sz="900" b="1">
                <a:solidFill>
                  <a:srgbClr val="9AA1A9"/>
                </a:solidFill>
                <a:latin typeface="Consolas"/>
                <a:ea typeface="Consolas"/>
              </a:rPr>
              <a:t>　8社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TDK</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6762</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データセンター向けニアラインHDD用部品・パッシブ部品が牽引し2026年3月期は売上高2兆5048億円（+13.6%）・営業利益2724億円（+21.5%）と過去最高。経営陣はAIデータセンター向けパッシブ部品売上を約10倍に拡大する方針を表明。</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日本酸素ホールディングス</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4091</a:t>
            </a:r>
          </a:p>
        </p:txBody>
      </p:sp>
      <p:sp>
        <p:nvSpPr>
          <p:cNvPr id="18" name="TextBox 17"/>
          <p:cNvSpPr txBox="1"/>
          <p:nvPr/>
        </p:nvSpPr>
        <p:spPr>
          <a:xfrm>
            <a:off x="3566160" y="2427732"/>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産業ガス国内首位・エレクトロニクス向け特殊ガスで世界3強。半導体向け特殊ガス・オンサイトガス供給がAI半導体増産を背景に堅調で、2026年3月期第3四半期累計は売上収益9977億円（+2.7%）・営業利益1461億円（+13.5%）と増収増益。</a:t>
            </a:r>
          </a:p>
        </p:txBody>
      </p:sp>
      <p:sp>
        <p:nvSpPr>
          <p:cNvPr id="19" name="Rectangle 18"/>
          <p:cNvSpPr/>
          <p:nvPr/>
        </p:nvSpPr>
        <p:spPr>
          <a:xfrm>
            <a:off x="822960" y="303123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095244"/>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309524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関東電化工業</a:t>
            </a:r>
          </a:p>
        </p:txBody>
      </p:sp>
      <p:sp>
        <p:nvSpPr>
          <p:cNvPr id="22" name="TextBox 21"/>
          <p:cNvSpPr txBox="1"/>
          <p:nvPr/>
        </p:nvSpPr>
        <p:spPr>
          <a:xfrm>
            <a:off x="1024128" y="333298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4047</a:t>
            </a:r>
          </a:p>
        </p:txBody>
      </p:sp>
      <p:sp>
        <p:nvSpPr>
          <p:cNvPr id="23" name="TextBox 22"/>
          <p:cNvSpPr txBox="1"/>
          <p:nvPr/>
        </p:nvSpPr>
        <p:spPr>
          <a:xfrm>
            <a:off x="3566160" y="309524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エッチング・クリーニング用含フッ素特殊ガス等の精密化学品が主力で、AI半導体増産を背景に需要拡大。2026年3月期は売上高654億円（+4.9%）・経常利益66.3億円（+47.1%）と大幅増益、2027年3月期は売上高950億円・経常利益100億円へ拡大を計画。</a:t>
            </a:r>
          </a:p>
        </p:txBody>
      </p:sp>
      <p:sp>
        <p:nvSpPr>
          <p:cNvPr id="24" name="Rectangle 23"/>
          <p:cNvSpPr/>
          <p:nvPr/>
        </p:nvSpPr>
        <p:spPr>
          <a:xfrm>
            <a:off x="822960" y="38953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959352"/>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95935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トリケミカル研究所</a:t>
            </a:r>
          </a:p>
        </p:txBody>
      </p:sp>
      <p:sp>
        <p:nvSpPr>
          <p:cNvPr id="27" name="TextBox 26"/>
          <p:cNvSpPr txBox="1"/>
          <p:nvPr/>
        </p:nvSpPr>
        <p:spPr>
          <a:xfrm>
            <a:off x="1024128" y="419709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4369</a:t>
            </a:r>
          </a:p>
        </p:txBody>
      </p:sp>
      <p:sp>
        <p:nvSpPr>
          <p:cNvPr id="28" name="TextBox 27"/>
          <p:cNvSpPr txBox="1"/>
          <p:nvPr/>
        </p:nvSpPr>
        <p:spPr>
          <a:xfrm>
            <a:off x="3566160" y="395935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半導体微細化に不可欠なHigh-k材料等の超高純度前駆体材料で高シェア。生成AI需要を背景に2026年1月期第3四半期累計は売上高180.1億円（+37.4%）・営業利益45.6億円（+30.2%）と増収増益、2027年1月期もAI半導体向け需要増が続く。</a:t>
            </a:r>
          </a:p>
        </p:txBody>
      </p:sp>
      <p:sp>
        <p:nvSpPr>
          <p:cNvPr id="29" name="Rectangle 28"/>
          <p:cNvSpPr/>
          <p:nvPr/>
        </p:nvSpPr>
        <p:spPr>
          <a:xfrm>
            <a:off x="822960" y="475945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823460"/>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823460"/>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太陽誘電</a:t>
            </a:r>
          </a:p>
        </p:txBody>
      </p:sp>
      <p:sp>
        <p:nvSpPr>
          <p:cNvPr id="32" name="TextBox 31"/>
          <p:cNvSpPr txBox="1"/>
          <p:nvPr/>
        </p:nvSpPr>
        <p:spPr>
          <a:xfrm>
            <a:off x="1024128" y="506120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6976</a:t>
            </a:r>
          </a:p>
        </p:txBody>
      </p:sp>
      <p:sp>
        <p:nvSpPr>
          <p:cNvPr id="33" name="TextBox 32"/>
          <p:cNvSpPr txBox="1"/>
          <p:nvPr/>
        </p:nvSpPr>
        <p:spPr>
          <a:xfrm>
            <a:off x="3566160" y="4823460"/>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AIサーバー向けMLCC需要（1台あたり約2.8万個、従来サーバーの約10倍超）が急拡大し2026年3月期は営業利益200億円（+91.2%）・純利益は前年の5.4倍。2027年3月期は営業利益300億円（+50%）を計画し受注のブック・ツー・ビルは1.25と高水準。</a:t>
            </a:r>
          </a:p>
        </p:txBody>
      </p:sp>
      <p:sp>
        <p:nvSpPr>
          <p:cNvPr id="34" name="Rectangle 33"/>
          <p:cNvSpPr/>
          <p:nvPr/>
        </p:nvSpPr>
        <p:spPr>
          <a:xfrm>
            <a:off x="822960" y="5623560"/>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15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E60012"/>
                </a:solidFill>
                <a:latin typeface="Consolas"/>
                <a:ea typeface="Consolas"/>
              </a:rPr>
              <a:t>17  </a:t>
            </a:r>
            <a:r>
              <a:rPr sz="1250" b="1">
                <a:solidFill>
                  <a:srgbClr val="15181C"/>
                </a:solidFill>
                <a:latin typeface="Noto Sans JP"/>
                <a:ea typeface="Noto Sans JP"/>
              </a:rPr>
              <a:t>DC構築SI・DC運営</a:t>
            </a:r>
            <a:r>
              <a:rPr sz="900" b="1">
                <a:solidFill>
                  <a:srgbClr val="9AA1A9"/>
                </a:solidFill>
                <a:latin typeface="Consolas"/>
                <a:ea typeface="Consolas"/>
              </a:rPr>
              <a:t>　8社 ・ 優先度 中</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さくらインターネット</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3778</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生成AI向けGPUインフラ拡大に向け石狩DCの拡張・液冷導入を進めコンテナ型DCでNVIDIA Blackwell GPU約1100基を稼働。2026年3月期のDC設備投資は668億円規模でGPUインフラ売上は前期比+20.3%（発注者A：自社DC新設・GPU据付を発注）。</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インターネットイニシアティブ</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3774</a:t>
            </a:r>
          </a:p>
        </p:txBody>
      </p:sp>
      <p:sp>
        <p:nvSpPr>
          <p:cNvPr id="18" name="TextBox 17"/>
          <p:cNvSpPr txBox="1"/>
          <p:nvPr/>
        </p:nvSpPr>
        <p:spPr>
          <a:xfrm>
            <a:off x="3566160" y="242773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自社サービス需要拡大で白井DCキャンパス3期棟（約1000ラック規模・投資額約300億円）を増設し2026年度運用開始。AI用GPUサーバーの高発熱に備え直接水冷（DLC）対応の水冷Ready設計を採用（発注者A：DC新設・水冷配管/AIサーバー据付を発注）。</a:t>
            </a:r>
          </a:p>
        </p:txBody>
      </p:sp>
      <p:sp>
        <p:nvSpPr>
          <p:cNvPr id="19" name="Rectangle 18"/>
          <p:cNvSpPr/>
          <p:nvPr/>
        </p:nvSpPr>
        <p:spPr>
          <a:xfrm>
            <a:off x="822960" y="322783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3291839"/>
            <a:ext cx="50292" cy="53949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3291839"/>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NTTデータグループ</a:t>
            </a:r>
          </a:p>
        </p:txBody>
      </p:sp>
      <p:sp>
        <p:nvSpPr>
          <p:cNvPr id="22" name="TextBox 21"/>
          <p:cNvSpPr txBox="1"/>
          <p:nvPr/>
        </p:nvSpPr>
        <p:spPr>
          <a:xfrm>
            <a:off x="1024128" y="3529584"/>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9613</a:t>
            </a:r>
          </a:p>
        </p:txBody>
      </p:sp>
      <p:sp>
        <p:nvSpPr>
          <p:cNvPr id="23" name="TextBox 22"/>
          <p:cNvSpPr txBox="1"/>
          <p:nvPr/>
        </p:nvSpPr>
        <p:spPr>
          <a:xfrm>
            <a:off x="3566160" y="3291839"/>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DCをAI時代の中核インフラと位置づけ2030年度に3ギガワット超の提供規模を目標。外部ファンドと共同出資会社を設立し今後5年でDC投資を数千億円積み増す計画でAIを成長エンジンに営業収益は初の5兆円超（発注者A：ハイパースケールDC新設を発注）。</a:t>
            </a:r>
          </a:p>
        </p:txBody>
      </p:sp>
      <p:sp>
        <p:nvSpPr>
          <p:cNvPr id="24" name="Rectangle 23"/>
          <p:cNvSpPr/>
          <p:nvPr/>
        </p:nvSpPr>
        <p:spPr>
          <a:xfrm>
            <a:off x="822960" y="389534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959351"/>
            <a:ext cx="50292" cy="539496"/>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4128" y="3959351"/>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アイネット</a:t>
            </a:r>
          </a:p>
        </p:txBody>
      </p:sp>
      <p:sp>
        <p:nvSpPr>
          <p:cNvPr id="27" name="TextBox 26"/>
          <p:cNvSpPr txBox="1"/>
          <p:nvPr/>
        </p:nvSpPr>
        <p:spPr>
          <a:xfrm>
            <a:off x="1024128" y="4197095"/>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9600</a:t>
            </a:r>
          </a:p>
        </p:txBody>
      </p:sp>
      <p:sp>
        <p:nvSpPr>
          <p:cNvPr id="28" name="TextBox 27"/>
          <p:cNvSpPr txBox="1"/>
          <p:nvPr/>
        </p:nvSpPr>
        <p:spPr>
          <a:xfrm>
            <a:off x="3566160" y="3959351"/>
            <a:ext cx="7799831" cy="612647"/>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横浜の自社DCと連携する新DC「inet annex」を2026年1月に開所しDC・クラウド事業で増収増益を継続。生成AI・GPU需要の受け皿を拡張（発注者A：自社DC新設・増床を発注／上場廃止予定）。</a:t>
            </a:r>
          </a:p>
        </p:txBody>
      </p:sp>
      <p:sp>
        <p:nvSpPr>
          <p:cNvPr id="29" name="Rectangle 28"/>
          <p:cNvSpPr/>
          <p:nvPr/>
        </p:nvSpPr>
        <p:spPr>
          <a:xfrm>
            <a:off x="822960" y="4562856"/>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4626864"/>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 y="462686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兼松エレクトロニクス</a:t>
            </a:r>
          </a:p>
        </p:txBody>
      </p:sp>
      <p:sp>
        <p:nvSpPr>
          <p:cNvPr id="32" name="TextBox 31"/>
          <p:cNvSpPr txBox="1"/>
          <p:nvPr/>
        </p:nvSpPr>
        <p:spPr>
          <a:xfrm>
            <a:off x="1024128" y="4864607"/>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8096</a:t>
            </a:r>
          </a:p>
        </p:txBody>
      </p:sp>
      <p:sp>
        <p:nvSpPr>
          <p:cNvPr id="33" name="TextBox 32"/>
          <p:cNvSpPr txBox="1"/>
          <p:nvPr/>
        </p:nvSpPr>
        <p:spPr>
          <a:xfrm>
            <a:off x="3566160" y="462686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ネットワーク機器・生成AI関連機器の需要とDCインフラ構築需要で3期ぶり増収増益。2026年3月期は売上収益1073億円（+9.7%）・営業利益108億円（+37.2%）2027年3月期は売上1288億円（+20.0%）で過去最高益計画（請負B：サーバー/NW機器の設計・構築・据付を担うITファシリティSIer）。</a:t>
            </a:r>
          </a:p>
        </p:txBody>
      </p:sp>
      <p:sp>
        <p:nvSpPr>
          <p:cNvPr id="34" name="Rectangle 33"/>
          <p:cNvSpPr/>
          <p:nvPr/>
        </p:nvSpPr>
        <p:spPr>
          <a:xfrm>
            <a:off x="822960" y="542696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 y="5490972"/>
            <a:ext cx="50292" cy="736092"/>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549097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伊藤忠テクノソリューションズ</a:t>
            </a:r>
          </a:p>
        </p:txBody>
      </p:sp>
      <p:sp>
        <p:nvSpPr>
          <p:cNvPr id="37" name="TextBox 36"/>
          <p:cNvSpPr txBox="1"/>
          <p:nvPr/>
        </p:nvSpPr>
        <p:spPr>
          <a:xfrm>
            <a:off x="1024128" y="572871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4739</a:t>
            </a:r>
          </a:p>
        </p:txBody>
      </p:sp>
      <p:sp>
        <p:nvSpPr>
          <p:cNvPr id="38" name="TextBox 37"/>
          <p:cNvSpPr txBox="1"/>
          <p:nvPr/>
        </p:nvSpPr>
        <p:spPr>
          <a:xfrm>
            <a:off x="3566160" y="549097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クラウド・GPU基盤サービスが牽引し2026年3月期は売上収益7937億円（+9%）・営業利益804億円（+19%）2027年3月期も増益計画。オンプレ生成AI基盤「CUVIC GPU Zero」等を展開（A＋Bハイブリッド：自社DC発注＋顧客DC/GPU基盤の構築・据付を請負）。</a:t>
            </a:r>
          </a:p>
        </p:txBody>
      </p:sp>
      <p:sp>
        <p:nvSpPr>
          <p:cNvPr id="39" name="Rectangle 38"/>
          <p:cNvSpPr/>
          <p:nvPr/>
        </p:nvSpPr>
        <p:spPr>
          <a:xfrm>
            <a:off x="822960" y="629107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548640"/>
            <a:ext cx="128016" cy="128016"/>
          </a:xfrm>
          <a:prstGeom prst="rect">
            <a:avLst/>
          </a:prstGeom>
          <a:solidFill>
            <a:srgbClr val="E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2415" y="484632"/>
            <a:ext cx="8686800" cy="256032"/>
          </a:xfrm>
          <a:prstGeom prst="rect">
            <a:avLst/>
          </a:prstGeom>
          <a:noFill/>
        </p:spPr>
        <p:txBody>
          <a:bodyPr wrap="square" anchor="t" lIns="0" rIns="0" tIns="0" bIns="0">
            <a:spAutoFit/>
          </a:bodyPr>
          <a:lstStyle/>
          <a:p>
            <a:pPr algn="l">
              <a:lnSpc>
                <a:spcPct val="110000"/>
              </a:lnSpc>
              <a:spcBef>
                <a:spcPts val="0"/>
              </a:spcBef>
              <a:spcAft>
                <a:spcPts val="400"/>
              </a:spcAft>
            </a:pPr>
            <a:r>
              <a:rPr sz="1150" b="1" spc="150">
                <a:solidFill>
                  <a:srgbClr val="E60012"/>
                </a:solidFill>
                <a:latin typeface="Consolas"/>
                <a:ea typeface="Consolas"/>
              </a:rPr>
              <a:t>APPENDIX ・ バリューチェーン別 キー企業一覧</a:t>
            </a:r>
          </a:p>
        </p:txBody>
      </p:sp>
      <p:sp>
        <p:nvSpPr>
          <p:cNvPr id="5" name="TextBox 4"/>
          <p:cNvSpPr txBox="1"/>
          <p:nvPr/>
        </p:nvSpPr>
        <p:spPr>
          <a:xfrm>
            <a:off x="9902952" y="484632"/>
            <a:ext cx="1463040" cy="256032"/>
          </a:xfrm>
          <a:prstGeom prst="rect">
            <a:avLst/>
          </a:prstGeom>
          <a:noFill/>
        </p:spPr>
        <p:txBody>
          <a:bodyPr wrap="square" anchor="t" lIns="0" rIns="0" tIns="0" bIns="0">
            <a:spAutoFit/>
          </a:bodyPr>
          <a:lstStyle/>
          <a:p>
            <a:pPr algn="r">
              <a:lnSpc>
                <a:spcPct val="110000"/>
              </a:lnSpc>
              <a:spcBef>
                <a:spcPts val="0"/>
              </a:spcBef>
              <a:spcAft>
                <a:spcPts val="400"/>
              </a:spcAft>
            </a:pPr>
            <a:r>
              <a:rPr sz="1150" b="1">
                <a:solidFill>
                  <a:srgbClr val="9AA1A9"/>
                </a:solidFill>
                <a:latin typeface="Consolas"/>
                <a:ea typeface="Consolas"/>
              </a:rPr>
              <a:t>付録 16 / 16</a:t>
            </a:r>
          </a:p>
        </p:txBody>
      </p:sp>
      <p:sp>
        <p:nvSpPr>
          <p:cNvPr id="6" name="Rectangle 5"/>
          <p:cNvSpPr/>
          <p:nvPr/>
        </p:nvSpPr>
        <p:spPr>
          <a:xfrm>
            <a:off x="822960" y="877824"/>
            <a:ext cx="10543032" cy="1524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152143"/>
            <a:ext cx="118872" cy="237744"/>
          </a:xfrm>
          <a:prstGeom prst="rect">
            <a:avLst/>
          </a:prstGeom>
          <a:solidFill>
            <a:srgbClr val="D2D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088136"/>
            <a:ext cx="10287000" cy="292608"/>
          </a:xfrm>
          <a:prstGeom prst="rect">
            <a:avLst/>
          </a:prstGeom>
          <a:noFill/>
        </p:spPr>
        <p:txBody>
          <a:bodyPr wrap="square" anchor="t" lIns="0" rIns="0" tIns="0" bIns="0">
            <a:spAutoFit/>
          </a:bodyPr>
          <a:lstStyle/>
          <a:p>
            <a:pPr algn="l">
              <a:lnSpc>
                <a:spcPct val="100000"/>
              </a:lnSpc>
              <a:spcBef>
                <a:spcPts val="0"/>
              </a:spcBef>
              <a:spcAft>
                <a:spcPts val="400"/>
              </a:spcAft>
            </a:pPr>
            <a:r>
              <a:rPr sz="1100" b="1">
                <a:solidFill>
                  <a:srgbClr val="9AA1A9"/>
                </a:solidFill>
                <a:latin typeface="Consolas"/>
                <a:ea typeface="Consolas"/>
              </a:rPr>
              <a:t>17  </a:t>
            </a:r>
            <a:r>
              <a:rPr sz="1250" b="1">
                <a:solidFill>
                  <a:srgbClr val="373C43"/>
                </a:solidFill>
                <a:latin typeface="Noto Sans JP"/>
                <a:ea typeface="Noto Sans JP"/>
              </a:rPr>
              <a:t>DC構築SI・DC運営</a:t>
            </a:r>
            <a:r>
              <a:rPr sz="900" b="1">
                <a:solidFill>
                  <a:srgbClr val="9AA1A9"/>
                </a:solidFill>
                <a:latin typeface="Consolas"/>
                <a:ea typeface="Consolas"/>
              </a:rPr>
              <a:t>　8社 ・ 優先度 中　（続き）</a:t>
            </a:r>
          </a:p>
        </p:txBody>
      </p:sp>
      <p:sp>
        <p:nvSpPr>
          <p:cNvPr id="9" name="Rectangle 8"/>
          <p:cNvSpPr/>
          <p:nvPr/>
        </p:nvSpPr>
        <p:spPr>
          <a:xfrm>
            <a:off x="822960" y="1481328"/>
            <a:ext cx="10543032" cy="12700"/>
          </a:xfrm>
          <a:prstGeom prst="rect">
            <a:avLst/>
          </a:prstGeom>
          <a:solidFill>
            <a:srgbClr val="D6DA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63624"/>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1563624"/>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NECネッツエスアイ</a:t>
            </a:r>
          </a:p>
        </p:txBody>
      </p:sp>
      <p:sp>
        <p:nvSpPr>
          <p:cNvPr id="12" name="TextBox 11"/>
          <p:cNvSpPr txBox="1"/>
          <p:nvPr/>
        </p:nvSpPr>
        <p:spPr>
          <a:xfrm>
            <a:off x="1024128" y="1801368"/>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3" name="TextBox 12"/>
          <p:cNvSpPr txBox="1"/>
          <p:nvPr/>
        </p:nvSpPr>
        <p:spPr>
          <a:xfrm>
            <a:off x="3566160" y="1563624"/>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企業のAIエージェント/AIインフラ（NW・セキュリティ・コンピューティング）の設計・構築を提供しシスコと連携しCisco AI PODs等を活用した最先端AIインフラ構築・実証を推進（請負B：NW・通信設備・DCファシリティの物理構築/据付を担うエンジニアリング系SIer）。</a:t>
            </a:r>
          </a:p>
        </p:txBody>
      </p:sp>
      <p:sp>
        <p:nvSpPr>
          <p:cNvPr id="14" name="Rectangle 13"/>
          <p:cNvSpPr/>
          <p:nvPr/>
        </p:nvSpPr>
        <p:spPr>
          <a:xfrm>
            <a:off x="822960" y="2363724"/>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427732"/>
            <a:ext cx="50292" cy="736092"/>
          </a:xfrm>
          <a:prstGeom prst="rect">
            <a:avLst/>
          </a:prstGeom>
          <a:solidFill>
            <a:srgbClr val="535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427732"/>
            <a:ext cx="2331720" cy="237744"/>
          </a:xfrm>
          <a:prstGeom prst="rect">
            <a:avLst/>
          </a:prstGeom>
          <a:noFill/>
        </p:spPr>
        <p:txBody>
          <a:bodyPr wrap="square" anchor="t" lIns="0" rIns="0" tIns="0" bIns="0">
            <a:spAutoFit/>
          </a:bodyPr>
          <a:lstStyle/>
          <a:p>
            <a:pPr algn="l">
              <a:lnSpc>
                <a:spcPct val="110000"/>
              </a:lnSpc>
              <a:spcBef>
                <a:spcPts val="0"/>
              </a:spcBef>
              <a:spcAft>
                <a:spcPts val="400"/>
              </a:spcAft>
            </a:pPr>
            <a:r>
              <a:rPr sz="1050" b="1">
                <a:solidFill>
                  <a:srgbClr val="15181C"/>
                </a:solidFill>
                <a:latin typeface="Noto Sans JP"/>
                <a:ea typeface="Noto Sans JP"/>
              </a:rPr>
              <a:t>NTTファシリティーズ</a:t>
            </a:r>
          </a:p>
        </p:txBody>
      </p:sp>
      <p:sp>
        <p:nvSpPr>
          <p:cNvPr id="17" name="TextBox 16"/>
          <p:cNvSpPr txBox="1"/>
          <p:nvPr/>
        </p:nvSpPr>
        <p:spPr>
          <a:xfrm>
            <a:off x="1024128" y="2665476"/>
            <a:ext cx="2331720" cy="201168"/>
          </a:xfrm>
          <a:prstGeom prst="rect">
            <a:avLst/>
          </a:prstGeom>
          <a:noFill/>
        </p:spPr>
        <p:txBody>
          <a:bodyPr wrap="square" anchor="t" lIns="0" rIns="0" tIns="0" bIns="0">
            <a:spAutoFit/>
          </a:bodyPr>
          <a:lstStyle/>
          <a:p>
            <a:pPr algn="l">
              <a:lnSpc>
                <a:spcPct val="110000"/>
              </a:lnSpc>
              <a:spcBef>
                <a:spcPts val="0"/>
              </a:spcBef>
              <a:spcAft>
                <a:spcPts val="400"/>
              </a:spcAft>
            </a:pPr>
            <a:r>
              <a:rPr sz="850" b="1">
                <a:solidFill>
                  <a:srgbClr val="9AA1A9"/>
                </a:solidFill>
                <a:latin typeface="Consolas"/>
                <a:ea typeface="Consolas"/>
              </a:rPr>
              <a:t>非上場</a:t>
            </a:r>
          </a:p>
        </p:txBody>
      </p:sp>
      <p:sp>
        <p:nvSpPr>
          <p:cNvPr id="18" name="TextBox 17"/>
          <p:cNvSpPr txBox="1"/>
          <p:nvPr/>
        </p:nvSpPr>
        <p:spPr>
          <a:xfrm>
            <a:off x="3566160" y="2427732"/>
            <a:ext cx="7799831" cy="809244"/>
          </a:xfrm>
          <a:prstGeom prst="rect">
            <a:avLst/>
          </a:prstGeom>
          <a:noFill/>
        </p:spPr>
        <p:txBody>
          <a:bodyPr wrap="square" anchor="t" lIns="0" rIns="0" tIns="0" bIns="0">
            <a:spAutoFit/>
          </a:bodyPr>
          <a:lstStyle/>
          <a:p>
            <a:pPr algn="l">
              <a:lnSpc>
                <a:spcPct val="114000"/>
              </a:lnSpc>
              <a:spcBef>
                <a:spcPts val="0"/>
              </a:spcBef>
              <a:spcAft>
                <a:spcPts val="400"/>
              </a:spcAft>
            </a:pPr>
            <a:r>
              <a:rPr sz="950" b="0">
                <a:solidFill>
                  <a:srgbClr val="373C43"/>
                </a:solidFill>
                <a:latin typeface="Noto Sans JP"/>
                <a:ea typeface="Noto Sans JP"/>
              </a:rPr>
              <a:t>生成AI時代の高発熱GPUサーバー対応のDC冷却（液冷・チラーレス液冷空調含む）の設計・施工力を強化し武蔵野に空調実機と模擬負荷（空冷420kW・液冷216kW）を備えた検証施設を構築（請負B：電源・空調・液冷設備の据付/試運転を担うDC設計施工大手）。</a:t>
            </a:r>
          </a:p>
        </p:txBody>
      </p:sp>
      <p:sp>
        <p:nvSpPr>
          <p:cNvPr id="19" name="Rectangle 18"/>
          <p:cNvSpPr/>
          <p:nvPr/>
        </p:nvSpPr>
        <p:spPr>
          <a:xfrm>
            <a:off x="822960" y="3227832"/>
            <a:ext cx="10543032" cy="7620"/>
          </a:xfrm>
          <a:prstGeom prst="rect">
            <a:avLst/>
          </a:prstGeom>
          <a:solidFill>
            <a:srgbClr val="E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