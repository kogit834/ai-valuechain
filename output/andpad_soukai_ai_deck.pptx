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0759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·  WHY MANUFACTURING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0789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なぜ、いま</a:t>
            </a:r>
            <a:r>
              <a:rPr sz="39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069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AIが、日本の製造業を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“歴史的な建設・据付ラッシュ”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に変えている。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02920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21208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世界のAIマネーが、発電・変圧器・冷却・半導体の“設備投資と現場”になって日本に降ってくる。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増える現場、足りない人手。その差を埋めるのが、我々ANDPADの現場管理だ。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なぜ、いま製造業がアツいのか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AIブームは“クラウドの話”ではない。電気と鉄と現場の話だ。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DC（データセンター）1棟で数万世帯分の電力。膨大な発電・変圧器・冷却・半導体が要る。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製造業が一斉に動き出す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重電・電線・空調・UPS・半導体——各社が工場を増設し、機器の製造・納入・据付が全国で立ち上がる。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“現場”が全国で急増する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工場を建てる現場も、機器を据え付け・試運転・保守する現場も、同時多発で増えていく。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61188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1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いま製造業は、建設業のように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“現場だらけ”</a:t>
            </a: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になっている。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708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＝ 我々が建設業で磨いた「現場管理」が、そのまま効く土俵が、製造業に新しく生まれている。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634472" cy="11430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しかもこれは、一過性のブームではない。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424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各社の受注残・設備投資計画・売上ガイダンスに裏打ちされた、数年〜十数年続く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構造需要</a:t>
            </a: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① グローバル：AI市場の盛り上がりは、どれくらいの規模か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AI投資は、桁が違う。国家予算級のマネーが動いている。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3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3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約110兆円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Big Tech 4社のAI投資（2026年・年間）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MS・Google・Amazon・Metaの設備投資合計 約7,250億ドル。前年比 +77%。ほぼ全額がAIインフラ。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6928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6928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4672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約780兆円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4672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世界のAI DC投資（2030年までの累計）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672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生成AI対応DCへの設備投資は2030年までに約5.2兆ドル（総DC投資は約6.7兆ドル）に達する見込み（McKinsey）。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1752" y="1463040"/>
            <a:ext cx="343509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1752" y="146304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9496" y="1737360"/>
            <a:ext cx="299618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日本1国分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9496" y="2615184"/>
            <a:ext cx="29961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1D21"/>
                </a:solidFill>
                <a:latin typeface="Noto Sans JP"/>
                <a:ea typeface="Noto Sans JP"/>
              </a:rPr>
              <a:t>世界のDC電力需要（2030年）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496" y="3072384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3C4148"/>
                </a:solidFill>
                <a:latin typeface="Noto Sans JP"/>
                <a:ea typeface="Noto Sans JP"/>
              </a:rPr>
              <a:t>世界のデータセンター/AIの電力需要は2030年に約1兆kWh超へ。日本の年間電力消費に匹敵（IEA）。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023360"/>
            <a:ext cx="10634472" cy="105156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206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“AIが盛り上がっている”の正体は、</a:t>
            </a:r>
            <a:r>
              <a:rPr sz="1650" b="1">
                <a:solidFill>
                  <a:srgbClr val="E60012"/>
                </a:solidFill>
                <a:latin typeface="Noto Sans JP"/>
                <a:ea typeface="Noto Sans JP"/>
              </a:rPr>
              <a:t>電力・建物・機械への史上最大級の設備投資</a:t>
            </a: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70001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ソフトウェアの話に見えて、その足元は徹底的に“物理”——発電所、変電所、建屋、冷却、半導体工場。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285232"/>
            <a:ext cx="10634472" cy="96012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394960"/>
            <a:ext cx="10058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では、これは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日本</a:t>
            </a: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にどう効くのか？</a:t>
            </a: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——実は、国内市場も“桁”が変わっている。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② 日本ではどうか — 国内市場も、桁が変わった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世界のAIマネーは、実額で日本にも流れ込んでいる。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3" y="1417320"/>
            <a:ext cx="343509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3" y="141732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664208"/>
            <a:ext cx="3032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4〜4.8兆円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87168"/>
            <a:ext cx="301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米クラウド大手の対日DC投資（〜2030年）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44368"/>
            <a:ext cx="2996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60" b="0">
                <a:solidFill>
                  <a:srgbClr val="3C4148"/>
                </a:solidFill>
                <a:latin typeface="Noto Sans JP"/>
                <a:ea typeface="Noto Sans JP"/>
              </a:rPr>
              <a:t>AWS 約2.26兆円('27迄)・MS 約1.6兆円('29迄)・Oracle 約1.2兆円。合計で2030年までに300億ドル超（日経）。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6928" y="1417320"/>
            <a:ext cx="343509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6928" y="141732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6384" y="1664208"/>
            <a:ext cx="3032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2.7→5.6兆円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6384" y="2487168"/>
            <a:ext cx="301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国内DCサービス市場（2023→2030年）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6384" y="2944368"/>
            <a:ext cx="2996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60" b="0">
                <a:solidFill>
                  <a:srgbClr val="3C4148"/>
                </a:solidFill>
                <a:latin typeface="Noto Sans JP"/>
                <a:ea typeface="Noto Sans JP"/>
              </a:rPr>
              <a:t>IDC/JEITA見通し。DC“建設投資”だけでも2028年に年1兆円超へ拡大する見込み（IDC）。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1752" y="1417320"/>
            <a:ext cx="343509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1752" y="1417320"/>
            <a:ext cx="3435096" cy="10058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41208" y="1664208"/>
            <a:ext cx="3032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約3兆＋5兆円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1208" y="2487168"/>
            <a:ext cx="3014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半導体：TSMC熊本＋ラピダス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1208" y="2944368"/>
            <a:ext cx="29961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60" b="0">
                <a:solidFill>
                  <a:srgbClr val="3C4148"/>
                </a:solidFill>
                <a:latin typeface="Noto Sans JP"/>
                <a:ea typeface="Noto Sans JP"/>
              </a:rPr>
              <a:t>TSMC熊本 第1+2で約3兆円、ラピダス総投資 約5兆円。関連投資を含め国内は9兆円規模（日経）。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86200"/>
            <a:ext cx="10634472" cy="114300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069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そして電気が足りない：</a:t>
            </a:r>
            <a:r>
              <a:rPr sz="1550" b="1">
                <a:solidFill>
                  <a:srgbClr val="E60012"/>
                </a:solidFill>
                <a:latin typeface="Noto Sans JP"/>
                <a:ea typeface="Noto Sans JP"/>
              </a:rPr>
              <a:t>国内DC・半導体の新増設で、最大需要電力は10年で約13倍</a:t>
            </a:r>
            <a:r>
              <a:rPr sz="1400" b="0">
                <a:solidFill>
                  <a:srgbClr val="3C4148"/>
                </a:solidFill>
                <a:latin typeface="Noto Sans JP"/>
                <a:ea typeface="Noto Sans JP"/>
              </a:rPr>
              <a:t>（56万→715万kW／OCCTO）。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57200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→ 発電所・変電所・送配電網の増強も国内で同時進行（大阪の変電所群＋首都圏66kV網に1,500億円超）。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230368"/>
            <a:ext cx="10634472" cy="100584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230368"/>
            <a:ext cx="10058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これらは全て、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“国内での建設・据付・保守の現場”</a:t>
            </a: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になる。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C4148"/>
                </a:solidFill>
                <a:latin typeface="Noto Sans JP"/>
                <a:ea typeface="Noto Sans JP"/>
              </a:rPr>
              <a:t>＝ 我々の営業対象が、海外の話ではなく、日本国内で今まさに立ち上がっている。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AI需要は、バリューチェーンのどこに効くのか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896112" cy="786384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89611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</p:txBody>
      </p:sp>
      <p:sp>
        <p:nvSpPr>
          <p:cNvPr id="10" name="Chevron 9"/>
          <p:cNvSpPr/>
          <p:nvPr/>
        </p:nvSpPr>
        <p:spPr>
          <a:xfrm>
            <a:off x="1764792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46504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7672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7672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7672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672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三菱重工 ガスタービン</a:t>
            </a:r>
          </a:p>
        </p:txBody>
      </p:sp>
      <p:sp>
        <p:nvSpPr>
          <p:cNvPr id="18" name="Chevron 17"/>
          <p:cNvSpPr/>
          <p:nvPr/>
        </p:nvSpPr>
        <p:spPr>
          <a:xfrm>
            <a:off x="3690518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72230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4526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3398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73398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3398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生産能力2倍/予約数年先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3398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3398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変圧器 各社・フジクラ</a:t>
            </a:r>
          </a:p>
        </p:txBody>
      </p:sp>
      <p:sp>
        <p:nvSpPr>
          <p:cNvPr id="26" name="Chevron 25"/>
          <p:cNvSpPr/>
          <p:nvPr/>
        </p:nvSpPr>
        <p:spPr>
          <a:xfrm>
            <a:off x="5616244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97956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0252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9124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99124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9124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9124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9124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ダイダン・高砂熱学ほか</a:t>
            </a:r>
          </a:p>
        </p:txBody>
      </p:sp>
      <p:sp>
        <p:nvSpPr>
          <p:cNvPr id="34" name="Chevron 33"/>
          <p:cNvSpPr/>
          <p:nvPr/>
        </p:nvSpPr>
        <p:spPr>
          <a:xfrm>
            <a:off x="7541971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23683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5979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4851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4851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4851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4851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4851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ダイキン 230→3,000億円</a:t>
            </a:r>
          </a:p>
        </p:txBody>
      </p:sp>
      <p:sp>
        <p:nvSpPr>
          <p:cNvPr id="42" name="Chevron 41"/>
          <p:cNvSpPr/>
          <p:nvPr/>
        </p:nvSpPr>
        <p:spPr>
          <a:xfrm>
            <a:off x="9467697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49409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1705" y="2304288"/>
            <a:ext cx="1834286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50577" y="2432304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50577" y="2871216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0577" y="2980944"/>
            <a:ext cx="159654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50577" y="3785616"/>
            <a:ext cx="15965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0577" y="3986784"/>
            <a:ext cx="159654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919" b="1">
                <a:solidFill>
                  <a:srgbClr val="1A1D21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4754880"/>
            <a:ext cx="10634472" cy="566928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77240" y="4754880"/>
            <a:ext cx="2148840" cy="566928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47548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E2E5"/>
                </a:solidFill>
                <a:latin typeface="Noto Sans JP"/>
                <a:ea typeface="Noto Sans JP"/>
              </a:rPr>
              <a:t>さらに基盤層で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部品・材料・ガス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4754880"/>
            <a:ext cx="8138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村田（MLCC・AIサーバ1台に約3万個）／SMC・アドバンテスト・イビデン・日本酸素 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7240" y="5486400"/>
            <a:ext cx="10634472" cy="7772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5486400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川上（発電）から川下（半導体）まで全段が同時に増収増益。</a:t>
            </a: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＝ 攻めどころは1つではなく、チェーン全体にある。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我々は、どの業界に・どんな価値を提供するのか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建設で磨いた“現場管理”を、そのまま製造業のフィールドへ。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8191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54B54"/>
                </a:solidFill>
                <a:latin typeface="Noto Sans JP"/>
                <a:ea typeface="Noto Sans JP"/>
              </a:rPr>
              <a:t>A  発注者として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設備投資を“建てる側”のプロジェクト管理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工場の新増設・生産ライン更新・自社DC/電源・冷却設備の導入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123444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81912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B  請負として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据付・試運転・保守を“納める側”の現場管理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発電機・変圧器・空調・液冷・UPS・半導体装置のフィールド現場（本命）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88036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価値を届ける主要業界</a:t>
            </a: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　★＝最優先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重電（変圧器・発電機）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35858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5314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DC建設サブコン（電気・空調）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3932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★ 最優先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産業冷却・液冷・UPS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53094" y="3383280"/>
            <a:ext cx="10972" cy="5943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2550" y="3346704"/>
            <a:ext cx="23294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454B54"/>
                </a:solidFill>
                <a:latin typeface="Consolas"/>
                <a:ea typeface="Consolas"/>
              </a:rPr>
              <a:t>有望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半導体・製造装置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5968"/>
            <a:ext cx="10634472" cy="9144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15968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相手の痛み：</a:t>
            </a:r>
            <a:r>
              <a:rPr sz="1400" b="1">
                <a:solidFill>
                  <a:srgbClr val="1A1D21"/>
                </a:solidFill>
                <a:latin typeface="Noto Sans JP"/>
                <a:ea typeface="Noto Sans JP"/>
              </a:rPr>
              <a:t>案件は激増、でも人は増えない。紙・Excel・電話では、増えた据付／試運転／保守現場をさばけない。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394960"/>
            <a:ext cx="10634472" cy="841248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394960"/>
            <a:ext cx="10058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54B54"/>
                </a:solidFill>
                <a:latin typeface="Noto Sans JP"/>
                <a:ea typeface="Noto Sans JP"/>
              </a:rPr>
              <a:t>提供価値：</a:t>
            </a:r>
            <a:r>
              <a:rPr sz="1400" b="1">
                <a:solidFill>
                  <a:srgbClr val="1A1D21"/>
                </a:solidFill>
                <a:latin typeface="Noto Sans JP"/>
                <a:ea typeface="Noto Sans JP"/>
              </a:rPr>
              <a:t>多拠点・多職種の現場を1つにつなぎ、進捗・図面・検査・写真・報告を可視化する。</a:t>
            </a: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——建設で実証済みの我々の主戦力。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8961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FF8A97"/>
                </a:solidFill>
                <a:latin typeface="Consolas"/>
                <a:ea typeface="Consolas"/>
              </a:rPr>
              <a:t>SO, LET'S GO  ·  次の主戦場は、製造業だ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いま製造業に行くことは、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6B7A"/>
                </a:solidFill>
                <a:latin typeface="Noto Sans JP"/>
                <a:ea typeface="Noto Sans JP"/>
              </a:rPr>
              <a:t>“次の主戦場”の一番槍</a:t>
            </a: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追い風は本物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受注残・設備投資計画・売上ガイダンスに裏打ちされた、数年続く構造需要。思惑ではない。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3504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武器は完成済み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建設で磨いた現場管理は、製造業の据付・保守フィールドに“そのまま効く”最強の武器。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2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市場は今まさに開いた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80" b="0">
                <a:solidFill>
                  <a:srgbClr val="C7D0DC"/>
                </a:solidFill>
                <a:latin typeface="Noto Sans JP"/>
                <a:ea typeface="Noto Sans JP"/>
              </a:rPr>
              <a:t>川上から川下まで、狙える現場がチェーン全体に生まれている。先に動いた者が獲る。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68112"/>
            <a:ext cx="10634472" cy="786384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68112"/>
            <a:ext cx="1063447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増える現場を、100人でつかみにいこう。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